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 id="2147483660" r:id="rId6"/>
    <p:sldMasterId id="214748366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EB1461-ABD7-4C77-8ECE-06A745F3CEBD}">
  <a:tblStyle styleId="{C9EB1461-ABD7-4C77-8ECE-06A745F3CEBD}"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1" Type="http://schemas.openxmlformats.org/officeDocument/2006/relationships/slide" Target="slides/slide53.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70025971e9_0_1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70025971e9_0_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bold are most important. Anything from lectures, including the one with industrial experiences, are fair game - but assume that the bolded will be on there. (click) reexam since you won’t have gotten grades on the homework yet</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c177e5894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c177e5894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109" name="Google Shape;109;gc177e5894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70025971e9_0_9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70025971e9_0_9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a56ef3215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a56ef3215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ca56ef3215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a56ef3215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a56ef3215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ca56ef3215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70025971e9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70025971e9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This system offers the following functionality:</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Detects lanes on the road, warning the driver if the car crosses any lines that should not be crossed.</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Detects objects in the roadway (e.g., pedestrians or obstacles) that should not be collided with, and warns the driver if they are in the path of the vehicle. </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sv-SE" sz="1100">
                <a:latin typeface="Arial"/>
                <a:ea typeface="Arial"/>
                <a:cs typeface="Arial"/>
                <a:sym typeface="Arial"/>
              </a:rPr>
              <a:t>Warns the driver if there are conditions where the system cannot make accurate predictions. For example, if weather conditions cause a sharp reduction in image quality or if the camera has been covered.</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Create one </a:t>
            </a:r>
            <a:r>
              <a:rPr b="1" lang="sv-SE" sz="1100">
                <a:latin typeface="Arial"/>
                <a:ea typeface="Arial"/>
                <a:cs typeface="Arial"/>
                <a:sym typeface="Arial"/>
              </a:rPr>
              <a:t>reliability</a:t>
            </a:r>
            <a:r>
              <a:rPr lang="sv-SE" sz="1100">
                <a:latin typeface="Arial"/>
                <a:ea typeface="Arial"/>
                <a:cs typeface="Arial"/>
                <a:sym typeface="Arial"/>
              </a:rPr>
              <a:t> and one </a:t>
            </a:r>
            <a:r>
              <a:rPr b="1" lang="sv-SE" sz="1100">
                <a:latin typeface="Arial"/>
                <a:ea typeface="Arial"/>
                <a:cs typeface="Arial"/>
                <a:sym typeface="Arial"/>
              </a:rPr>
              <a:t>availability</a:t>
            </a:r>
            <a:r>
              <a:rPr lang="sv-SE" sz="1100">
                <a:latin typeface="Arial"/>
                <a:ea typeface="Arial"/>
                <a:cs typeface="Arial"/>
                <a:sym typeface="Arial"/>
              </a:rPr>
              <a:t> scenario for this system, with a Description, System State, Environment State, External Stimulus, Required System Response, and Response Measure for each.</a:t>
            </a:r>
            <a:endParaRPr sz="11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a56ef3215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a56ef3215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ca56ef3215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a56ef3215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a56ef3215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dk1"/>
              </a:buClr>
              <a:buSzPts val="1100"/>
              <a:buChar char="●"/>
            </a:pPr>
            <a:r>
              <a:rPr b="1" lang="sv-SE" sz="1100">
                <a:latin typeface="Arial"/>
                <a:ea typeface="Arial"/>
                <a:cs typeface="Arial"/>
                <a:sym typeface="Arial"/>
              </a:rPr>
              <a:t>Make sure you understand the difference between reliability and availability. Availability scenarios relate to situations where there has been a failure and assess the ability of the system to detect, mitigate, and/or recover from the failure. Reliability scenarios measure how often a function is allowed to fail. </a:t>
            </a:r>
            <a:endParaRPr b="1"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sv-SE" sz="1100">
                <a:latin typeface="Arial"/>
                <a:ea typeface="Arial"/>
                <a:cs typeface="Arial"/>
                <a:sym typeface="Arial"/>
              </a:rPr>
              <a:t>Make sure response measures are appropriate.</a:t>
            </a:r>
            <a:endParaRPr b="1"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sv-SE" sz="1100">
                <a:latin typeface="Arial"/>
                <a:ea typeface="Arial"/>
                <a:cs typeface="Arial"/>
                <a:sym typeface="Arial"/>
              </a:rPr>
              <a:t>Time measures should offer a normal and worst-case time.</a:t>
            </a:r>
            <a:endParaRPr b="1" sz="1100">
              <a:latin typeface="Arial"/>
              <a:ea typeface="Arial"/>
              <a:cs typeface="Arial"/>
              <a:sym typeface="Arial"/>
            </a:endParaRPr>
          </a:p>
          <a:p>
            <a:pPr indent="0" lvl="0" marL="0" rtl="0" algn="l">
              <a:spcBef>
                <a:spcPts val="0"/>
              </a:spcBef>
              <a:spcAft>
                <a:spcPts val="0"/>
              </a:spcAft>
              <a:buNone/>
            </a:pPr>
            <a:r>
              <a:t/>
            </a:r>
            <a:endParaRPr/>
          </a:p>
        </p:txBody>
      </p:sp>
      <p:sp>
        <p:nvSpPr>
          <p:cNvPr id="155" name="Google Shape;155;g3ca56ef3215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a56ef3215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ca56ef3215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ca56ef3215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a56ef3215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a56ef3215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During system testing, a system as a whole is tested through a defined interface (e.g., an API, a CLI, or a GUI).  Testing during this stage is largely automated, using code-based test cases. The tests are generally created based on the requirements, but could also target code coverage (although this is less common than at the unit testing level). Generally, the system will have already been through unit testing, so most faults exposed at this stage are interaction faults (e.g., two code units do not coordinate properly). This could be due to a mistake in understanding how to call one of the units, or a fault in the code performing the calls and coordinating the two units.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Exploratory testing is also a practice where systems as a whole are tested through a defined interface. However, in contrast to system testing, the testing is generally done manually, by a person using the system. Exploratory testing is generally conducted in time-bound sessions, and guided by tours - recommendations of actions to try. In exploratory testing, test cases are not designed beforehand. Rather, testers design and execute tests concurrently, based on the observations they have made up to that point in the session. This stage can expose interaction faults or general faults in the software, like system testing, but the practice is well-suited to discovering issues that affect the usability of the software or a user’s perception of the software (e.g., graphical glitches, painfully slow performance, cases where a function is difficult to learn how to use, etc.)</a:t>
            </a:r>
            <a:endParaRPr/>
          </a:p>
        </p:txBody>
      </p:sp>
      <p:sp>
        <p:nvSpPr>
          <p:cNvPr id="171" name="Google Shape;171;g3ca56ef3215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70025971e9_0_10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70025971e9_0_10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Consider a personnel management program that offers an API where, among other functions, a user can apply for vacation time: A user ID is a string in the format “firstname.lastname”, e.g., “gregory.gay”. The two dates are strings in the format “YYYY-DD-MM”. </a:t>
            </a:r>
            <a:endParaRPr sz="1100">
              <a:solidFill>
                <a:srgbClr val="000000"/>
              </a:solidFill>
              <a:latin typeface="Arial"/>
              <a:ea typeface="Arial"/>
              <a:cs typeface="Arial"/>
              <a:sym typeface="Arial"/>
            </a:endParaRPr>
          </a:p>
          <a:p>
            <a:pPr indent="0" lvl="0" marL="0" rtl="0" algn="l">
              <a:spcBef>
                <a:spcPts val="0"/>
              </a:spcBef>
              <a:spcAft>
                <a:spcPts val="0"/>
              </a:spcAft>
              <a:buNone/>
            </a:pPr>
            <a:r>
              <a:rPr lang="sv-SE" sz="1100">
                <a:solidFill>
                  <a:srgbClr val="000000"/>
                </a:solidFill>
                <a:latin typeface="Arial"/>
                <a:ea typeface="Arial"/>
                <a:cs typeface="Arial"/>
                <a:sym typeface="Arial"/>
              </a:rPr>
              <a:t>The function returns TRUE if the user was able to successfully apply for the vacation time. It returns FALSE if not. An exception can also be thrown if there is an error.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70025971e9_0_10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70025971e9_0_10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(read)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70025971e9_0_10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70025971e9_0_10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work through, talk to them</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70025971e9_0_7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70025971e9_0_7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sv-SE" sz="1100">
                <a:latin typeface="Arial"/>
                <a:ea typeface="Arial"/>
                <a:cs typeface="Arial"/>
                <a:sym typeface="Arial"/>
              </a:rPr>
              <a:t>Note that your solution may not match this exactly, but should contain but should be detailed and account for normal and error scenarios. The below is not exhaustive - some variation is possible.</a:t>
            </a:r>
            <a:endParaRPr b="1" i="1" sz="1100">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ca56ef3215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ca56ef3215_0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ca56ef3215_0_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a56ef3215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a56ef3215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sv-SE" sz="1100">
                <a:latin typeface="Arial"/>
                <a:ea typeface="Arial"/>
                <a:cs typeface="Arial"/>
                <a:sym typeface="Arial"/>
              </a:rPr>
              <a:t>Like with Assignment 2, there can be some variance here in how you split up the choices. We are looking for a range of outcomes being covered, and will make sure error handling is covered. </a:t>
            </a:r>
            <a:endParaRPr/>
          </a:p>
        </p:txBody>
      </p:sp>
      <p:sp>
        <p:nvSpPr>
          <p:cNvPr id="216" name="Google Shape;216;g3ca56ef3215_0_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c177e58944_0_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c177e58944_0_2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 typically is guided by “tours”. Each tour describes a different way of thinking about the system-under-test, and prescribes how the tester should act when they explore the functionality of the system. </a:t>
            </a:r>
            <a:endParaRPr/>
          </a:p>
          <a:p>
            <a:pPr indent="0" lvl="0" marL="0" rtl="0" algn="l">
              <a:spcBef>
                <a:spcPts val="0"/>
              </a:spcBef>
              <a:spcAft>
                <a:spcPts val="0"/>
              </a:spcAft>
              <a:buNone/>
            </a:pPr>
            <a:r>
              <a:rPr lang="sv-SE"/>
              <a:t>Describe one of the tours that we discussed in class. </a:t>
            </a:r>
            <a:endParaRPr/>
          </a:p>
          <a:p>
            <a:pPr indent="0" lvl="0" marL="0" rtl="0" algn="l">
              <a:spcBef>
                <a:spcPts val="0"/>
              </a:spcBef>
              <a:spcAft>
                <a:spcPts val="0"/>
              </a:spcAft>
              <a:buNone/>
            </a:pPr>
            <a:r>
              <a:rPr lang="sv-SE"/>
              <a:t>Consider a banking website, where a user can do things like check their account balance, transfer funds between accounts, open new accounts, and edit their personal information. Describe three actions you might take during exploratory testing of this system, based on the tour you described above.</a:t>
            </a:r>
            <a:endParaRPr/>
          </a:p>
          <a:p>
            <a:pPr indent="0" lvl="0" marL="0" rtl="0" algn="l">
              <a:spcBef>
                <a:spcPts val="0"/>
              </a:spcBef>
              <a:spcAft>
                <a:spcPts val="0"/>
              </a:spcAft>
              <a:buNone/>
            </a:pPr>
            <a:r>
              <a:rPr lang="sv-SE"/>
              <a:t>Those actions must make sense in the context of that tour!</a:t>
            </a:r>
            <a:endParaRPr/>
          </a:p>
        </p:txBody>
      </p:sp>
      <p:sp>
        <p:nvSpPr>
          <p:cNvPr id="225" name="Google Shape;225;gc177e58944_0_2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c177e58944_0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c177e58944_0_2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FedEx is a company that does package-delivery. They pick up packages, move them around their various distribution centers, and send them to their final destination. For this tour, instead of packages moving around the planet through the FedEx system, think of data moving through the software. The data starts its life as input and gets stored internally in variables and data structures where it is manipulated, modified, and used in computation. Finally, much of this data is finally “delivered” as output to some user or destination - some other part of the system or an external system. During this tour, a tester must concentrate on this data. Try to identify inputs that are stored and “follow” them around the software. For example, when a mailing address is entered into a shopping site, how is that address used? What features consume this address? If it is used as a billing address, make sure you exercise that feature. If it is used as a shipping address, make sure you use that feature. If it can be updated, update it. Does it ever get printed or purged or processed? Try to find every feature that touches the data so that, just as FedEx handles their packages, you are involved in every stage of the data’s life cycle.</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233" name="Google Shape;233;gc177e58944_0_2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ca56ef3215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ca56ef3215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latin typeface="Arial"/>
                <a:ea typeface="Arial"/>
                <a:cs typeface="Arial"/>
                <a:sym typeface="Arial"/>
              </a:rPr>
              <a:t>Sequence 1: This sequence tests account creation. It ensures that you can create an account, then log into it. It also ensures that a duplicate account cannot be created, and that the attempt to register a new duplicate account does not interfere with the original account.  </a:t>
            </a:r>
            <a:endParaRPr sz="1100">
              <a:latin typeface="Arial"/>
              <a:ea typeface="Arial"/>
              <a:cs typeface="Arial"/>
              <a:sym typeface="Arial"/>
            </a:endParaRPr>
          </a:p>
          <a:p>
            <a:pPr indent="0" lvl="0" marL="0" rtl="0" algn="l">
              <a:spcBef>
                <a:spcPts val="0"/>
              </a:spcBef>
              <a:spcAft>
                <a:spcPts val="0"/>
              </a:spcAft>
              <a:buNone/>
            </a:pPr>
            <a:r>
              <a:rPr lang="sv-SE" sz="1100">
                <a:latin typeface="Arial"/>
                <a:ea typeface="Arial"/>
                <a:cs typeface="Arial"/>
                <a:sym typeface="Arial"/>
              </a:rPr>
              <a:t>Sequence 2: This sequence checks that posts can be created, edited, and deleted.</a:t>
            </a:r>
            <a:endParaRPr sz="1100">
              <a:latin typeface="Arial"/>
              <a:ea typeface="Arial"/>
              <a:cs typeface="Arial"/>
              <a:sym typeface="Arial"/>
            </a:endParaRPr>
          </a:p>
          <a:p>
            <a:pPr indent="0" lvl="0" marL="0" rtl="0" algn="l">
              <a:spcBef>
                <a:spcPts val="0"/>
              </a:spcBef>
              <a:spcAft>
                <a:spcPts val="0"/>
              </a:spcAft>
              <a:buNone/>
            </a:pPr>
            <a:r>
              <a:rPr lang="sv-SE" sz="1100">
                <a:latin typeface="Arial"/>
                <a:ea typeface="Arial"/>
                <a:cs typeface="Arial"/>
                <a:sym typeface="Arial"/>
              </a:rPr>
              <a:t>Sequence 3:This sequence checks that boards can be created, edited, and deleted.</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sv-SE" sz="1100">
                <a:latin typeface="Arial"/>
                <a:ea typeface="Arial"/>
                <a:cs typeface="Arial"/>
                <a:sym typeface="Arial"/>
              </a:rPr>
              <a:t>These sequences relate to the FedEx tour because they all relate to the creation, manipulation, and deletion of data items. In particular, because multiple forms of data manipulation are performed in the same interaction sequence, we further ensure the system is robust to combining multiple forms of data manipulation in rapid sequence. </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241" name="Google Shape;241;g3ca56ef3215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70025971e9_0_5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70025971e9_0_5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ca56ef3215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ca56ef3215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sv-SE" sz="1100">
                <a:latin typeface="Arial"/>
                <a:ea typeface="Arial"/>
                <a:cs typeface="Arial"/>
                <a:sym typeface="Arial"/>
              </a:rPr>
              <a:t>Check for proper JUnit formatting and naming conventions, check that you match the expected input and output format of the method, check that you use assertions properly when an exception is expected to be thrown. </a:t>
            </a:r>
            <a:endParaRPr b="1"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sv-SE" sz="1100">
                <a:latin typeface="Arial"/>
                <a:ea typeface="Arial"/>
                <a:cs typeface="Arial"/>
                <a:sym typeface="Arial"/>
              </a:rPr>
              <a:t>Java syntax does not need to be perfect (this is a paper exam), but should be close.</a:t>
            </a:r>
            <a:endParaRPr b="1" sz="1100">
              <a:latin typeface="Arial"/>
              <a:ea typeface="Arial"/>
              <a:cs typeface="Arial"/>
              <a:sym typeface="Arial"/>
            </a:endParaRPr>
          </a:p>
          <a:p>
            <a:pPr indent="0" lvl="0" marL="0" rtl="0" algn="l">
              <a:spcBef>
                <a:spcPts val="0"/>
              </a:spcBef>
              <a:spcAft>
                <a:spcPts val="0"/>
              </a:spcAft>
              <a:buNone/>
            </a:pPr>
            <a:r>
              <a:t/>
            </a:r>
            <a:endParaRPr/>
          </a:p>
        </p:txBody>
      </p:sp>
      <p:sp>
        <p:nvSpPr>
          <p:cNvPr id="256" name="Google Shape;256;g3ca56ef3215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c177e58944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c177e58944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265" name="Google Shape;265;gc177e58944_0_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70025971e9_0_7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70025971e9_0_7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70025971e9_0_7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70025971e9_0_7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statement (discuss) - 2</a:t>
            </a:r>
            <a:endParaRPr>
              <a:solidFill>
                <a:schemeClr val="dk1"/>
              </a:solidFill>
            </a:endParaRPr>
          </a:p>
          <a:p>
            <a:pPr indent="0" lvl="0" marL="0" rtl="0" algn="l">
              <a:lnSpc>
                <a:spcPct val="120000"/>
              </a:lnSpc>
              <a:spcBef>
                <a:spcPts val="0"/>
              </a:spcBef>
              <a:spcAft>
                <a:spcPts val="0"/>
              </a:spcAft>
              <a:buNone/>
            </a:pPr>
            <a:r>
              <a:rPr lang="sv-SE">
                <a:solidFill>
                  <a:schemeClr val="dk1"/>
                </a:solidFill>
              </a:rPr>
              <a:t>branch (discuss) - 2 (one new) (TT,FF)</a:t>
            </a:r>
            <a:endParaRPr>
              <a:solidFill>
                <a:schemeClr val="dk1"/>
              </a:solidFill>
            </a:endParaRPr>
          </a:p>
          <a:p>
            <a:pPr indent="0" lvl="0" marL="0" rtl="0" algn="l">
              <a:lnSpc>
                <a:spcPct val="120000"/>
              </a:lnSpc>
              <a:spcBef>
                <a:spcPts val="0"/>
              </a:spcBef>
              <a:spcAft>
                <a:spcPts val="0"/>
              </a:spcAft>
              <a:buNone/>
            </a:pPr>
            <a:r>
              <a:rPr lang="sv-SE">
                <a:solidFill>
                  <a:schemeClr val="dk1"/>
                </a:solidFill>
              </a:rPr>
              <a:t>path ( discuss) - 4 tests (TT) (TF) (FT) (FF)</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70025971e9_0_7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70025971e9_0_7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 and discuss)</a:t>
            </a:r>
            <a:endParaRPr>
              <a:solidFill>
                <a:schemeClr val="dk1"/>
              </a:solidFill>
            </a:endParaRPr>
          </a:p>
          <a:p>
            <a:pPr indent="0" lvl="0" marL="0" rtl="0" algn="l">
              <a:lnSpc>
                <a:spcPct val="120000"/>
              </a:lnSpc>
              <a:spcBef>
                <a:spcPts val="0"/>
              </a:spcBef>
              <a:spcAft>
                <a:spcPts val="0"/>
              </a:spcAft>
              <a:buNone/>
            </a:pPr>
            <a:r>
              <a:rPr lang="sv-SE">
                <a:solidFill>
                  <a:schemeClr val="dk1"/>
                </a:solidFill>
              </a:rPr>
              <a:t>Point is - this depends on your test inputs. You can pass in input that achieves coverage without triggering a fault. Those are two different things. Stronger coverage can help reveal faults, but does not ensure it.</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a56ef3215_0_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ca56ef3215_0_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100"/>
              <a:buFont typeface="Arial"/>
              <a:buNone/>
            </a:pPr>
            <a:r>
              <a:rPr lang="sv-SE" sz="1100">
                <a:latin typeface="Arial"/>
                <a:ea typeface="Arial"/>
                <a:cs typeface="Arial"/>
                <a:sym typeface="Arial"/>
              </a:rPr>
              <a:t>This function takes an array and string. It will then remove the letters in the string from the array, one at a time, and return the array. If a letter is in the array multiple times, it will only be removed the number of times that it appears in the string (e.g., if “b” is in the array twice, and the string is “big”, then “b” will only be removed one time).</a:t>
            </a:r>
            <a:endParaRPr/>
          </a:p>
          <a:p>
            <a:pPr indent="0" lvl="0" marL="0" rtl="0" algn="l">
              <a:spcBef>
                <a:spcPts val="6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ca56ef3215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ca56ef3215_0_1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this one looks complicated, but isn’t bad. We can cover it in one test case that executes both loops and where letters are removed but not all letters. (click) discuss test (click to show path) Enters the loop, removes a letter, enters, removes a letter, enters, does not remove the third. Then exists the loop and proceeds to the second loop. Enters, sees a removed letter and skips the if, enters, does the same, enters, sees the remaining letter and adds it to the output, then exits that loop and returns.</a:t>
            </a:r>
            <a:endParaRPr/>
          </a:p>
        </p:txBody>
      </p:sp>
      <p:sp>
        <p:nvSpPr>
          <p:cNvPr id="333" name="Google Shape;333;g3ca56ef3215_0_1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ca56ef3215_0_1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ca56ef3215_0_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The following function returns true if you can partition an array into one element and the rest, such that this element is equal to the product of all other elements excluding itself. For example: canPartition([2, 8, 4, 1]) returns true (8 = 2 * 4 * 1), canPartition([-1, -10, 1, -2, 20]) returns false., canPartition([-1, -20, 5, -1, -2, 2]) returns true (-20 = -1 * 5 * -1 * -2 * 2)</a:t>
            </a:r>
            <a:endParaRPr/>
          </a:p>
          <a:p>
            <a:pPr indent="0" lvl="0" marL="0" rtl="0" algn="l">
              <a:spcBef>
                <a:spcPts val="60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ca56ef3215_0_1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ca56ef3215_0_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The following function returns true if you can partition an array into one element and the rest, such that this element is equal to the product of all other elements excluding itself. For example: canPartition([2, 8, 4, 1]) returns true (8 = 2 * 4 * 1), canPartition([-1, -10, 1, -2, 20]) returns false., canPartition([-1, -20, 5, -1, -2, 2]) returns true (-20 = -1 * 5 * -1 * -2 * 2)</a:t>
            </a:r>
            <a:endParaRPr/>
          </a:p>
          <a:p>
            <a:pPr indent="0" lvl="0" marL="0" rtl="0" algn="l">
              <a:spcBef>
                <a:spcPts val="60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ca56ef3215_0_1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ca56ef3215_0_1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This one covers most DU pairs. It removes two letters, but leaves two letters. This means we enter both loops, and the if statements in each loop evaluate to true twice, using the new definitions of letters. output, and idx</a:t>
            </a:r>
            <a:endParaRPr/>
          </a:p>
          <a:p>
            <a:pPr indent="0" lvl="0" marL="0" rtl="0" algn="l">
              <a:spcBef>
                <a:spcPts val="60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ca56ef3215_0_1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ca56ef3215_0_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b="1" lang="sv-SE" sz="1100">
                <a:latin typeface="Arial"/>
                <a:ea typeface="Arial"/>
                <a:cs typeface="Arial"/>
                <a:sym typeface="Arial"/>
              </a:rPr>
              <a:t>Will need input that either skips the first loop or where no letters are removed from the array.</a:t>
            </a:r>
            <a:endParaRPr/>
          </a:p>
          <a:p>
            <a:pPr indent="0" lvl="0" marL="0" rtl="0" algn="l">
              <a:spcBef>
                <a:spcPts val="60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ca56ef3215_0_1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ca56ef3215_0_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b="1" lang="sv-SE" sz="1100">
                <a:latin typeface="Arial"/>
                <a:ea typeface="Arial"/>
                <a:cs typeface="Arial"/>
                <a:sym typeface="Arial"/>
              </a:rPr>
              <a:t>Will need input that skips the second loop or where the output is empty (no letters are left in the array).</a:t>
            </a:r>
            <a:endParaRPr/>
          </a:p>
          <a:p>
            <a:pPr indent="0" lvl="0" marL="0" rtl="0" algn="l">
              <a:spcBef>
                <a:spcPts val="60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70025971e9_0_7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70025971e9_0_7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t>The following function returns true if you can partition an array into one element and the rest, such that this element is equal to the product of all other elements excluding itself. For example: canPartition([2, 8, 4, 1]) returns true (8 = 2 * 4 * 1), canPartition([-1, -10, 1, -2, 20]) returns false., canPartition([-1, -20, 5, -1, -2, 2]) returns true (-20 = -1 * 5 * -1 * -2 * 2)</a:t>
            </a:r>
            <a:endParaRPr/>
          </a:p>
          <a:p>
            <a:pPr indent="0" lvl="0" marL="0" rtl="0" algn="l">
              <a:spcBef>
                <a:spcPts val="60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70025971e9_0_7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70025971e9_0_7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70025971e9_0_8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70025971e9_0_8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298450" lvl="0" marL="457200" rtl="0" algn="l">
              <a:lnSpc>
                <a:spcPct val="120000"/>
              </a:lnSpc>
              <a:spcBef>
                <a:spcPts val="0"/>
              </a:spcBef>
              <a:spcAft>
                <a:spcPts val="0"/>
              </a:spcAft>
              <a:buClr>
                <a:schemeClr val="dk1"/>
              </a:buClr>
              <a:buSzPts val="1100"/>
              <a:buChar char="●"/>
            </a:pPr>
            <a:r>
              <a:rPr b="1" lang="sv-SE" sz="1100">
                <a:latin typeface="Consolas"/>
                <a:ea typeface="Consolas"/>
                <a:cs typeface="Consolas"/>
                <a:sym typeface="Consolas"/>
              </a:rPr>
              <a:t>canPartition([2, 8, 4, 1])</a:t>
            </a:r>
            <a:r>
              <a:rPr lang="sv-SE" sz="1100">
                <a:latin typeface="Arial"/>
                <a:ea typeface="Arial"/>
                <a:cs typeface="Arial"/>
                <a:sym typeface="Arial"/>
              </a:rPr>
              <a:t> returns true (8 = 2 * 4 * 1)</a:t>
            </a:r>
            <a:endParaRPr sz="1100">
              <a:latin typeface="Arial"/>
              <a:ea typeface="Arial"/>
              <a:cs typeface="Arial"/>
              <a:sym typeface="Arial"/>
            </a:endParaRPr>
          </a:p>
          <a:p>
            <a:pPr indent="-298450" lvl="0" marL="457200" rtl="0" algn="l">
              <a:lnSpc>
                <a:spcPct val="120000"/>
              </a:lnSpc>
              <a:spcBef>
                <a:spcPts val="0"/>
              </a:spcBef>
              <a:spcAft>
                <a:spcPts val="0"/>
              </a:spcAft>
              <a:buClr>
                <a:schemeClr val="dk1"/>
              </a:buClr>
              <a:buSzPts val="1100"/>
              <a:buChar char="●"/>
            </a:pPr>
            <a:r>
              <a:rPr b="1" lang="sv-SE" sz="1100">
                <a:latin typeface="Consolas"/>
                <a:ea typeface="Consolas"/>
                <a:cs typeface="Consolas"/>
                <a:sym typeface="Consolas"/>
              </a:rPr>
              <a:t>canPartition([-1, -10, 0, 10])</a:t>
            </a:r>
            <a:r>
              <a:rPr lang="sv-SE" sz="1100">
                <a:latin typeface="Arial"/>
                <a:ea typeface="Arial"/>
                <a:cs typeface="Arial"/>
                <a:sym typeface="Arial"/>
              </a:rPr>
              <a:t> returns false.</a:t>
            </a:r>
            <a:endParaRPr sz="1100">
              <a:latin typeface="Arial"/>
              <a:ea typeface="Arial"/>
              <a:cs typeface="Arial"/>
              <a:sym typeface="Arial"/>
            </a:endParaRPr>
          </a:p>
          <a:p>
            <a:pPr indent="-298450" lvl="0" marL="457200" rtl="0" algn="l">
              <a:lnSpc>
                <a:spcPct val="120000"/>
              </a:lnSpc>
              <a:spcBef>
                <a:spcPts val="0"/>
              </a:spcBef>
              <a:spcAft>
                <a:spcPts val="0"/>
              </a:spcAft>
              <a:buClr>
                <a:schemeClr val="dk1"/>
              </a:buClr>
              <a:buSzPts val="1100"/>
              <a:buChar char="●"/>
            </a:pPr>
            <a:r>
              <a:rPr b="1" lang="sv-SE" sz="1100">
                <a:latin typeface="Consolas"/>
                <a:ea typeface="Consolas"/>
                <a:cs typeface="Consolas"/>
                <a:sym typeface="Consolas"/>
              </a:rPr>
              <a:t>canPartition([0])</a:t>
            </a:r>
            <a:r>
              <a:rPr lang="sv-SE" sz="1100">
                <a:latin typeface="Arial"/>
                <a:ea typeface="Arial"/>
                <a:cs typeface="Arial"/>
                <a:sym typeface="Arial"/>
              </a:rPr>
              <a:t> returns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70025971e9_0_1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70025971e9_0_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100"/>
              <a:buFont typeface="Arial"/>
              <a:buNone/>
            </a:pPr>
            <a:r>
              <a:rPr lang="sv-SE" sz="1100">
                <a:latin typeface="Arial"/>
                <a:ea typeface="Arial"/>
                <a:cs typeface="Arial"/>
                <a:sym typeface="Arial"/>
              </a:rPr>
              <a:t>This function takes in an integer, and inserts duplicate digits on both sides of all digits which appear in a group of one.</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ca56ef3215_0_7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ca56ef3215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sz="1100">
                <a:latin typeface="Arial"/>
                <a:ea typeface="Arial"/>
                <a:cs typeface="Arial"/>
                <a:sym typeface="Arial"/>
              </a:rPr>
              <a:t>This function takes in an integer, and inserts duplicate digits on both sides of all digits which appear in a group of one.</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ca56ef3215_0_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ca56ef3215_0_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sz="1100">
                <a:latin typeface="Arial"/>
                <a:ea typeface="Arial"/>
                <a:cs typeface="Arial"/>
                <a:sym typeface="Arial"/>
              </a:rPr>
              <a:t>This function takes in an integer, and inserts duplicate digits on both sides of all digits which appear in a group of one.</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ca56ef3215_0_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ca56ef3215_0_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sv-SE" sz="1100">
                <a:latin typeface="Arial"/>
                <a:ea typeface="Arial"/>
                <a:cs typeface="Arial"/>
                <a:sym typeface="Arial"/>
              </a:rPr>
              <a:t>Make sure that you use the mutation operator correctly. Take a quick look and make sure that it is non-equivalent. Ok if it is invalid (does not compile).</a:t>
            </a:r>
            <a:endParaRPr b="1" sz="1100">
              <a:latin typeface="Arial"/>
              <a:ea typeface="Arial"/>
              <a:cs typeface="Arial"/>
              <a:sym typeface="Arial"/>
            </a:endParaRPr>
          </a:p>
          <a:p>
            <a:pPr indent="0" lvl="0" marL="0" rtl="0" algn="l">
              <a:lnSpc>
                <a:spcPct val="115000"/>
              </a:lnSpc>
              <a:spcBef>
                <a:spcPts val="0"/>
              </a:spcBef>
              <a:spcAft>
                <a:spcPts val="0"/>
              </a:spcAft>
              <a:buNone/>
            </a:pPr>
            <a:r>
              <a:rPr b="1" lang="sv-SE" sz="1100">
                <a:latin typeface="Arial"/>
                <a:ea typeface="Arial"/>
                <a:cs typeface="Arial"/>
                <a:sym typeface="Arial"/>
              </a:rPr>
              <a:t>Make sure you state the return value of the original and the mutated version. </a:t>
            </a:r>
            <a:endParaRPr b="1" sz="1100">
              <a:latin typeface="Arial"/>
              <a:ea typeface="Arial"/>
              <a:cs typeface="Arial"/>
              <a:sym typeface="Arial"/>
            </a:endParaRPr>
          </a:p>
          <a:p>
            <a:pPr indent="0" lvl="0" marL="0" rtl="0" algn="l">
              <a:lnSpc>
                <a:spcPct val="115000"/>
              </a:lnSpc>
              <a:spcBef>
                <a:spcPts val="0"/>
              </a:spcBef>
              <a:spcAft>
                <a:spcPts val="0"/>
              </a:spcAft>
              <a:buNone/>
            </a:pPr>
            <a:r>
              <a:rPr b="1" lang="sv-SE" sz="1100">
                <a:latin typeface="Arial"/>
                <a:ea typeface="Arial"/>
                <a:cs typeface="Arial"/>
                <a:sym typeface="Arial"/>
              </a:rPr>
              <a:t>Make sure the explanation is clear about why the mutant is detected. </a:t>
            </a:r>
            <a:endParaRPr b="1" sz="1100">
              <a:latin typeface="Arial"/>
              <a:ea typeface="Arial"/>
              <a:cs typeface="Arial"/>
              <a:sym typeface="Arial"/>
            </a:endParaRPr>
          </a:p>
          <a:p>
            <a:pPr indent="0" lvl="0" marL="0" rtl="0" algn="l">
              <a:lnSpc>
                <a:spcPct val="120000"/>
              </a:lnSpc>
              <a:spcBef>
                <a:spcPts val="0"/>
              </a:spcBef>
              <a:spcAft>
                <a:spcPts val="0"/>
              </a:spcAft>
              <a:buNone/>
            </a:pPr>
            <a:r>
              <a:t/>
            </a:r>
            <a:endParaRPr sz="1100">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70025971e9_0_3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70025971e9_0_3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70025971e9_0_3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70025971e9_0_3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(2nd click) </a:t>
            </a:r>
            <a:r>
              <a:rPr b="1" lang="sv-SE"/>
              <a:t>AG (pedestrian_light = walk -&gt; traffic_light != green)</a:t>
            </a:r>
            <a:br>
              <a:rPr b="1" lang="sv-SE"/>
            </a:br>
            <a:r>
              <a:rPr b="1" lang="sv-SE"/>
              <a:t>The pedestrian light cannot indicate that I should walk when the traffic light is green. This is a safety property. We are saying that something should NEVER happen.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70025971e9_0_118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70025971e9_0_11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(2nd click) </a:t>
            </a:r>
            <a:r>
              <a:rPr b="1" lang="sv-SE"/>
              <a:t>G (traffic_light = RED &amp; button = RESET -&gt; F (traffic_light = green))</a:t>
            </a:r>
            <a:br>
              <a:rPr b="1" lang="sv-SE"/>
            </a:br>
            <a:r>
              <a:rPr b="1" lang="sv-SE"/>
              <a:t>If the light is red, and the button is reset, then eventually, the light will turn green. This is a liveness property, as we assert that something will eventually happen.</a:t>
            </a:r>
            <a:endParaRPr/>
          </a:p>
          <a:p>
            <a:pPr indent="0" lvl="0" marL="0" rtl="0" algn="l">
              <a:lnSpc>
                <a:spcPct val="120000"/>
              </a:lnSpc>
              <a:spcBef>
                <a:spcPts val="0"/>
              </a:spcBef>
              <a:spcAft>
                <a:spcPts val="0"/>
              </a:spcAft>
              <a:buNone/>
            </a:pPr>
            <a:r>
              <a:t/>
            </a:r>
            <a:endParaRPr b="1"/>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70025971e9_0_11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70025971e9_0_11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(2nd click)</a:t>
            </a:r>
            <a:r>
              <a:rPr b="1" lang="sv-SE"/>
              <a:t>First, we should formulate the property in a temporal logic, than translate into a trap property:</a:t>
            </a:r>
            <a:br>
              <a:rPr b="1" lang="sv-SE"/>
            </a:br>
            <a:r>
              <a:rPr b="1" lang="sv-SE"/>
              <a:t>G (button = SET -&gt; F (pedestrian_light = WALK)) This states that, no matter what happens, if the button is pressed, then eventually the pedestrian light will signal that I can cross the street. This is a liveness property. </a:t>
            </a:r>
            <a:endParaRPr b="1"/>
          </a:p>
          <a:p>
            <a:pPr indent="0" lvl="0" marL="0" rtl="0" algn="l">
              <a:lnSpc>
                <a:spcPct val="120000"/>
              </a:lnSpc>
              <a:spcBef>
                <a:spcPts val="0"/>
              </a:spcBef>
              <a:spcAft>
                <a:spcPts val="0"/>
              </a:spcAft>
              <a:buNone/>
            </a:pPr>
            <a:r>
              <a:rPr b="1" lang="sv-SE"/>
              <a:t>(3rd click) A trap property takes a property we know to be true (like this), then negates it. By negating it, we assert that this property is NOT true. The negated form is:</a:t>
            </a:r>
            <a:br>
              <a:rPr b="1" lang="sv-SE"/>
            </a:br>
            <a:r>
              <a:rPr b="1" lang="sv-SE"/>
              <a:t>G !(button = SET -&gt; F (pedestrian_light = walk)) Because it is actually true, the model checker gives us a counter-example showing one concrete scenario where the property is true. This is a test case we can use to test our real program.</a:t>
            </a:r>
            <a:endParaRPr b="1"/>
          </a:p>
          <a:p>
            <a:pPr indent="0" lvl="0" marL="0" rtl="0" algn="l">
              <a:lnSpc>
                <a:spcPct val="120000"/>
              </a:lnSpc>
              <a:spcBef>
                <a:spcPts val="0"/>
              </a:spcBef>
              <a:spcAft>
                <a:spcPts val="0"/>
              </a:spcAft>
              <a:buNone/>
            </a:pPr>
            <a:br>
              <a:rPr b="1" lang="sv-SE"/>
            </a:br>
            <a:endParaRPr/>
          </a:p>
          <a:p>
            <a:pPr indent="0" lvl="0" marL="0" rtl="0" algn="l">
              <a:lnSpc>
                <a:spcPct val="120000"/>
              </a:lnSpc>
              <a:spcBef>
                <a:spcPts val="0"/>
              </a:spcBef>
              <a:spcAft>
                <a:spcPts val="0"/>
              </a:spcAft>
              <a:buNone/>
            </a:pPr>
            <a:r>
              <a:t/>
            </a:r>
            <a:endParaRPr/>
          </a:p>
          <a:p>
            <a:pPr indent="0" lvl="0" marL="0" rtl="0" algn="l">
              <a:lnSpc>
                <a:spcPct val="120000"/>
              </a:lnSpc>
              <a:spcBef>
                <a:spcPts val="0"/>
              </a:spcBef>
              <a:spcAft>
                <a:spcPts val="0"/>
              </a:spcAft>
              <a:buNone/>
            </a:pPr>
            <a:r>
              <a:t/>
            </a:r>
            <a:endParaRPr b="1"/>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70025971e9_0_5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70025971e9_0_5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note that practice exam was heavy on this because it’s the last topic and a harder topic, but real exam will not have two seperate questions on temporal logic - just one</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70025971e9_0_12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70025971e9_0_12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70025971e9_0_12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70025971e9_0_12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70025971e9_0_12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70025971e9_0_12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70025971e9_0_12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70025971e9_0_12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70025971e9_0_12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70025971e9_0_12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70025971e9_0_5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70025971e9_0_5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0"/>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5" name="Google Shape;65;p1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6" name="Google Shape;66;p1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7" name="Google Shape;67;p10"/>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11"/>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1" name="Google Shape;71;p11"/>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2" name="Google Shape;72;p11"/>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3" name="Google Shape;73;p11"/>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4" name="Google Shape;74;p11"/>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5" name="Google Shape;75;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76" name="Shape 76"/>
        <p:cNvGrpSpPr/>
        <p:nvPr/>
      </p:nvGrpSpPr>
      <p:grpSpPr>
        <a:xfrm>
          <a:off x="0" y="0"/>
          <a:ext cx="0" cy="0"/>
          <a:chOff x="0" y="0"/>
          <a:chExt cx="0" cy="0"/>
        </a:xfrm>
      </p:grpSpPr>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16: </a:t>
            </a:r>
            <a:endParaRPr sz="3000"/>
          </a:p>
          <a:p>
            <a:pPr indent="0" lvl="0" marL="0" rtl="0" algn="l">
              <a:spcBef>
                <a:spcPts val="0"/>
              </a:spcBef>
              <a:spcAft>
                <a:spcPts val="0"/>
              </a:spcAft>
              <a:buClr>
                <a:schemeClr val="lt1"/>
              </a:buClr>
              <a:buSzPts val="4000"/>
              <a:buNone/>
            </a:pPr>
            <a:r>
              <a:rPr lang="sv-SE" sz="3000"/>
              <a:t>Course Summary and Review</a:t>
            </a:r>
            <a:endParaRPr/>
          </a:p>
        </p:txBody>
      </p:sp>
      <p:sp>
        <p:nvSpPr>
          <p:cNvPr id="86" name="Google Shape;86;p15"/>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March 11, 2026</a:t>
            </a:r>
            <a:endParaRPr/>
          </a:p>
          <a:p>
            <a:pPr indent="0" lvl="0" marL="0" rtl="0" algn="l">
              <a:lnSpc>
                <a:spcPct val="90000"/>
              </a:lnSpc>
              <a:spcBef>
                <a:spcPts val="0"/>
              </a:spcBef>
              <a:spcAft>
                <a:spcPts val="0"/>
              </a:spcAft>
              <a:buClr>
                <a:schemeClr val="lt1"/>
              </a:buClr>
              <a:buSzPts val="18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Impending </a:t>
            </a:r>
            <a:r>
              <a:rPr lang="sv-SE"/>
              <a:t>Exam</a:t>
            </a:r>
            <a:endParaRPr/>
          </a:p>
        </p:txBody>
      </p:sp>
      <p:sp>
        <p:nvSpPr>
          <p:cNvPr id="92" name="Google Shape;92;p1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Wednesday</a:t>
            </a:r>
            <a:r>
              <a:rPr lang="sv-SE"/>
              <a:t>, March 18, 8:30 - 12:30</a:t>
            </a:r>
            <a:endParaRPr/>
          </a:p>
          <a:p>
            <a:pPr indent="-419100" lvl="0" marL="457200" marR="0" rtl="0" algn="l">
              <a:lnSpc>
                <a:spcPct val="120000"/>
              </a:lnSpc>
              <a:spcBef>
                <a:spcPts val="0"/>
              </a:spcBef>
              <a:spcAft>
                <a:spcPts val="0"/>
              </a:spcAft>
              <a:buClr>
                <a:schemeClr val="dk1"/>
              </a:buClr>
              <a:buSzPts val="3000"/>
              <a:buFont typeface="Arial"/>
              <a:buChar char="•"/>
            </a:pPr>
            <a:r>
              <a:rPr lang="sv-SE"/>
              <a:t>Practice exam on Canvas.</a:t>
            </a:r>
            <a:endParaRPr/>
          </a:p>
          <a:p>
            <a:pPr indent="-368300" lvl="1" marL="914400" marR="0" rtl="0" algn="l">
              <a:lnSpc>
                <a:spcPct val="120000"/>
              </a:lnSpc>
              <a:spcBef>
                <a:spcPts val="0"/>
              </a:spcBef>
              <a:spcAft>
                <a:spcPts val="0"/>
              </a:spcAft>
              <a:buSzPts val="2200"/>
              <a:buChar char="•"/>
            </a:pPr>
            <a:r>
              <a:rPr b="1" lang="sv-SE"/>
              <a:t>L</a:t>
            </a:r>
            <a:r>
              <a:rPr b="1" lang="sv-SE"/>
              <a:t>onger than the real exam!</a:t>
            </a:r>
            <a:endParaRPr b="1"/>
          </a:p>
          <a:p>
            <a:pPr indent="-368300" lvl="1" marL="914400" marR="0" rtl="0" algn="l">
              <a:lnSpc>
                <a:spcPct val="120000"/>
              </a:lnSpc>
              <a:spcBef>
                <a:spcPts val="0"/>
              </a:spcBef>
              <a:spcAft>
                <a:spcPts val="0"/>
              </a:spcAft>
              <a:buSzPts val="2200"/>
              <a:buChar char="•"/>
            </a:pPr>
            <a:r>
              <a:rPr lang="sv-SE"/>
              <a:t>Try solving first without using the sample solutions. Compare your answers. </a:t>
            </a:r>
            <a:endParaRPr/>
          </a:p>
          <a:p>
            <a:pPr indent="-393700" lvl="0" marL="457200" marR="0" rtl="0" algn="l">
              <a:lnSpc>
                <a:spcPct val="120000"/>
              </a:lnSpc>
              <a:spcBef>
                <a:spcPts val="0"/>
              </a:spcBef>
              <a:spcAft>
                <a:spcPts val="0"/>
              </a:spcAft>
              <a:buSzPts val="2600"/>
              <a:buChar char="•"/>
            </a:pPr>
            <a:r>
              <a:rPr lang="sv-SE"/>
              <a:t>Ask questions about any course content!</a:t>
            </a:r>
            <a:endParaRPr/>
          </a:p>
        </p:txBody>
      </p:sp>
      <p:sp>
        <p:nvSpPr>
          <p:cNvPr id="93" name="Google Shape;93;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2018-08-27</a:t>
            </a:r>
            <a:endParaRPr/>
          </a:p>
        </p:txBody>
      </p:sp>
      <p:sp>
        <p:nvSpPr>
          <p:cNvPr id="99" name="Google Shape;99;p1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sv-SE"/>
              <a:t>Chalmers University of Technology</a:t>
            </a:r>
            <a:endParaRPr/>
          </a:p>
        </p:txBody>
      </p:sp>
      <p:sp>
        <p:nvSpPr>
          <p:cNvPr id="100" name="Google Shape;100;p1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01" name="Google Shape;101;p1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Topics</a:t>
            </a:r>
            <a:endParaRPr/>
          </a:p>
        </p:txBody>
      </p:sp>
      <p:sp>
        <p:nvSpPr>
          <p:cNvPr id="102" name="Google Shape;102;p17"/>
          <p:cNvSpPr txBox="1"/>
          <p:nvPr>
            <p:ph idx="1" type="body"/>
          </p:nvPr>
        </p:nvSpPr>
        <p:spPr>
          <a:xfrm>
            <a:off x="468895" y="1282400"/>
            <a:ext cx="4103100" cy="3480300"/>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t>Quality Attributes</a:t>
            </a:r>
            <a:endParaRPr b="1"/>
          </a:p>
          <a:p>
            <a:pPr indent="-393700" lvl="0" marL="457200" rtl="0" algn="l">
              <a:spcBef>
                <a:spcPts val="1000"/>
              </a:spcBef>
              <a:spcAft>
                <a:spcPts val="0"/>
              </a:spcAft>
              <a:buSzPts val="2600"/>
              <a:buChar char="•"/>
            </a:pPr>
            <a:r>
              <a:rPr b="1" lang="sv-SE"/>
              <a:t>Scenarios</a:t>
            </a:r>
            <a:endParaRPr b="1"/>
          </a:p>
          <a:p>
            <a:pPr indent="-393700" lvl="0" marL="457200" rtl="0" algn="l">
              <a:spcBef>
                <a:spcPts val="1000"/>
              </a:spcBef>
              <a:spcAft>
                <a:spcPts val="0"/>
              </a:spcAft>
              <a:buSzPts val="2600"/>
              <a:buChar char="•"/>
            </a:pPr>
            <a:r>
              <a:rPr b="1" lang="sv-SE"/>
              <a:t>Test Design</a:t>
            </a:r>
            <a:endParaRPr b="1"/>
          </a:p>
          <a:p>
            <a:pPr indent="-393700" lvl="0" marL="457200" rtl="0" algn="l">
              <a:spcBef>
                <a:spcPts val="1000"/>
              </a:spcBef>
              <a:spcAft>
                <a:spcPts val="0"/>
              </a:spcAft>
              <a:buSzPts val="2600"/>
              <a:buChar char="•"/>
            </a:pPr>
            <a:r>
              <a:rPr b="1" lang="sv-SE"/>
              <a:t>Unit Testing</a:t>
            </a:r>
            <a:endParaRPr b="1"/>
          </a:p>
          <a:p>
            <a:pPr indent="-393700" lvl="0" marL="457200" rtl="0" algn="l">
              <a:spcBef>
                <a:spcPts val="1000"/>
              </a:spcBef>
              <a:spcAft>
                <a:spcPts val="0"/>
              </a:spcAft>
              <a:buSzPts val="2600"/>
              <a:buChar char="•"/>
            </a:pPr>
            <a:r>
              <a:rPr lang="sv-SE"/>
              <a:t>System Testing</a:t>
            </a:r>
            <a:endParaRPr/>
          </a:p>
          <a:p>
            <a:pPr indent="-393700" lvl="0" marL="457200" rtl="0" algn="l">
              <a:spcBef>
                <a:spcPts val="1000"/>
              </a:spcBef>
              <a:spcAft>
                <a:spcPts val="0"/>
              </a:spcAft>
              <a:buSzPts val="2600"/>
              <a:buChar char="•"/>
            </a:pPr>
            <a:r>
              <a:rPr b="1" lang="sv-SE"/>
              <a:t>Exploratory Testing</a:t>
            </a:r>
            <a:endParaRPr b="1"/>
          </a:p>
        </p:txBody>
      </p:sp>
      <p:sp>
        <p:nvSpPr>
          <p:cNvPr id="103" name="Google Shape;103;p17"/>
          <p:cNvSpPr txBox="1"/>
          <p:nvPr>
            <p:ph idx="1" type="body"/>
          </p:nvPr>
        </p:nvSpPr>
        <p:spPr>
          <a:xfrm>
            <a:off x="4671150" y="1282400"/>
            <a:ext cx="4422000" cy="3480300"/>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t>Structural Testing</a:t>
            </a:r>
            <a:endParaRPr b="1"/>
          </a:p>
          <a:p>
            <a:pPr indent="-368300" lvl="1" marL="914400" rtl="0" algn="l">
              <a:spcBef>
                <a:spcPts val="500"/>
              </a:spcBef>
              <a:spcAft>
                <a:spcPts val="0"/>
              </a:spcAft>
              <a:buSzPts val="2200"/>
              <a:buChar char="•"/>
            </a:pPr>
            <a:r>
              <a:rPr b="1" lang="sv-SE"/>
              <a:t>Control-Flow</a:t>
            </a:r>
            <a:endParaRPr b="1"/>
          </a:p>
          <a:p>
            <a:pPr indent="-368300" lvl="1" marL="914400" rtl="0" algn="l">
              <a:spcBef>
                <a:spcPts val="500"/>
              </a:spcBef>
              <a:spcAft>
                <a:spcPts val="0"/>
              </a:spcAft>
              <a:buSzPts val="2200"/>
              <a:buChar char="•"/>
            </a:pPr>
            <a:r>
              <a:rPr b="1" lang="sv-SE"/>
              <a:t>Data-Flow</a:t>
            </a:r>
            <a:endParaRPr b="1"/>
          </a:p>
          <a:p>
            <a:pPr indent="-393700" lvl="0" marL="457200" rtl="0" algn="l">
              <a:spcBef>
                <a:spcPts val="1000"/>
              </a:spcBef>
              <a:spcAft>
                <a:spcPts val="0"/>
              </a:spcAft>
              <a:buSzPts val="2600"/>
              <a:buChar char="•"/>
            </a:pPr>
            <a:r>
              <a:rPr b="1" lang="sv-SE"/>
              <a:t>Mutation Testing</a:t>
            </a:r>
            <a:endParaRPr/>
          </a:p>
          <a:p>
            <a:pPr indent="-393700" lvl="0" marL="457200" rtl="0" algn="l">
              <a:spcBef>
                <a:spcPts val="1000"/>
              </a:spcBef>
              <a:spcAft>
                <a:spcPts val="0"/>
              </a:spcAft>
              <a:buSzPts val="2600"/>
              <a:buChar char="•"/>
            </a:pPr>
            <a:r>
              <a:rPr lang="sv-SE"/>
              <a:t>Model-Based Testing</a:t>
            </a:r>
            <a:endParaRPr/>
          </a:p>
          <a:p>
            <a:pPr indent="-393700" lvl="0" marL="457200" rtl="0" algn="l">
              <a:spcBef>
                <a:spcPts val="1000"/>
              </a:spcBef>
              <a:spcAft>
                <a:spcPts val="0"/>
              </a:spcAft>
              <a:buSzPts val="2600"/>
              <a:buChar char="•"/>
            </a:pPr>
            <a:r>
              <a:rPr b="1" lang="sv-SE"/>
              <a:t>Finite State Verification</a:t>
            </a:r>
            <a:endParaRPr b="1"/>
          </a:p>
          <a:p>
            <a:pPr indent="-393700" lvl="0" marL="457200" rtl="0" algn="l">
              <a:spcBef>
                <a:spcPts val="1000"/>
              </a:spcBef>
              <a:spcAft>
                <a:spcPts val="0"/>
              </a:spcAft>
              <a:buSzPts val="2600"/>
              <a:buChar char="•"/>
            </a:pPr>
            <a:r>
              <a:rPr lang="sv-SE"/>
              <a:t>Automated Test Generation</a:t>
            </a:r>
            <a:endParaRPr b="1"/>
          </a:p>
        </p:txBody>
      </p:sp>
      <p:sp>
        <p:nvSpPr>
          <p:cNvPr id="104" name="Google Shape;104;p17"/>
          <p:cNvSpPr/>
          <p:nvPr/>
        </p:nvSpPr>
        <p:spPr>
          <a:xfrm>
            <a:off x="4699925" y="3538650"/>
            <a:ext cx="4356000" cy="543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7"/>
          <p:cNvSpPr/>
          <p:nvPr/>
        </p:nvSpPr>
        <p:spPr>
          <a:xfrm>
            <a:off x="4286250" y="3967275"/>
            <a:ext cx="2741100" cy="38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Primarily on the re-exams!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12" name="Google Shape;112;p18"/>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Practice Exam</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Warm Up</a:t>
            </a:r>
            <a:endParaRPr/>
          </a:p>
        </p:txBody>
      </p:sp>
      <p:sp>
        <p:nvSpPr>
          <p:cNvPr id="118" name="Google Shape;118;p1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SzPts val="2100"/>
              <a:buAutoNum type="arabicPeriod"/>
            </a:pPr>
            <a:r>
              <a:rPr lang="sv-SE" sz="2100"/>
              <a:t>For the expression (a || !c) || (a &amp;&amp; b), the test suite </a:t>
            </a:r>
            <a:br>
              <a:rPr lang="sv-SE" sz="2100"/>
            </a:br>
            <a:r>
              <a:rPr lang="sv-SE" sz="2100"/>
              <a:t>(a, b, c) = {(T, F, T), (F, T, T), (T, T, T), (F, F, F)} provides:</a:t>
            </a:r>
            <a:endParaRPr sz="2100"/>
          </a:p>
          <a:p>
            <a:pPr indent="-336550" lvl="1" marL="914400" rtl="0" algn="l">
              <a:spcBef>
                <a:spcPts val="500"/>
              </a:spcBef>
              <a:spcAft>
                <a:spcPts val="0"/>
              </a:spcAft>
              <a:buSzPts val="1700"/>
              <a:buAutoNum type="alphaLcPeriod"/>
            </a:pPr>
            <a:r>
              <a:rPr lang="sv-SE" sz="1700"/>
              <a:t>Path Coverage</a:t>
            </a:r>
            <a:endParaRPr sz="1700"/>
          </a:p>
          <a:p>
            <a:pPr indent="-336550" lvl="1" marL="914400" rtl="0" algn="l">
              <a:spcBef>
                <a:spcPts val="500"/>
              </a:spcBef>
              <a:spcAft>
                <a:spcPts val="0"/>
              </a:spcAft>
              <a:buSzPts val="1700"/>
              <a:buAutoNum type="alphaLcPeriod"/>
            </a:pPr>
            <a:r>
              <a:rPr b="1" lang="sv-SE" sz="1700"/>
              <a:t>Decision Coverage</a:t>
            </a:r>
            <a:endParaRPr b="1" sz="1700"/>
          </a:p>
          <a:p>
            <a:pPr indent="-336550" lvl="1" marL="914400" rtl="0" algn="l">
              <a:spcBef>
                <a:spcPts val="500"/>
              </a:spcBef>
              <a:spcAft>
                <a:spcPts val="0"/>
              </a:spcAft>
              <a:buSzPts val="1700"/>
              <a:buAutoNum type="alphaLcPeriod"/>
            </a:pPr>
            <a:r>
              <a:rPr b="1" lang="sv-SE" sz="1700"/>
              <a:t>Basic Condition Coverage</a:t>
            </a:r>
            <a:endParaRPr b="1" sz="1700"/>
          </a:p>
          <a:p>
            <a:pPr indent="-336550" lvl="1" marL="914400" rtl="0" algn="l">
              <a:spcBef>
                <a:spcPts val="500"/>
              </a:spcBef>
              <a:spcAft>
                <a:spcPts val="0"/>
              </a:spcAft>
              <a:buSzPts val="1700"/>
              <a:buAutoNum type="alphaLcPeriod"/>
            </a:pPr>
            <a:r>
              <a:rPr lang="sv-SE" sz="1700"/>
              <a:t>Compound Condition Coverage</a:t>
            </a:r>
            <a:endParaRPr sz="1700"/>
          </a:p>
          <a:p>
            <a:pPr indent="-361950" lvl="0" marL="457200" rtl="0" algn="l">
              <a:spcBef>
                <a:spcPts val="1000"/>
              </a:spcBef>
              <a:spcAft>
                <a:spcPts val="0"/>
              </a:spcAft>
              <a:buSzPts val="2100"/>
              <a:buAutoNum type="arabicPeriod"/>
            </a:pPr>
            <a:r>
              <a:rPr lang="sv-SE" sz="2100"/>
              <a:t>During exploratory testing, the couch potato tour recommends running the system for a long period of time (e.g., overnight) to see if there are failures that emerge over time.</a:t>
            </a:r>
            <a:endParaRPr sz="2100"/>
          </a:p>
          <a:p>
            <a:pPr indent="-336550" lvl="1" marL="914400" rtl="0" algn="l">
              <a:spcBef>
                <a:spcPts val="500"/>
              </a:spcBef>
              <a:spcAft>
                <a:spcPts val="0"/>
              </a:spcAft>
              <a:buSzPts val="1700"/>
              <a:buAutoNum type="alphaLcPeriod"/>
            </a:pPr>
            <a:r>
              <a:rPr lang="sv-SE" sz="1700"/>
              <a:t>True</a:t>
            </a:r>
            <a:endParaRPr sz="1700"/>
          </a:p>
          <a:p>
            <a:pPr indent="-336550" lvl="1" marL="914400" rtl="0" algn="l">
              <a:spcBef>
                <a:spcPts val="500"/>
              </a:spcBef>
              <a:spcAft>
                <a:spcPts val="0"/>
              </a:spcAft>
              <a:buSzPts val="1700"/>
              <a:buAutoNum type="alphaLcPeriod"/>
            </a:pPr>
            <a:r>
              <a:rPr b="1" lang="sv-SE" sz="1700"/>
              <a:t>False</a:t>
            </a:r>
            <a:endParaRPr b="1" sz="1800"/>
          </a:p>
        </p:txBody>
      </p:sp>
      <p:sp>
        <p:nvSpPr>
          <p:cNvPr id="119" name="Google Shape;119;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26" name="Google Shape;126;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Warm Up</a:t>
            </a:r>
            <a:endParaRPr/>
          </a:p>
        </p:txBody>
      </p:sp>
      <p:sp>
        <p:nvSpPr>
          <p:cNvPr id="127" name="Google Shape;127;p2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30200" lvl="0" marL="457200" rtl="0" algn="l">
              <a:spcBef>
                <a:spcPts val="1000"/>
              </a:spcBef>
              <a:spcAft>
                <a:spcPts val="0"/>
              </a:spcAft>
              <a:buSzPts val="1600"/>
              <a:buAutoNum type="arabicPeriod"/>
            </a:pPr>
            <a:r>
              <a:rPr lang="sv-SE" sz="1600"/>
              <a:t>A liveness property is a property that should hold over a path of unknown length.</a:t>
            </a:r>
            <a:endParaRPr sz="1600"/>
          </a:p>
          <a:p>
            <a:pPr indent="-304800" lvl="1" marL="914400" rtl="0" algn="l">
              <a:spcBef>
                <a:spcPts val="500"/>
              </a:spcBef>
              <a:spcAft>
                <a:spcPts val="0"/>
              </a:spcAft>
              <a:buSzPts val="1200"/>
              <a:buAutoNum type="alphaLcPeriod"/>
            </a:pPr>
            <a:r>
              <a:rPr b="1" lang="sv-SE" sz="1200"/>
              <a:t>True</a:t>
            </a:r>
            <a:endParaRPr b="1" sz="1200"/>
          </a:p>
          <a:p>
            <a:pPr indent="-304800" lvl="1" marL="914400" rtl="0" algn="l">
              <a:spcBef>
                <a:spcPts val="500"/>
              </a:spcBef>
              <a:spcAft>
                <a:spcPts val="0"/>
              </a:spcAft>
              <a:buSzPts val="1200"/>
              <a:buAutoNum type="alphaLcPeriod"/>
            </a:pPr>
            <a:r>
              <a:rPr lang="sv-SE" sz="1200"/>
              <a:t>False</a:t>
            </a:r>
            <a:endParaRPr sz="1200"/>
          </a:p>
          <a:p>
            <a:pPr indent="-330200" lvl="0" marL="457200" rtl="0" algn="l">
              <a:spcBef>
                <a:spcPts val="1000"/>
              </a:spcBef>
              <a:spcAft>
                <a:spcPts val="0"/>
              </a:spcAft>
              <a:buSzPts val="1600"/>
              <a:buAutoNum type="arabicPeriod"/>
            </a:pPr>
            <a:r>
              <a:rPr lang="sv-SE" sz="1600"/>
              <a:t>Mutation is considered useful because a sequence of small code changes can approximately model a larger fault in the program.</a:t>
            </a:r>
            <a:endParaRPr sz="1600"/>
          </a:p>
          <a:p>
            <a:pPr indent="-304800" lvl="1" marL="914400" rtl="0" algn="l">
              <a:spcBef>
                <a:spcPts val="500"/>
              </a:spcBef>
              <a:spcAft>
                <a:spcPts val="0"/>
              </a:spcAft>
              <a:buSzPts val="1200"/>
              <a:buAutoNum type="alphaLcPeriod"/>
            </a:pPr>
            <a:r>
              <a:rPr b="1" lang="sv-SE" sz="1200"/>
              <a:t>True</a:t>
            </a:r>
            <a:endParaRPr b="1" sz="1200"/>
          </a:p>
          <a:p>
            <a:pPr indent="-304800" lvl="1" marL="914400" rtl="0" algn="l">
              <a:spcBef>
                <a:spcPts val="500"/>
              </a:spcBef>
              <a:spcAft>
                <a:spcPts val="0"/>
              </a:spcAft>
              <a:buSzPts val="1200"/>
              <a:buAutoNum type="alphaLcPeriod"/>
            </a:pPr>
            <a:r>
              <a:rPr lang="sv-SE" sz="1200"/>
              <a:t>False</a:t>
            </a:r>
            <a:endParaRPr sz="1200"/>
          </a:p>
          <a:p>
            <a:pPr indent="-330200" lvl="0" marL="457200" rtl="0" algn="l">
              <a:spcBef>
                <a:spcPts val="1000"/>
              </a:spcBef>
              <a:spcAft>
                <a:spcPts val="0"/>
              </a:spcAft>
              <a:buSzPts val="1600"/>
              <a:buAutoNum type="arabicPeriod" startAt="5"/>
            </a:pPr>
            <a:r>
              <a:rPr lang="sv-SE" sz="1600"/>
              <a:t>You have designed the software for an ATM to meet the following requirement: “If the amount of remaining money in the machine cannot be calculated, then display an error screen and prevent users from performing any additional interactions until the functionality is restored.” Which type of property is this? </a:t>
            </a:r>
            <a:endParaRPr sz="1600"/>
          </a:p>
          <a:p>
            <a:pPr indent="-304800" lvl="1" marL="914400" rtl="0" algn="l">
              <a:spcBef>
                <a:spcPts val="500"/>
              </a:spcBef>
              <a:spcAft>
                <a:spcPts val="0"/>
              </a:spcAft>
              <a:buSzPts val="1200"/>
              <a:buAutoNum type="alphaLcPeriod"/>
            </a:pPr>
            <a:r>
              <a:rPr lang="sv-SE" sz="1200"/>
              <a:t>Correctness</a:t>
            </a:r>
            <a:endParaRPr sz="1200"/>
          </a:p>
          <a:p>
            <a:pPr indent="-304800" lvl="1" marL="914400" rtl="0" algn="l">
              <a:spcBef>
                <a:spcPts val="500"/>
              </a:spcBef>
              <a:spcAft>
                <a:spcPts val="0"/>
              </a:spcAft>
              <a:buSzPts val="1200"/>
              <a:buAutoNum type="alphaLcPeriod"/>
            </a:pPr>
            <a:r>
              <a:rPr lang="sv-SE" sz="1200"/>
              <a:t>Reliability</a:t>
            </a:r>
            <a:endParaRPr sz="1200"/>
          </a:p>
          <a:p>
            <a:pPr indent="-304800" lvl="1" marL="914400" rtl="0" algn="l">
              <a:spcBef>
                <a:spcPts val="500"/>
              </a:spcBef>
              <a:spcAft>
                <a:spcPts val="0"/>
              </a:spcAft>
              <a:buSzPts val="1200"/>
              <a:buAutoNum type="alphaLcPeriod"/>
            </a:pPr>
            <a:r>
              <a:rPr b="1" lang="sv-SE" sz="1200"/>
              <a:t>Robustness</a:t>
            </a:r>
            <a:endParaRPr b="1" sz="1200"/>
          </a:p>
          <a:p>
            <a:pPr indent="0" lvl="0" marL="0" rtl="0" algn="l">
              <a:spcBef>
                <a:spcPts val="1000"/>
              </a:spcBef>
              <a:spcAft>
                <a:spcPts val="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34" name="Google Shape;134;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Warm Up</a:t>
            </a:r>
            <a:endParaRPr/>
          </a:p>
        </p:txBody>
      </p:sp>
      <p:sp>
        <p:nvSpPr>
          <p:cNvPr id="135" name="Google Shape;135;p2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AutoNum type="arabicPeriod" startAt="5"/>
            </a:pPr>
            <a:r>
              <a:rPr lang="sv-SE" sz="2200"/>
              <a:t>An invalid mutant is one that is detected by many test cases.</a:t>
            </a:r>
            <a:endParaRPr sz="2200"/>
          </a:p>
          <a:p>
            <a:pPr indent="-342900" lvl="1" marL="914400" rtl="0" algn="l">
              <a:spcBef>
                <a:spcPts val="500"/>
              </a:spcBef>
              <a:spcAft>
                <a:spcPts val="0"/>
              </a:spcAft>
              <a:buSzPts val="1800"/>
              <a:buAutoNum type="alphaLcPeriod"/>
            </a:pPr>
            <a:r>
              <a:rPr lang="sv-SE" sz="1800"/>
              <a:t>True</a:t>
            </a:r>
            <a:endParaRPr sz="1800"/>
          </a:p>
          <a:p>
            <a:pPr indent="-342900" lvl="1" marL="914400" rtl="0" algn="l">
              <a:spcBef>
                <a:spcPts val="500"/>
              </a:spcBef>
              <a:spcAft>
                <a:spcPts val="0"/>
              </a:spcAft>
              <a:buSzPts val="1800"/>
              <a:buAutoNum type="alphaLcPeriod"/>
            </a:pPr>
            <a:r>
              <a:rPr b="1" lang="sv-SE" sz="1800"/>
              <a:t>False</a:t>
            </a:r>
            <a:endParaRPr b="1" sz="1800"/>
          </a:p>
          <a:p>
            <a:pPr indent="-368300" lvl="0" marL="457200" rtl="0" algn="l">
              <a:spcBef>
                <a:spcPts val="1000"/>
              </a:spcBef>
              <a:spcAft>
                <a:spcPts val="0"/>
              </a:spcAft>
              <a:buSzPts val="2200"/>
              <a:buAutoNum type="arabicPeriod" startAt="5"/>
            </a:pPr>
            <a:r>
              <a:rPr lang="sv-SE" sz="2200"/>
              <a:t>You are designing a pedestrian detection system for a vehicle. Which one of the following quality attributes would be of most importance to you?</a:t>
            </a:r>
            <a:endParaRPr sz="2200"/>
          </a:p>
          <a:p>
            <a:pPr indent="-342900" lvl="1" marL="914400" rtl="0" algn="l">
              <a:spcBef>
                <a:spcPts val="500"/>
              </a:spcBef>
              <a:spcAft>
                <a:spcPts val="0"/>
              </a:spcAft>
              <a:buSzPts val="1800"/>
              <a:buAutoNum type="alphaLcPeriod"/>
            </a:pPr>
            <a:r>
              <a:rPr b="1" lang="sv-SE" sz="1800"/>
              <a:t>Reliability</a:t>
            </a:r>
            <a:endParaRPr b="1" sz="1800"/>
          </a:p>
          <a:p>
            <a:pPr indent="-342900" lvl="1" marL="914400" rtl="0" algn="l">
              <a:spcBef>
                <a:spcPts val="500"/>
              </a:spcBef>
              <a:spcAft>
                <a:spcPts val="0"/>
              </a:spcAft>
              <a:buSzPts val="1800"/>
              <a:buAutoNum type="alphaLcPeriod"/>
            </a:pPr>
            <a:r>
              <a:rPr lang="sv-SE" sz="1800"/>
              <a:t>Performance</a:t>
            </a:r>
            <a:endParaRPr sz="1800"/>
          </a:p>
          <a:p>
            <a:pPr indent="-342900" lvl="1" marL="914400" rtl="0" algn="l">
              <a:spcBef>
                <a:spcPts val="500"/>
              </a:spcBef>
              <a:spcAft>
                <a:spcPts val="0"/>
              </a:spcAft>
              <a:buSzPts val="1800"/>
              <a:buAutoNum type="alphaLcPeriod"/>
            </a:pPr>
            <a:r>
              <a:rPr lang="sv-SE" sz="1800"/>
              <a:t>Scalability</a:t>
            </a:r>
            <a:endParaRPr sz="1800"/>
          </a:p>
          <a:p>
            <a:pPr indent="0" lvl="0" marL="0" rtl="0" algn="l">
              <a:spcBef>
                <a:spcPts val="1000"/>
              </a:spcBef>
              <a:spcAft>
                <a:spcPts val="0"/>
              </a:spcAft>
              <a:buNone/>
            </a:pPr>
            <a:r>
              <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Scenarios</a:t>
            </a:r>
            <a:endParaRPr/>
          </a:p>
        </p:txBody>
      </p:sp>
      <p:sp>
        <p:nvSpPr>
          <p:cNvPr id="141" name="Google Shape;141;p2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Consider a camera-based object detection system in an automobile:</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sv-SE"/>
              <a:t>Create one </a:t>
            </a:r>
            <a:r>
              <a:rPr b="1" lang="sv-SE"/>
              <a:t>reliability</a:t>
            </a:r>
            <a:r>
              <a:rPr lang="sv-SE"/>
              <a:t> and one </a:t>
            </a:r>
            <a:r>
              <a:rPr b="1" lang="sv-SE"/>
              <a:t>availability</a:t>
            </a:r>
            <a:r>
              <a:rPr lang="sv-SE"/>
              <a:t> scenario.</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
        <p:nvSpPr>
          <p:cNvPr id="142" name="Google Shape;142;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143" name="Google Shape;143;p22" title="Screenshot 2026-02-23 at 15.16.36.png"/>
          <p:cNvPicPr preferRelativeResize="0"/>
          <p:nvPr/>
        </p:nvPicPr>
        <p:blipFill>
          <a:blip r:embed="rId3">
            <a:alphaModFix/>
          </a:blip>
          <a:stretch>
            <a:fillRect/>
          </a:stretch>
        </p:blipFill>
        <p:spPr>
          <a:xfrm>
            <a:off x="2920799" y="2274800"/>
            <a:ext cx="2682450" cy="1742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0" name="Google Shape;150;p2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Scenarios</a:t>
            </a:r>
            <a:r>
              <a:rPr lang="sv-SE"/>
              <a:t> - Reliability</a:t>
            </a:r>
            <a:endParaRPr/>
          </a:p>
        </p:txBody>
      </p:sp>
      <p:sp>
        <p:nvSpPr>
          <p:cNvPr id="151" name="Google Shape;151;p2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b="1" lang="sv-SE" sz="1800">
                <a:solidFill>
                  <a:schemeClr val="accent3"/>
                </a:solidFill>
              </a:rPr>
              <a:t>Description:</a:t>
            </a:r>
            <a:r>
              <a:rPr lang="sv-SE" sz="1800"/>
              <a:t> The system shall be able to reliably identify objects in the roadway, even when there is heavy snowfall.</a:t>
            </a:r>
            <a:endParaRPr sz="1800"/>
          </a:p>
          <a:p>
            <a:pPr indent="-342900" lvl="0" marL="457200" rtl="0" algn="l">
              <a:spcBef>
                <a:spcPts val="0"/>
              </a:spcBef>
              <a:spcAft>
                <a:spcPts val="0"/>
              </a:spcAft>
              <a:buSzPts val="1800"/>
              <a:buChar char="•"/>
            </a:pPr>
            <a:r>
              <a:rPr b="1" lang="sv-SE" sz="1800">
                <a:solidFill>
                  <a:schemeClr val="accent3"/>
                </a:solidFill>
              </a:rPr>
              <a:t>System State:</a:t>
            </a:r>
            <a:r>
              <a:rPr lang="sv-SE" sz="1800"/>
              <a:t> The system is operating under normal conditions (no recent failures). </a:t>
            </a:r>
            <a:endParaRPr sz="1800"/>
          </a:p>
          <a:p>
            <a:pPr indent="-342900" lvl="0" marL="457200" rtl="0" algn="l">
              <a:spcBef>
                <a:spcPts val="0"/>
              </a:spcBef>
              <a:spcAft>
                <a:spcPts val="0"/>
              </a:spcAft>
              <a:buSzPts val="1800"/>
              <a:buChar char="•"/>
            </a:pPr>
            <a:r>
              <a:rPr b="1" lang="sv-SE" sz="1800">
                <a:solidFill>
                  <a:schemeClr val="accent3"/>
                </a:solidFill>
              </a:rPr>
              <a:t>Environment State:</a:t>
            </a:r>
            <a:r>
              <a:rPr lang="sv-SE" sz="1800"/>
              <a:t> All cameras are functioning as expected, returning readings every 1ms. There is heavy snowfall (15cm accumulation in the past 12 hours, with more actively falling). </a:t>
            </a:r>
            <a:endParaRPr sz="1800"/>
          </a:p>
          <a:p>
            <a:pPr indent="-342900" lvl="0" marL="457200" rtl="0" algn="l">
              <a:spcBef>
                <a:spcPts val="0"/>
              </a:spcBef>
              <a:spcAft>
                <a:spcPts val="0"/>
              </a:spcAft>
              <a:buSzPts val="1800"/>
              <a:buChar char="•"/>
            </a:pPr>
            <a:r>
              <a:rPr b="1" lang="sv-SE" sz="1800">
                <a:solidFill>
                  <a:schemeClr val="accent3"/>
                </a:solidFill>
              </a:rPr>
              <a:t>External Stimulus:</a:t>
            </a:r>
            <a:r>
              <a:rPr lang="sv-SE" sz="1800"/>
              <a:t> An animal enters the road in front of the vehicle.</a:t>
            </a:r>
            <a:endParaRPr sz="1800"/>
          </a:p>
          <a:p>
            <a:pPr indent="-342900" lvl="0" marL="457200" rtl="0" algn="l">
              <a:spcBef>
                <a:spcPts val="0"/>
              </a:spcBef>
              <a:spcAft>
                <a:spcPts val="0"/>
              </a:spcAft>
              <a:buSzPts val="1800"/>
              <a:buChar char="•"/>
            </a:pPr>
            <a:r>
              <a:rPr b="1" lang="sv-SE" sz="1800">
                <a:solidFill>
                  <a:schemeClr val="accent3"/>
                </a:solidFill>
              </a:rPr>
              <a:t>System Response:</a:t>
            </a:r>
            <a:r>
              <a:rPr b="1" lang="sv-SE" sz="1800"/>
              <a:t> </a:t>
            </a:r>
            <a:r>
              <a:rPr lang="sv-SE" sz="1800"/>
              <a:t>The object detection system detects the animal in one or more of the camera vision areas and issues a warning to the driver.  </a:t>
            </a:r>
            <a:endParaRPr sz="1800"/>
          </a:p>
          <a:p>
            <a:pPr indent="-342900" lvl="0" marL="457200" rtl="0" algn="l">
              <a:spcBef>
                <a:spcPts val="0"/>
              </a:spcBef>
              <a:spcAft>
                <a:spcPts val="0"/>
              </a:spcAft>
              <a:buSzPts val="1800"/>
              <a:buChar char="•"/>
            </a:pPr>
            <a:r>
              <a:rPr b="1" lang="sv-SE" sz="1800">
                <a:solidFill>
                  <a:schemeClr val="accent3"/>
                </a:solidFill>
              </a:rPr>
              <a:t>Response Measure:</a:t>
            </a:r>
            <a:r>
              <a:rPr lang="sv-SE" sz="1800">
                <a:solidFill>
                  <a:schemeClr val="accent3"/>
                </a:solidFill>
              </a:rPr>
              <a:t> </a:t>
            </a:r>
            <a:r>
              <a:rPr lang="sv-SE" sz="1800"/>
              <a:t>Even under the current weather conditions, we expect fewer than 2 out of every 10000 requests to fail (POFOD). </a:t>
            </a:r>
            <a:endParaRPr sz="1800"/>
          </a:p>
          <a:p>
            <a:pPr indent="0" lvl="0" marL="0" rtl="0" algn="l">
              <a:spcBef>
                <a:spcPts val="1000"/>
              </a:spcBef>
              <a:spcAft>
                <a:spcPts val="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58" name="Google Shape;158;p2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Scenarios</a:t>
            </a:r>
            <a:r>
              <a:rPr lang="sv-SE"/>
              <a:t> - Reliability</a:t>
            </a:r>
            <a:endParaRPr/>
          </a:p>
        </p:txBody>
      </p:sp>
      <p:sp>
        <p:nvSpPr>
          <p:cNvPr id="159" name="Google Shape;159;p2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04800" lvl="0" marL="457200" rtl="0" algn="l">
              <a:spcBef>
                <a:spcPts val="1000"/>
              </a:spcBef>
              <a:spcAft>
                <a:spcPts val="0"/>
              </a:spcAft>
              <a:buSzPts val="1200"/>
              <a:buChar char="•"/>
            </a:pPr>
            <a:r>
              <a:rPr b="1" lang="sv-SE" sz="1200">
                <a:solidFill>
                  <a:schemeClr val="accent3"/>
                </a:solidFill>
              </a:rPr>
              <a:t>Description:</a:t>
            </a:r>
            <a:r>
              <a:rPr lang="sv-SE" sz="1200"/>
              <a:t> If the snowfall is sufficiently bad to prevent the cameras from working, the system shall warn the driver of degraded capabilities.</a:t>
            </a:r>
            <a:endParaRPr sz="1200"/>
          </a:p>
          <a:p>
            <a:pPr indent="-304800" lvl="0" marL="457200" rtl="0" algn="l">
              <a:spcBef>
                <a:spcPts val="1000"/>
              </a:spcBef>
              <a:spcAft>
                <a:spcPts val="0"/>
              </a:spcAft>
              <a:buSzPts val="1200"/>
              <a:buChar char="•"/>
            </a:pPr>
            <a:r>
              <a:rPr b="1" lang="sv-SE" sz="1200">
                <a:solidFill>
                  <a:schemeClr val="accent3"/>
                </a:solidFill>
              </a:rPr>
              <a:t>System State:</a:t>
            </a:r>
            <a:r>
              <a:rPr lang="sv-SE" sz="1200"/>
              <a:t> The system is operating under normal conditions (no recent failures). </a:t>
            </a:r>
            <a:endParaRPr sz="1200"/>
          </a:p>
          <a:p>
            <a:pPr indent="-304800" lvl="0" marL="457200" rtl="0" algn="l">
              <a:spcBef>
                <a:spcPts val="1000"/>
              </a:spcBef>
              <a:spcAft>
                <a:spcPts val="0"/>
              </a:spcAft>
              <a:buSzPts val="1200"/>
              <a:buChar char="•"/>
            </a:pPr>
            <a:r>
              <a:rPr b="1" lang="sv-SE" sz="1200">
                <a:solidFill>
                  <a:schemeClr val="accent3"/>
                </a:solidFill>
              </a:rPr>
              <a:t>Environment State:</a:t>
            </a:r>
            <a:r>
              <a:rPr lang="sv-SE" sz="1200"/>
              <a:t> All cameras are functioning as expected, returning readings every 1ms. There is extremely heavy snowfall (25cm accumulation in the past 12 hours, with the quantity falling steadily increasing). </a:t>
            </a:r>
            <a:endParaRPr sz="1200"/>
          </a:p>
          <a:p>
            <a:pPr indent="-304800" lvl="0" marL="457200" rtl="0" algn="l">
              <a:spcBef>
                <a:spcPts val="1000"/>
              </a:spcBef>
              <a:spcAft>
                <a:spcPts val="0"/>
              </a:spcAft>
              <a:buSzPts val="1200"/>
              <a:buChar char="•"/>
            </a:pPr>
            <a:r>
              <a:rPr b="1" lang="sv-SE" sz="1200">
                <a:solidFill>
                  <a:schemeClr val="accent3"/>
                </a:solidFill>
              </a:rPr>
              <a:t>External Stimulus: </a:t>
            </a:r>
            <a:r>
              <a:rPr lang="sv-SE" sz="1200"/>
              <a:t>The camera on the right-hand side of the vehicle has been covered in snow.</a:t>
            </a:r>
            <a:endParaRPr sz="1200"/>
          </a:p>
          <a:p>
            <a:pPr indent="-304800" lvl="0" marL="457200" rtl="0" algn="l">
              <a:spcBef>
                <a:spcPts val="1000"/>
              </a:spcBef>
              <a:spcAft>
                <a:spcPts val="0"/>
              </a:spcAft>
              <a:buSzPts val="1200"/>
              <a:buChar char="•"/>
            </a:pPr>
            <a:r>
              <a:rPr b="1" lang="sv-SE" sz="1200">
                <a:solidFill>
                  <a:schemeClr val="accent3"/>
                </a:solidFill>
              </a:rPr>
              <a:t>System Response: </a:t>
            </a:r>
            <a:r>
              <a:rPr lang="sv-SE" sz="1200"/>
              <a:t>The system shall detect that the sensor is failing to send valid data (i.e., no image or an image with no usable data). After detecting that the sensor is no longer working as expected, it shall issue a warning on the driver’s heads-up display that the system cannot reliably detect obstacles under the current conditions. The system shall continue to monitor the camera data. Once the camera resumes sending usable image data, then the warning shall be disabled. </a:t>
            </a:r>
            <a:endParaRPr sz="1200"/>
          </a:p>
          <a:p>
            <a:pPr indent="-304800" lvl="0" marL="457200" rtl="0" algn="l">
              <a:spcBef>
                <a:spcPts val="1000"/>
              </a:spcBef>
              <a:spcAft>
                <a:spcPts val="0"/>
              </a:spcAft>
              <a:buSzPts val="1200"/>
              <a:buChar char="•"/>
            </a:pPr>
            <a:r>
              <a:rPr b="1" lang="sv-SE" sz="1200">
                <a:solidFill>
                  <a:schemeClr val="accent3"/>
                </a:solidFill>
              </a:rPr>
              <a:t>Response Measure:</a:t>
            </a:r>
            <a:r>
              <a:rPr lang="sv-SE" sz="1200"/>
              <a:t> The system shall detect the failure within 2ms in 97% of cases, and within 4ms in 99.99% of cases. The system shall then issue the warning within 1 additional ms in 95% of cases and 2ms in 99% of cases. Once the camera is working again, the system shall remove the warning within 1ms in 95% of cases and 2ms in 99% of cases. </a:t>
            </a:r>
            <a:endParaRPr sz="1200"/>
          </a:p>
          <a:p>
            <a:pPr indent="0" lvl="0" marL="0" rtl="0" algn="l">
              <a:spcBef>
                <a:spcPts val="1000"/>
              </a:spcBef>
              <a:spcAft>
                <a:spcPts val="0"/>
              </a:spcAft>
              <a:buNone/>
            </a:pPr>
            <a:r>
              <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6" name="Google Shape;166;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Concepts</a:t>
            </a:r>
            <a:endParaRPr/>
          </a:p>
        </p:txBody>
      </p:sp>
      <p:sp>
        <p:nvSpPr>
          <p:cNvPr id="167" name="Google Shape;167;p2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Define </a:t>
            </a:r>
            <a:r>
              <a:rPr b="1" lang="sv-SE">
                <a:solidFill>
                  <a:schemeClr val="accent3"/>
                </a:solidFill>
              </a:rPr>
              <a:t>integration</a:t>
            </a:r>
            <a:r>
              <a:rPr lang="sv-SE"/>
              <a:t> testing and </a:t>
            </a:r>
            <a:r>
              <a:rPr b="1" lang="sv-SE">
                <a:solidFill>
                  <a:schemeClr val="accent3"/>
                </a:solidFill>
              </a:rPr>
              <a:t>exploratory</a:t>
            </a:r>
            <a:r>
              <a:rPr lang="sv-SE"/>
              <a:t> testing. </a:t>
            </a:r>
            <a:endParaRPr/>
          </a:p>
          <a:p>
            <a:pPr indent="-393700" lvl="0" marL="457200" rtl="0" algn="l">
              <a:spcBef>
                <a:spcPts val="0"/>
              </a:spcBef>
              <a:spcAft>
                <a:spcPts val="0"/>
              </a:spcAft>
              <a:buSzPts val="2600"/>
              <a:buChar char="•"/>
            </a:pPr>
            <a:r>
              <a:rPr lang="sv-SE"/>
              <a:t>Explain </a:t>
            </a:r>
            <a:r>
              <a:rPr b="1" lang="sv-SE">
                <a:solidFill>
                  <a:schemeClr val="accent3"/>
                </a:solidFill>
              </a:rPr>
              <a:t>how systems are tested</a:t>
            </a:r>
            <a:r>
              <a:rPr lang="sv-SE"/>
              <a:t> at each stage.</a:t>
            </a:r>
            <a:endParaRPr/>
          </a:p>
          <a:p>
            <a:pPr indent="-393700" lvl="0" marL="457200" rtl="0" algn="l">
              <a:spcBef>
                <a:spcPts val="0"/>
              </a:spcBef>
              <a:spcAft>
                <a:spcPts val="0"/>
              </a:spcAft>
              <a:buSzPts val="2600"/>
              <a:buChar char="•"/>
            </a:pPr>
            <a:r>
              <a:rPr lang="sv-SE"/>
              <a:t>Explain how the two </a:t>
            </a:r>
            <a:r>
              <a:rPr b="1" lang="sv-SE">
                <a:solidFill>
                  <a:schemeClr val="accent3"/>
                </a:solidFill>
              </a:rPr>
              <a:t>stages differ</a:t>
            </a:r>
            <a:r>
              <a:rPr lang="sv-SE"/>
              <a:t>.</a:t>
            </a:r>
            <a:endParaRPr/>
          </a:p>
          <a:p>
            <a:pPr indent="-393700" lvl="0" marL="457200" rtl="0" algn="l">
              <a:spcBef>
                <a:spcPts val="0"/>
              </a:spcBef>
              <a:spcAft>
                <a:spcPts val="0"/>
              </a:spcAft>
              <a:buSzPts val="2600"/>
              <a:buChar char="•"/>
            </a:pPr>
            <a:r>
              <a:rPr lang="sv-SE"/>
              <a:t>Explain </a:t>
            </a:r>
            <a:r>
              <a:rPr b="1" lang="sv-SE">
                <a:solidFill>
                  <a:schemeClr val="accent3"/>
                </a:solidFill>
              </a:rPr>
              <a:t>types of faults</a:t>
            </a:r>
            <a:r>
              <a:rPr lang="sv-SE"/>
              <a:t> that may be more likely to be exposed by each of the two stages.</a:t>
            </a:r>
            <a:endParaRPr/>
          </a:p>
          <a:p>
            <a:pPr indent="0" lvl="0" marL="0" rtl="0" algn="l">
              <a:spcBef>
                <a:spcPts val="10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74" name="Google Shape;174;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Concepts</a:t>
            </a:r>
            <a:endParaRPr/>
          </a:p>
        </p:txBody>
      </p:sp>
      <p:sp>
        <p:nvSpPr>
          <p:cNvPr id="175" name="Google Shape;175;p26"/>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t>Integration</a:t>
            </a:r>
            <a:endParaRPr b="1"/>
          </a:p>
          <a:p>
            <a:pPr indent="-381000" lvl="0" marL="457200" rtl="0" algn="l">
              <a:spcBef>
                <a:spcPts val="1000"/>
              </a:spcBef>
              <a:spcAft>
                <a:spcPts val="0"/>
              </a:spcAft>
              <a:buSzPts val="2400"/>
              <a:buChar char="•"/>
            </a:pPr>
            <a:r>
              <a:rPr lang="sv-SE" sz="2400"/>
              <a:t>Through an interface (API, CLI, GUI)</a:t>
            </a:r>
            <a:endParaRPr sz="2400"/>
          </a:p>
          <a:p>
            <a:pPr indent="-381000" lvl="0" marL="457200" rtl="0" algn="l">
              <a:spcBef>
                <a:spcPts val="0"/>
              </a:spcBef>
              <a:spcAft>
                <a:spcPts val="0"/>
              </a:spcAft>
              <a:buSzPts val="2400"/>
              <a:buChar char="•"/>
            </a:pPr>
            <a:r>
              <a:rPr lang="sv-SE" sz="2400"/>
              <a:t>Code-based</a:t>
            </a:r>
            <a:endParaRPr sz="2400"/>
          </a:p>
          <a:p>
            <a:pPr indent="-381000" lvl="0" marL="457200" rtl="0" algn="l">
              <a:spcBef>
                <a:spcPts val="0"/>
              </a:spcBef>
              <a:spcAft>
                <a:spcPts val="0"/>
              </a:spcAft>
              <a:buSzPts val="2400"/>
              <a:buChar char="•"/>
            </a:pPr>
            <a:r>
              <a:rPr lang="sv-SE" sz="2400"/>
              <a:t>Pre-planned</a:t>
            </a:r>
            <a:endParaRPr sz="2400"/>
          </a:p>
          <a:p>
            <a:pPr indent="-381000" lvl="0" marL="457200" rtl="0" algn="l">
              <a:spcBef>
                <a:spcPts val="0"/>
              </a:spcBef>
              <a:spcAft>
                <a:spcPts val="0"/>
              </a:spcAft>
              <a:buSzPts val="2400"/>
              <a:buChar char="•"/>
            </a:pPr>
            <a:r>
              <a:rPr lang="sv-SE" sz="2400"/>
              <a:t>Exposes interaction faults, code mistakes.</a:t>
            </a:r>
            <a:endParaRPr sz="2400"/>
          </a:p>
        </p:txBody>
      </p:sp>
      <p:sp>
        <p:nvSpPr>
          <p:cNvPr id="176" name="Google Shape;176;p26"/>
          <p:cNvSpPr txBox="1"/>
          <p:nvPr>
            <p:ph idx="1" type="body"/>
          </p:nvPr>
        </p:nvSpPr>
        <p:spPr>
          <a:xfrm>
            <a:off x="4571995" y="1282400"/>
            <a:ext cx="41031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t>Exploratory</a:t>
            </a:r>
            <a:endParaRPr b="1"/>
          </a:p>
          <a:p>
            <a:pPr indent="-381000" lvl="0" marL="457200" rtl="0" algn="l">
              <a:spcBef>
                <a:spcPts val="1000"/>
              </a:spcBef>
              <a:spcAft>
                <a:spcPts val="0"/>
              </a:spcAft>
              <a:buSzPts val="2400"/>
              <a:buChar char="•"/>
            </a:pPr>
            <a:r>
              <a:rPr lang="sv-SE" sz="2400"/>
              <a:t>Through an interface (generally GUI)</a:t>
            </a:r>
            <a:endParaRPr sz="2400"/>
          </a:p>
          <a:p>
            <a:pPr indent="-381000" lvl="0" marL="457200" rtl="0" algn="l">
              <a:spcBef>
                <a:spcPts val="0"/>
              </a:spcBef>
              <a:spcAft>
                <a:spcPts val="0"/>
              </a:spcAft>
              <a:buSzPts val="2400"/>
              <a:buChar char="•"/>
            </a:pPr>
            <a:r>
              <a:rPr lang="sv-SE" sz="2400"/>
              <a:t>Manual</a:t>
            </a:r>
            <a:endParaRPr sz="2400"/>
          </a:p>
          <a:p>
            <a:pPr indent="-381000" lvl="0" marL="457200" rtl="0" algn="l">
              <a:spcBef>
                <a:spcPts val="0"/>
              </a:spcBef>
              <a:spcAft>
                <a:spcPts val="0"/>
              </a:spcAft>
              <a:buSzPts val="2400"/>
              <a:buChar char="•"/>
            </a:pPr>
            <a:r>
              <a:rPr lang="sv-SE" sz="2400"/>
              <a:t>Ad-hoc</a:t>
            </a:r>
            <a:endParaRPr sz="2400"/>
          </a:p>
          <a:p>
            <a:pPr indent="-381000" lvl="0" marL="457200" rtl="0" algn="l">
              <a:spcBef>
                <a:spcPts val="0"/>
              </a:spcBef>
              <a:spcAft>
                <a:spcPts val="0"/>
              </a:spcAft>
              <a:buSzPts val="2400"/>
              <a:buChar char="•"/>
            </a:pPr>
            <a:r>
              <a:rPr lang="sv-SE" sz="2400"/>
              <a:t>Can expose interaction faults, code mistakes, but also usability, graphical issues, user perception</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Design</a:t>
            </a:r>
            <a:endParaRPr/>
          </a:p>
        </p:txBody>
      </p:sp>
      <p:sp>
        <p:nvSpPr>
          <p:cNvPr id="182" name="Google Shape;182;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2400">
                <a:solidFill>
                  <a:schemeClr val="accent3"/>
                </a:solidFill>
                <a:latin typeface="Consolas"/>
                <a:ea typeface="Consolas"/>
                <a:cs typeface="Consolas"/>
                <a:sym typeface="Consolas"/>
              </a:rPr>
              <a:t>public boolean applyForVacation (String userID, String startingDate, String endingDate)</a:t>
            </a:r>
            <a:endParaRPr b="1" sz="2400">
              <a:solidFill>
                <a:schemeClr val="accent3"/>
              </a:solidFill>
              <a:latin typeface="Consolas"/>
              <a:ea typeface="Consolas"/>
              <a:cs typeface="Consolas"/>
              <a:sym typeface="Consolas"/>
            </a:endParaRPr>
          </a:p>
          <a:p>
            <a:pPr indent="-374650" lvl="0" marL="457200" rtl="0" algn="l">
              <a:spcBef>
                <a:spcPts val="1000"/>
              </a:spcBef>
              <a:spcAft>
                <a:spcPts val="0"/>
              </a:spcAft>
              <a:buSzPts val="2300"/>
              <a:buChar char="•"/>
            </a:pPr>
            <a:r>
              <a:rPr lang="sv-SE" sz="2300"/>
              <a:t>A user ID is a string in the format “firstname.lastname”, e.g., “gregory.gay”.</a:t>
            </a:r>
            <a:endParaRPr sz="2300"/>
          </a:p>
          <a:p>
            <a:pPr indent="-374650" lvl="0" marL="457200" rtl="0" algn="l">
              <a:spcBef>
                <a:spcPts val="0"/>
              </a:spcBef>
              <a:spcAft>
                <a:spcPts val="0"/>
              </a:spcAft>
              <a:buSzPts val="2300"/>
              <a:buChar char="•"/>
            </a:pPr>
            <a:r>
              <a:rPr lang="sv-SE" sz="2300"/>
              <a:t>The two dates are strings in the format “YYYY-DD-MM”. </a:t>
            </a:r>
            <a:endParaRPr sz="2300"/>
          </a:p>
          <a:p>
            <a:pPr indent="-374650" lvl="0" marL="457200" rtl="0" algn="l">
              <a:spcBef>
                <a:spcPts val="0"/>
              </a:spcBef>
              <a:spcAft>
                <a:spcPts val="0"/>
              </a:spcAft>
              <a:buSzPts val="2300"/>
              <a:buChar char="•"/>
            </a:pPr>
            <a:r>
              <a:rPr lang="sv-SE" sz="2300"/>
              <a:t>The function returns TRUE if the user was able to successfully apply for the vacation time. It returns FALSE if not. An exception can also be thrown if there is an error. </a:t>
            </a:r>
            <a:endParaRPr sz="2300"/>
          </a:p>
          <a:p>
            <a:pPr indent="0" lvl="0" marL="0" rtl="0" algn="l">
              <a:spcBef>
                <a:spcPts val="1000"/>
              </a:spcBef>
              <a:spcAft>
                <a:spcPts val="0"/>
              </a:spcAft>
              <a:buNone/>
            </a:pPr>
            <a:r>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
        <p:nvSpPr>
          <p:cNvPr id="183" name="Google Shape;183;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Design</a:t>
            </a:r>
            <a:endParaRPr/>
          </a:p>
        </p:txBody>
      </p:sp>
      <p:sp>
        <p:nvSpPr>
          <p:cNvPr id="189" name="Google Shape;189;p28"/>
          <p:cNvSpPr txBox="1"/>
          <p:nvPr>
            <p:ph idx="1" type="body"/>
          </p:nvPr>
        </p:nvSpPr>
        <p:spPr>
          <a:xfrm>
            <a:off x="468900" y="1222175"/>
            <a:ext cx="8217900" cy="35406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U</a:t>
            </a:r>
            <a:r>
              <a:rPr lang="sv-SE"/>
              <a:t>ser database with following items for each user:</a:t>
            </a:r>
            <a:endParaRPr/>
          </a:p>
          <a:p>
            <a:pPr indent="-393700" lvl="0" marL="457200" rtl="0" algn="l">
              <a:spcBef>
                <a:spcPts val="1000"/>
              </a:spcBef>
              <a:spcAft>
                <a:spcPts val="0"/>
              </a:spcAft>
              <a:buSzPts val="2600"/>
              <a:buChar char="●"/>
            </a:pPr>
            <a:r>
              <a:rPr lang="sv-SE"/>
              <a:t>User ID</a:t>
            </a:r>
            <a:endParaRPr/>
          </a:p>
          <a:p>
            <a:pPr indent="-393700" lvl="0" marL="457200" rtl="0" algn="l">
              <a:spcBef>
                <a:spcPts val="1000"/>
              </a:spcBef>
              <a:spcAft>
                <a:spcPts val="0"/>
              </a:spcAft>
              <a:buSzPts val="2600"/>
              <a:buChar char="●"/>
            </a:pPr>
            <a:r>
              <a:rPr lang="sv-SE"/>
              <a:t>Quantity of remaining vacation days for the user</a:t>
            </a:r>
            <a:endParaRPr/>
          </a:p>
          <a:p>
            <a:pPr indent="-393700" lvl="0" marL="457200" rtl="0" algn="l">
              <a:spcBef>
                <a:spcPts val="1000"/>
              </a:spcBef>
              <a:spcAft>
                <a:spcPts val="0"/>
              </a:spcAft>
              <a:buSzPts val="2600"/>
              <a:buChar char="●"/>
            </a:pPr>
            <a:r>
              <a:rPr lang="sv-SE"/>
              <a:t>An array containing already-scheduled vacation dates (as starting and ending date pairs)</a:t>
            </a:r>
            <a:endParaRPr/>
          </a:p>
          <a:p>
            <a:pPr indent="-393700" lvl="0" marL="457200" rtl="0" algn="l">
              <a:spcBef>
                <a:spcPts val="1000"/>
              </a:spcBef>
              <a:spcAft>
                <a:spcPts val="0"/>
              </a:spcAft>
              <a:buSzPts val="2600"/>
              <a:buChar char="●"/>
            </a:pPr>
            <a:r>
              <a:rPr lang="sv-SE"/>
              <a:t>An array containing dates where vacation cannot be applied for (e.g., important meetings).</a:t>
            </a:r>
            <a:endParaRPr b="1" sz="2400">
              <a:latin typeface="Consolas"/>
              <a:ea typeface="Consolas"/>
              <a:cs typeface="Consolas"/>
              <a:sym typeface="Consolas"/>
            </a:endParaRPr>
          </a:p>
          <a:p>
            <a:pPr indent="0" lvl="0" marL="0" rtl="0" algn="l">
              <a:spcBef>
                <a:spcPts val="0"/>
              </a:spcBef>
              <a:spcAft>
                <a:spcPts val="0"/>
              </a:spcAft>
              <a:buNone/>
            </a:pPr>
            <a:r>
              <a:t/>
            </a:r>
            <a:endParaRPr sz="1800"/>
          </a:p>
        </p:txBody>
      </p:sp>
      <p:sp>
        <p:nvSpPr>
          <p:cNvPr id="190" name="Google Shape;190;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Design</a:t>
            </a:r>
            <a:endParaRPr/>
          </a:p>
        </p:txBody>
      </p:sp>
      <p:sp>
        <p:nvSpPr>
          <p:cNvPr id="196" name="Google Shape;196;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Perform functional test design for this function.</a:t>
            </a:r>
            <a:endParaRPr b="1">
              <a:solidFill>
                <a:schemeClr val="accent3"/>
              </a:solidFill>
            </a:endParaRPr>
          </a:p>
          <a:p>
            <a:pPr indent="-393700" lvl="0" marL="457200" rtl="0" algn="l">
              <a:spcBef>
                <a:spcPts val="1000"/>
              </a:spcBef>
              <a:spcAft>
                <a:spcPts val="0"/>
              </a:spcAft>
              <a:buSzPts val="2600"/>
              <a:buAutoNum type="arabicPeriod"/>
            </a:pPr>
            <a:r>
              <a:rPr lang="sv-SE"/>
              <a:t>Identify choices (controllable aspects that can be varied when testing)</a:t>
            </a:r>
            <a:endParaRPr/>
          </a:p>
          <a:p>
            <a:pPr indent="-393700" lvl="0" marL="457200" rtl="0" algn="l">
              <a:spcBef>
                <a:spcPts val="1000"/>
              </a:spcBef>
              <a:spcAft>
                <a:spcPts val="0"/>
              </a:spcAft>
              <a:buSzPts val="2600"/>
              <a:buAutoNum type="arabicPeriod"/>
            </a:pPr>
            <a:r>
              <a:rPr lang="sv-SE"/>
              <a:t>For each choice, identify representative values.</a:t>
            </a:r>
            <a:endParaRPr/>
          </a:p>
          <a:p>
            <a:pPr indent="-393700" lvl="0" marL="457200" rtl="0" algn="l">
              <a:spcBef>
                <a:spcPts val="1000"/>
              </a:spcBef>
              <a:spcAft>
                <a:spcPts val="0"/>
              </a:spcAft>
              <a:buSzPts val="2600"/>
              <a:buAutoNum type="arabicPeriod"/>
            </a:pPr>
            <a:r>
              <a:rPr lang="sv-SE"/>
              <a:t>For each value, apply constraints (IF, ERROR, SINGLE) if they make sense.</a:t>
            </a:r>
            <a:endParaRPr/>
          </a:p>
          <a:p>
            <a:pPr indent="0" lvl="0" marL="0" rtl="0" algn="l">
              <a:spcBef>
                <a:spcPts val="1000"/>
              </a:spcBef>
              <a:spcAft>
                <a:spcPts val="0"/>
              </a:spcAft>
              <a:buNone/>
            </a:pPr>
            <a:r>
              <a:t/>
            </a:r>
            <a:endParaRPr/>
          </a:p>
          <a:p>
            <a:pPr indent="0" lvl="0" marL="0" rtl="0" algn="l">
              <a:spcBef>
                <a:spcPts val="1000"/>
              </a:spcBef>
              <a:spcAft>
                <a:spcPts val="0"/>
              </a:spcAft>
              <a:buClr>
                <a:schemeClr val="dk1"/>
              </a:buClr>
              <a:buSzPts val="1100"/>
              <a:buFont typeface="Arial"/>
              <a:buNone/>
            </a:pPr>
            <a:r>
              <a:t/>
            </a:r>
            <a:endParaRPr/>
          </a:p>
        </p:txBody>
      </p:sp>
      <p:sp>
        <p:nvSpPr>
          <p:cNvPr id="197" name="Google Shape;197;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idx="1" type="body"/>
          </p:nvPr>
        </p:nvSpPr>
        <p:spPr>
          <a:xfrm>
            <a:off x="468900" y="480225"/>
            <a:ext cx="4103100" cy="4282500"/>
          </a:xfrm>
          <a:prstGeom prst="rect">
            <a:avLst/>
          </a:prstGeom>
        </p:spPr>
        <p:txBody>
          <a:bodyPr anchorCtr="0" anchor="t" bIns="45700" lIns="91425" spcFirstLastPara="1" rIns="91425" wrap="square" tIns="45700">
            <a:noAutofit/>
          </a:bodyPr>
          <a:lstStyle/>
          <a:p>
            <a:pPr indent="-298450" lvl="0" marL="457200" rtl="0" algn="l">
              <a:lnSpc>
                <a:spcPct val="115000"/>
              </a:lnSpc>
              <a:spcBef>
                <a:spcPts val="0"/>
              </a:spcBef>
              <a:spcAft>
                <a:spcPts val="0"/>
              </a:spcAft>
              <a:buClr>
                <a:schemeClr val="accent3"/>
              </a:buClr>
              <a:buSzPts val="1100"/>
              <a:buChar char="•"/>
            </a:pPr>
            <a:r>
              <a:rPr b="1" lang="sv-SE" sz="1100">
                <a:solidFill>
                  <a:schemeClr val="accent3"/>
                </a:solidFill>
              </a:rPr>
              <a:t>Choice: Value of userID</a:t>
            </a:r>
            <a:endParaRPr b="1" sz="1100">
              <a:solidFill>
                <a:schemeClr val="accent3"/>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Existing user </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Non-existing user </a:t>
            </a:r>
            <a:r>
              <a:rPr b="1" lang="sv-SE" sz="1100">
                <a:solidFill>
                  <a:srgbClr val="000000"/>
                </a:solidFill>
              </a:rPr>
              <a:t>[error] </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Null </a:t>
            </a:r>
            <a:r>
              <a:rPr b="1" lang="sv-SE" sz="1100">
                <a:solidFill>
                  <a:srgbClr val="000000"/>
                </a:solidFill>
              </a:rPr>
              <a:t>[error]</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Malformed user ID (not in format “firstname.lastname”) </a:t>
            </a:r>
            <a:r>
              <a:rPr b="1" lang="sv-SE" sz="1100">
                <a:solidFill>
                  <a:srgbClr val="000000"/>
                </a:solidFill>
              </a:rPr>
              <a:t>[error]</a:t>
            </a:r>
            <a:endParaRPr b="1" sz="1100">
              <a:solidFill>
                <a:srgbClr val="000000"/>
              </a:solidFill>
            </a:endParaRPr>
          </a:p>
          <a:p>
            <a:pPr indent="-298450" lvl="0" marL="457200" rtl="0" algn="l">
              <a:lnSpc>
                <a:spcPct val="115000"/>
              </a:lnSpc>
              <a:spcBef>
                <a:spcPts val="0"/>
              </a:spcBef>
              <a:spcAft>
                <a:spcPts val="0"/>
              </a:spcAft>
              <a:buClr>
                <a:schemeClr val="accent3"/>
              </a:buClr>
              <a:buSzPts val="1100"/>
              <a:buChar char="•"/>
            </a:pPr>
            <a:r>
              <a:rPr b="1" lang="sv-SE" sz="1100">
                <a:solidFill>
                  <a:schemeClr val="accent3"/>
                </a:solidFill>
              </a:rPr>
              <a:t>Choice: Value of starting date</a:t>
            </a:r>
            <a:endParaRPr b="1" sz="1100">
              <a:solidFill>
                <a:schemeClr val="accent3"/>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Valid date</a:t>
            </a:r>
            <a:endParaRPr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Date before the current date </a:t>
            </a:r>
            <a:r>
              <a:rPr b="1" lang="sv-SE" sz="1100">
                <a:solidFill>
                  <a:srgbClr val="000000"/>
                </a:solidFill>
              </a:rPr>
              <a:t>[error]</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Current date </a:t>
            </a:r>
            <a:r>
              <a:rPr b="1" lang="sv-SE" sz="1100">
                <a:solidFill>
                  <a:srgbClr val="000000"/>
                </a:solidFill>
              </a:rPr>
              <a:t>[single]</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Null </a:t>
            </a:r>
            <a:r>
              <a:rPr b="1" lang="sv-SE" sz="1100">
                <a:solidFill>
                  <a:srgbClr val="000000"/>
                </a:solidFill>
              </a:rPr>
              <a:t>[error]</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Malformed date (not in format “YYYY-MM-DD”) </a:t>
            </a:r>
            <a:r>
              <a:rPr b="1" lang="sv-SE" sz="1100">
                <a:solidFill>
                  <a:srgbClr val="000000"/>
                </a:solidFill>
              </a:rPr>
              <a:t>[error]</a:t>
            </a:r>
            <a:endParaRPr b="1" sz="1100">
              <a:solidFill>
                <a:srgbClr val="000000"/>
              </a:solidFill>
            </a:endParaRPr>
          </a:p>
          <a:p>
            <a:pPr indent="-298450" lvl="0" marL="457200" rtl="0" algn="l">
              <a:lnSpc>
                <a:spcPct val="115000"/>
              </a:lnSpc>
              <a:spcBef>
                <a:spcPts val="0"/>
              </a:spcBef>
              <a:spcAft>
                <a:spcPts val="0"/>
              </a:spcAft>
              <a:buClr>
                <a:schemeClr val="accent3"/>
              </a:buClr>
              <a:buSzPts val="1100"/>
              <a:buChar char="•"/>
            </a:pPr>
            <a:r>
              <a:rPr b="1" lang="sv-SE" sz="1100">
                <a:solidFill>
                  <a:schemeClr val="accent3"/>
                </a:solidFill>
              </a:rPr>
              <a:t>Choice: Value of ending date</a:t>
            </a:r>
            <a:endParaRPr b="1" sz="1100">
              <a:solidFill>
                <a:schemeClr val="accent3"/>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Valid date</a:t>
            </a:r>
            <a:endParaRPr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Date before the current date </a:t>
            </a:r>
            <a:r>
              <a:rPr b="1" lang="sv-SE" sz="1100">
                <a:solidFill>
                  <a:srgbClr val="000000"/>
                </a:solidFill>
              </a:rPr>
              <a:t>[error]</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Current date</a:t>
            </a:r>
            <a:r>
              <a:rPr b="1" lang="sv-SE" sz="1100">
                <a:solidFill>
                  <a:srgbClr val="000000"/>
                </a:solidFill>
              </a:rPr>
              <a:t> [single]</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Date before the starting date </a:t>
            </a:r>
            <a:r>
              <a:rPr b="1" lang="sv-SE" sz="1100">
                <a:solidFill>
                  <a:srgbClr val="000000"/>
                </a:solidFill>
              </a:rPr>
              <a:t>[error]</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Date same as the starting date </a:t>
            </a:r>
            <a:r>
              <a:rPr b="1" lang="sv-SE" sz="1100">
                <a:solidFill>
                  <a:srgbClr val="000000"/>
                </a:solidFill>
              </a:rPr>
              <a:t>[single]</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Null </a:t>
            </a:r>
            <a:r>
              <a:rPr b="1" lang="sv-SE" sz="1100">
                <a:solidFill>
                  <a:srgbClr val="000000"/>
                </a:solidFill>
              </a:rPr>
              <a:t>[error]</a:t>
            </a:r>
            <a:endParaRPr b="1" sz="1100">
              <a:solidFill>
                <a:srgbClr val="000000"/>
              </a:solidFill>
            </a:endParaRPr>
          </a:p>
          <a:p>
            <a:pPr indent="-298450" lvl="1" marL="914400" rtl="0" algn="l">
              <a:lnSpc>
                <a:spcPct val="115000"/>
              </a:lnSpc>
              <a:spcBef>
                <a:spcPts val="0"/>
              </a:spcBef>
              <a:spcAft>
                <a:spcPts val="0"/>
              </a:spcAft>
              <a:buClr>
                <a:srgbClr val="000000"/>
              </a:buClr>
              <a:buSzPts val="1100"/>
              <a:buChar char="•"/>
            </a:pPr>
            <a:r>
              <a:rPr lang="sv-SE" sz="1100">
                <a:solidFill>
                  <a:srgbClr val="000000"/>
                </a:solidFill>
              </a:rPr>
              <a:t>Malformed date (not in format “YYYY-MM-DD”) </a:t>
            </a:r>
            <a:r>
              <a:rPr b="1" lang="sv-SE" sz="1100">
                <a:solidFill>
                  <a:srgbClr val="000000"/>
                </a:solidFill>
              </a:rPr>
              <a:t>[error]</a:t>
            </a:r>
            <a:endParaRPr b="1" i="1" sz="1200" u="sng"/>
          </a:p>
        </p:txBody>
      </p:sp>
      <p:sp>
        <p:nvSpPr>
          <p:cNvPr id="203" name="Google Shape;203;p30"/>
          <p:cNvSpPr txBox="1"/>
          <p:nvPr>
            <p:ph idx="1" type="body"/>
          </p:nvPr>
        </p:nvSpPr>
        <p:spPr>
          <a:xfrm>
            <a:off x="4408725" y="531400"/>
            <a:ext cx="4684200" cy="4394400"/>
          </a:xfrm>
          <a:prstGeom prst="rect">
            <a:avLst/>
          </a:prstGeom>
          <a:noFill/>
          <a:ln>
            <a:noFill/>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b="1" lang="sv-SE" sz="1100">
                <a:solidFill>
                  <a:schemeClr val="accent3"/>
                </a:solidFill>
              </a:rPr>
              <a:t>Choice: Remaining vacation time for the userID</a:t>
            </a:r>
            <a:br>
              <a:rPr lang="sv-SE" sz="1100"/>
            </a:br>
            <a:r>
              <a:rPr b="1" lang="sv-SE" sz="1100"/>
              <a:t>(Note: We are assuming the database schema prevents storing malformed/invalid values)</a:t>
            </a:r>
            <a:endParaRPr b="1" sz="1100"/>
          </a:p>
          <a:p>
            <a:pPr indent="-298450" lvl="1" marL="914400" rtl="0" algn="l">
              <a:lnSpc>
                <a:spcPct val="115000"/>
              </a:lnSpc>
              <a:spcBef>
                <a:spcPts val="0"/>
              </a:spcBef>
              <a:spcAft>
                <a:spcPts val="0"/>
              </a:spcAft>
              <a:buSzPts val="1100"/>
              <a:buChar char="○"/>
            </a:pPr>
            <a:r>
              <a:rPr lang="sv-SE" sz="1100"/>
              <a:t>0 days remaining</a:t>
            </a:r>
            <a:endParaRPr sz="1100"/>
          </a:p>
          <a:p>
            <a:pPr indent="-298450" lvl="1" marL="914400" rtl="0" algn="l">
              <a:lnSpc>
                <a:spcPct val="115000"/>
              </a:lnSpc>
              <a:spcBef>
                <a:spcPts val="0"/>
              </a:spcBef>
              <a:spcAft>
                <a:spcPts val="0"/>
              </a:spcAft>
              <a:buSzPts val="1100"/>
              <a:buChar char="○"/>
            </a:pPr>
            <a:r>
              <a:rPr lang="sv-SE" sz="1100"/>
              <a:t>1 day remaining, 1 day applied for </a:t>
            </a:r>
            <a:r>
              <a:rPr b="1" lang="sv-SE" sz="1100"/>
              <a:t>[single]</a:t>
            </a:r>
            <a:endParaRPr b="1" sz="1100"/>
          </a:p>
          <a:p>
            <a:pPr indent="-298450" lvl="1" marL="914400" rtl="0" algn="l">
              <a:lnSpc>
                <a:spcPct val="115000"/>
              </a:lnSpc>
              <a:spcBef>
                <a:spcPts val="0"/>
              </a:spcBef>
              <a:spcAft>
                <a:spcPts val="0"/>
              </a:spcAft>
              <a:buSzPts val="1100"/>
              <a:buChar char="○"/>
            </a:pPr>
            <a:r>
              <a:rPr lang="sv-SE" sz="1100"/>
              <a:t>Number of days remaining &lt; number applied for</a:t>
            </a:r>
            <a:endParaRPr sz="1100"/>
          </a:p>
          <a:p>
            <a:pPr indent="-298450" lvl="1" marL="914400" rtl="0" algn="l">
              <a:lnSpc>
                <a:spcPct val="115000"/>
              </a:lnSpc>
              <a:spcBef>
                <a:spcPts val="0"/>
              </a:spcBef>
              <a:spcAft>
                <a:spcPts val="0"/>
              </a:spcAft>
              <a:buSzPts val="1100"/>
              <a:buChar char="○"/>
            </a:pPr>
            <a:r>
              <a:rPr lang="sv-SE" sz="1100"/>
              <a:t>Number of days remaining = number applied for </a:t>
            </a:r>
            <a:r>
              <a:rPr b="1" lang="sv-SE" sz="1100"/>
              <a:t>[single]</a:t>
            </a:r>
            <a:endParaRPr b="1" sz="1100"/>
          </a:p>
          <a:p>
            <a:pPr indent="-298450" lvl="1" marL="914400" rtl="0" algn="l">
              <a:lnSpc>
                <a:spcPct val="115000"/>
              </a:lnSpc>
              <a:spcBef>
                <a:spcPts val="0"/>
              </a:spcBef>
              <a:spcAft>
                <a:spcPts val="0"/>
              </a:spcAft>
              <a:buSzPts val="1100"/>
              <a:buChar char="○"/>
            </a:pPr>
            <a:r>
              <a:rPr lang="sv-SE" sz="1100"/>
              <a:t>Number of days remaining &gt; number applied for </a:t>
            </a:r>
            <a:endParaRPr sz="1100"/>
          </a:p>
          <a:p>
            <a:pPr indent="-298450" lvl="1" marL="914400" rtl="0" algn="l">
              <a:lnSpc>
                <a:spcPct val="115000"/>
              </a:lnSpc>
              <a:spcBef>
                <a:spcPts val="0"/>
              </a:spcBef>
              <a:spcAft>
                <a:spcPts val="0"/>
              </a:spcAft>
              <a:buSzPts val="1100"/>
              <a:buChar char="○"/>
            </a:pPr>
            <a:r>
              <a:rPr lang="sv-SE" sz="1100"/>
              <a:t>User does not exist </a:t>
            </a:r>
            <a:r>
              <a:rPr b="1" lang="sv-SE" sz="1100"/>
              <a:t>[if user ID does not exist]</a:t>
            </a:r>
            <a:endParaRPr sz="1100"/>
          </a:p>
          <a:p>
            <a:pPr indent="-298450" lvl="0" marL="457200" rtl="0" algn="l">
              <a:lnSpc>
                <a:spcPct val="115000"/>
              </a:lnSpc>
              <a:spcBef>
                <a:spcPts val="0"/>
              </a:spcBef>
              <a:spcAft>
                <a:spcPts val="0"/>
              </a:spcAft>
              <a:buSzPts val="1100"/>
              <a:buChar char="●"/>
            </a:pPr>
            <a:r>
              <a:rPr b="1" lang="sv-SE" sz="1100">
                <a:solidFill>
                  <a:schemeClr val="accent3"/>
                </a:solidFill>
              </a:rPr>
              <a:t>Choice: Conflicts with vacation time</a:t>
            </a:r>
            <a:br>
              <a:rPr lang="sv-SE" sz="1100"/>
            </a:br>
            <a:r>
              <a:rPr b="1" lang="sv-SE" sz="1100"/>
              <a:t>(Note: We are assuming the database schema prevents storing malformed/invalid date ranges)</a:t>
            </a:r>
            <a:endParaRPr sz="1100"/>
          </a:p>
          <a:p>
            <a:pPr indent="-298450" lvl="1" marL="914400" rtl="0" algn="l">
              <a:lnSpc>
                <a:spcPct val="115000"/>
              </a:lnSpc>
              <a:spcBef>
                <a:spcPts val="0"/>
              </a:spcBef>
              <a:spcAft>
                <a:spcPts val="0"/>
              </a:spcAft>
              <a:buSzPts val="1100"/>
              <a:buChar char="○"/>
            </a:pPr>
            <a:r>
              <a:rPr lang="sv-SE" sz="1100"/>
              <a:t>No conflicts with scheduled vacation or banned dates</a:t>
            </a:r>
            <a:endParaRPr sz="1100"/>
          </a:p>
          <a:p>
            <a:pPr indent="-298450" lvl="1" marL="914400" rtl="0" algn="l">
              <a:lnSpc>
                <a:spcPct val="115000"/>
              </a:lnSpc>
              <a:spcBef>
                <a:spcPts val="0"/>
              </a:spcBef>
              <a:spcAft>
                <a:spcPts val="0"/>
              </a:spcAft>
              <a:buSzPts val="1100"/>
              <a:buChar char="○"/>
            </a:pPr>
            <a:r>
              <a:rPr lang="sv-SE" sz="1100"/>
              <a:t>Banned date(s) fall within the starting and ending dates </a:t>
            </a:r>
            <a:endParaRPr sz="1100"/>
          </a:p>
          <a:p>
            <a:pPr indent="-298450" lvl="1" marL="914400" rtl="0" algn="l">
              <a:lnSpc>
                <a:spcPct val="115000"/>
              </a:lnSpc>
              <a:spcBef>
                <a:spcPts val="0"/>
              </a:spcBef>
              <a:spcAft>
                <a:spcPts val="0"/>
              </a:spcAft>
              <a:buSzPts val="1100"/>
              <a:buChar char="○"/>
            </a:pPr>
            <a:r>
              <a:rPr lang="sv-SE" sz="1100"/>
              <a:t>Starting date falls within already-scheduled vacation time</a:t>
            </a:r>
            <a:endParaRPr sz="1100"/>
          </a:p>
          <a:p>
            <a:pPr indent="-298450" lvl="1" marL="914400" rtl="0" algn="l">
              <a:lnSpc>
                <a:spcPct val="115000"/>
              </a:lnSpc>
              <a:spcBef>
                <a:spcPts val="0"/>
              </a:spcBef>
              <a:spcAft>
                <a:spcPts val="0"/>
              </a:spcAft>
              <a:buSzPts val="1100"/>
              <a:buChar char="○"/>
            </a:pPr>
            <a:r>
              <a:rPr lang="sv-SE" sz="1100"/>
              <a:t>Ending date falls within already-scheduled vacation time</a:t>
            </a:r>
            <a:endParaRPr sz="1100"/>
          </a:p>
          <a:p>
            <a:pPr indent="-298450" lvl="1" marL="914400" rtl="0" algn="l">
              <a:lnSpc>
                <a:spcPct val="115000"/>
              </a:lnSpc>
              <a:spcBef>
                <a:spcPts val="0"/>
              </a:spcBef>
              <a:spcAft>
                <a:spcPts val="0"/>
              </a:spcAft>
              <a:buSzPts val="1100"/>
              <a:buChar char="○"/>
            </a:pPr>
            <a:r>
              <a:rPr lang="sv-SE" sz="1100"/>
              <a:t>Already-scheduled vacation time falls within starting and ending dates applied for</a:t>
            </a:r>
            <a:endParaRPr sz="1100"/>
          </a:p>
          <a:p>
            <a:pPr indent="-298450" lvl="1" marL="914400" rtl="0" algn="l">
              <a:lnSpc>
                <a:spcPct val="115000"/>
              </a:lnSpc>
              <a:spcBef>
                <a:spcPts val="0"/>
              </a:spcBef>
              <a:spcAft>
                <a:spcPts val="0"/>
              </a:spcAft>
              <a:buSzPts val="1100"/>
              <a:buChar char="○"/>
            </a:pPr>
            <a:r>
              <a:rPr lang="sv-SE" sz="1100"/>
              <a:t>The starting and ending dates fall within already-scheduled vacation time</a:t>
            </a:r>
            <a:endParaRPr sz="1100"/>
          </a:p>
          <a:p>
            <a:pPr indent="-298450" lvl="1" marL="914400" rtl="0" algn="l">
              <a:lnSpc>
                <a:spcPct val="115000"/>
              </a:lnSpc>
              <a:spcBef>
                <a:spcPts val="0"/>
              </a:spcBef>
              <a:spcAft>
                <a:spcPts val="0"/>
              </a:spcAft>
              <a:buSzPts val="1100"/>
              <a:buChar char="○"/>
            </a:pPr>
            <a:r>
              <a:rPr lang="sv-SE" sz="1100"/>
              <a:t>User does not exist </a:t>
            </a:r>
            <a:r>
              <a:rPr b="1" lang="sv-SE" sz="1100"/>
              <a:t>[if user ID does not exist]</a:t>
            </a:r>
            <a:endParaRPr sz="1100"/>
          </a:p>
          <a:p>
            <a:pPr indent="0" lvl="0" marL="0" rtl="0" algn="l">
              <a:spcBef>
                <a:spcPts val="0"/>
              </a:spcBef>
              <a:spcAft>
                <a:spcPts val="0"/>
              </a:spcAft>
              <a:buNone/>
            </a:pPr>
            <a:r>
              <a:t/>
            </a:r>
            <a:endParaRPr b="1" i="1" sz="1100">
              <a:solidFill>
                <a:schemeClr val="dk1"/>
              </a:solidFill>
            </a:endParaRPr>
          </a:p>
        </p:txBody>
      </p:sp>
      <p:sp>
        <p:nvSpPr>
          <p:cNvPr id="204" name="Google Shape;204;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11" name="Google Shape;211;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Design</a:t>
            </a:r>
            <a:endParaRPr/>
          </a:p>
        </p:txBody>
      </p:sp>
      <p:sp>
        <p:nvSpPr>
          <p:cNvPr id="212" name="Google Shape;212;p3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sv-SE" sz="2000">
                <a:solidFill>
                  <a:schemeClr val="accent3"/>
                </a:solidFill>
                <a:latin typeface="Consolas"/>
                <a:ea typeface="Consolas"/>
                <a:cs typeface="Consolas"/>
                <a:sym typeface="Consolas"/>
              </a:rPr>
              <a:t>public String[] analyzeObstacles (List&lt;Float&gt; cameraData)</a:t>
            </a:r>
            <a:endParaRPr sz="2000">
              <a:solidFill>
                <a:schemeClr val="accent3"/>
              </a:solidFill>
              <a:latin typeface="Consolas"/>
              <a:ea typeface="Consolas"/>
              <a:cs typeface="Consolas"/>
              <a:sym typeface="Consolas"/>
            </a:endParaRPr>
          </a:p>
          <a:p>
            <a:pPr indent="0" lvl="0" marL="0" rtl="0" algn="l">
              <a:lnSpc>
                <a:spcPct val="100000"/>
              </a:lnSpc>
              <a:spcBef>
                <a:spcPts val="0"/>
              </a:spcBef>
              <a:spcAft>
                <a:spcPts val="0"/>
              </a:spcAft>
              <a:buNone/>
            </a:pPr>
            <a:r>
              <a:t/>
            </a:r>
            <a:endParaRPr sz="2200">
              <a:latin typeface="Consolas"/>
              <a:ea typeface="Consolas"/>
              <a:cs typeface="Consolas"/>
              <a:sym typeface="Consolas"/>
            </a:endParaRPr>
          </a:p>
          <a:p>
            <a:pPr indent="0" lvl="0" marL="0" rtl="0" algn="l">
              <a:lnSpc>
                <a:spcPct val="100000"/>
              </a:lnSpc>
              <a:spcBef>
                <a:spcPts val="0"/>
              </a:spcBef>
              <a:spcAft>
                <a:spcPts val="0"/>
              </a:spcAft>
              <a:buNone/>
            </a:pPr>
            <a:r>
              <a:rPr lang="sv-SE" sz="2200">
                <a:latin typeface="Consolas"/>
                <a:ea typeface="Consolas"/>
                <a:cs typeface="Consolas"/>
                <a:sym typeface="Consolas"/>
              </a:rPr>
              <a:t>cameraData </a:t>
            </a:r>
            <a:r>
              <a:rPr lang="sv-SE" sz="2200"/>
              <a:t>- list of distances of 0+ potential obstacles. </a:t>
            </a:r>
            <a:endParaRPr sz="2200"/>
          </a:p>
          <a:p>
            <a:pPr indent="0" lvl="0" marL="0" rtl="0" algn="l">
              <a:lnSpc>
                <a:spcPct val="100000"/>
              </a:lnSpc>
              <a:spcBef>
                <a:spcPts val="0"/>
              </a:spcBef>
              <a:spcAft>
                <a:spcPts val="0"/>
              </a:spcAft>
              <a:buNone/>
            </a:pPr>
            <a:r>
              <a:t/>
            </a:r>
            <a:endParaRPr sz="2200">
              <a:latin typeface="Consolas"/>
              <a:ea typeface="Consolas"/>
              <a:cs typeface="Consolas"/>
              <a:sym typeface="Consolas"/>
            </a:endParaRPr>
          </a:p>
          <a:p>
            <a:pPr indent="0" lvl="0" marL="0" rtl="0" algn="l">
              <a:lnSpc>
                <a:spcPct val="100000"/>
              </a:lnSpc>
              <a:spcBef>
                <a:spcPts val="0"/>
              </a:spcBef>
              <a:spcAft>
                <a:spcPts val="0"/>
              </a:spcAft>
              <a:buNone/>
            </a:pPr>
            <a:r>
              <a:rPr lang="sv-SE" sz="2200"/>
              <a:t>Returns a String array, where each item is a warning:</a:t>
            </a:r>
            <a:endParaRPr sz="2200"/>
          </a:p>
          <a:p>
            <a:pPr indent="-368300" lvl="0" marL="457200" rtl="0" algn="l">
              <a:lnSpc>
                <a:spcPct val="100000"/>
              </a:lnSpc>
              <a:spcBef>
                <a:spcPts val="0"/>
              </a:spcBef>
              <a:spcAft>
                <a:spcPts val="0"/>
              </a:spcAft>
              <a:buSzPts val="2200"/>
              <a:buChar char="●"/>
            </a:pPr>
            <a:r>
              <a:rPr lang="sv-SE" sz="2200"/>
              <a:t>Any detected obstacle that is within 2 meters of the camera.</a:t>
            </a:r>
            <a:endParaRPr sz="2200"/>
          </a:p>
          <a:p>
            <a:pPr indent="-368300" lvl="0" marL="457200" rtl="0" algn="l">
              <a:lnSpc>
                <a:spcPct val="100000"/>
              </a:lnSpc>
              <a:spcBef>
                <a:spcPts val="0"/>
              </a:spcBef>
              <a:spcAft>
                <a:spcPts val="0"/>
              </a:spcAft>
              <a:buSzPts val="2200"/>
              <a:buChar char="●"/>
            </a:pPr>
            <a:r>
              <a:rPr lang="sv-SE" sz="2200"/>
              <a:t>Obstruction may be blocking the camera (a detected object 0.00 meters from the camera). </a:t>
            </a:r>
            <a:endParaRPr sz="3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19" name="Google Shape;219;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Design</a:t>
            </a:r>
            <a:endParaRPr/>
          </a:p>
        </p:txBody>
      </p:sp>
      <p:sp>
        <p:nvSpPr>
          <p:cNvPr id="220" name="Google Shape;220;p32"/>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1300"/>
              <a:t>Choice: Number of items in cameraData</a:t>
            </a:r>
            <a:endParaRPr b="1" sz="1300"/>
          </a:p>
          <a:p>
            <a:pPr indent="-311150" lvl="0" marL="457200" rtl="0" algn="l">
              <a:spcBef>
                <a:spcPts val="1000"/>
              </a:spcBef>
              <a:spcAft>
                <a:spcPts val="0"/>
              </a:spcAft>
              <a:buSzPts val="1300"/>
              <a:buChar char="●"/>
            </a:pPr>
            <a:r>
              <a:rPr lang="sv-SE" sz="1300"/>
              <a:t>0</a:t>
            </a:r>
            <a:endParaRPr sz="1300"/>
          </a:p>
          <a:p>
            <a:pPr indent="-311150" lvl="0" marL="457200" rtl="0" algn="l">
              <a:spcBef>
                <a:spcPts val="1000"/>
              </a:spcBef>
              <a:spcAft>
                <a:spcPts val="0"/>
              </a:spcAft>
              <a:buSzPts val="1300"/>
              <a:buChar char="●"/>
            </a:pPr>
            <a:r>
              <a:rPr lang="sv-SE" sz="1300"/>
              <a:t>1</a:t>
            </a:r>
            <a:endParaRPr sz="1300"/>
          </a:p>
          <a:p>
            <a:pPr indent="-311150" lvl="0" marL="457200" rtl="0" algn="l">
              <a:spcBef>
                <a:spcPts val="1000"/>
              </a:spcBef>
              <a:spcAft>
                <a:spcPts val="0"/>
              </a:spcAft>
              <a:buSzPts val="1300"/>
              <a:buChar char="●"/>
            </a:pPr>
            <a:r>
              <a:rPr lang="sv-SE" sz="1300"/>
              <a:t>10 (i.e., “typical”)</a:t>
            </a:r>
            <a:endParaRPr sz="1300"/>
          </a:p>
          <a:p>
            <a:pPr indent="-311150" lvl="0" marL="457200" rtl="0" algn="l">
              <a:spcBef>
                <a:spcPts val="1000"/>
              </a:spcBef>
              <a:spcAft>
                <a:spcPts val="0"/>
              </a:spcAft>
              <a:buSzPts val="1300"/>
              <a:buChar char="●"/>
            </a:pPr>
            <a:r>
              <a:rPr lang="sv-SE" sz="1300"/>
              <a:t>10000 (i.e., “large set to test performance”) </a:t>
            </a:r>
            <a:r>
              <a:rPr b="1" lang="sv-SE" sz="1300"/>
              <a:t>[single]</a:t>
            </a:r>
            <a:endParaRPr b="1" sz="1300"/>
          </a:p>
          <a:p>
            <a:pPr indent="0" lvl="0" marL="0" rtl="0" algn="l">
              <a:spcBef>
                <a:spcPts val="1000"/>
              </a:spcBef>
              <a:spcAft>
                <a:spcPts val="0"/>
              </a:spcAft>
              <a:buNone/>
            </a:pPr>
            <a:r>
              <a:t/>
            </a:r>
            <a:endParaRPr sz="1300"/>
          </a:p>
          <a:p>
            <a:pPr indent="0" lvl="0" marL="0" rtl="0" algn="l">
              <a:spcBef>
                <a:spcPts val="1000"/>
              </a:spcBef>
              <a:spcAft>
                <a:spcPts val="0"/>
              </a:spcAft>
              <a:buNone/>
            </a:pPr>
            <a:r>
              <a:rPr b="1" lang="sv-SE" sz="1300"/>
              <a:t>Choice: Number of obstacles that could cause a collision (&lt; 2 meters)</a:t>
            </a:r>
            <a:endParaRPr b="1" sz="1300"/>
          </a:p>
          <a:p>
            <a:pPr indent="-311150" lvl="0" marL="457200" rtl="0" algn="l">
              <a:spcBef>
                <a:spcPts val="1000"/>
              </a:spcBef>
              <a:spcAft>
                <a:spcPts val="0"/>
              </a:spcAft>
              <a:buSzPts val="1300"/>
              <a:buChar char="●"/>
            </a:pPr>
            <a:r>
              <a:rPr lang="sv-SE" sz="1300"/>
              <a:t>0</a:t>
            </a:r>
            <a:endParaRPr sz="1300"/>
          </a:p>
          <a:p>
            <a:pPr indent="-311150" lvl="0" marL="457200" rtl="0" algn="l">
              <a:spcBef>
                <a:spcPts val="1000"/>
              </a:spcBef>
              <a:spcAft>
                <a:spcPts val="0"/>
              </a:spcAft>
              <a:buSzPts val="1300"/>
              <a:buChar char="●"/>
            </a:pPr>
            <a:r>
              <a:rPr lang="sv-SE" sz="1300"/>
              <a:t>1 </a:t>
            </a:r>
            <a:r>
              <a:rPr b="1" lang="sv-SE" sz="1300"/>
              <a:t>[if number of items &gt; 0]</a:t>
            </a:r>
            <a:endParaRPr b="1" sz="1300"/>
          </a:p>
          <a:p>
            <a:pPr indent="-311150" lvl="0" marL="457200" rtl="0" algn="l">
              <a:spcBef>
                <a:spcPts val="1000"/>
              </a:spcBef>
              <a:spcAft>
                <a:spcPts val="0"/>
              </a:spcAft>
              <a:buSzPts val="1300"/>
              <a:buChar char="●"/>
            </a:pPr>
            <a:r>
              <a:rPr lang="sv-SE" sz="1300"/>
              <a:t>2+ </a:t>
            </a:r>
            <a:r>
              <a:rPr b="1" lang="sv-SE" sz="1300"/>
              <a:t>[if number of items &gt; 1]</a:t>
            </a:r>
            <a:endParaRPr b="1" sz="2300"/>
          </a:p>
        </p:txBody>
      </p:sp>
      <p:sp>
        <p:nvSpPr>
          <p:cNvPr id="221" name="Google Shape;221;p32"/>
          <p:cNvSpPr txBox="1"/>
          <p:nvPr>
            <p:ph idx="1" type="body"/>
          </p:nvPr>
        </p:nvSpPr>
        <p:spPr>
          <a:xfrm>
            <a:off x="4571995" y="1282400"/>
            <a:ext cx="41031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1300"/>
              <a:t>Choice: Potential obstruction? (0.00 meters)</a:t>
            </a:r>
            <a:endParaRPr b="1" sz="1300"/>
          </a:p>
          <a:p>
            <a:pPr indent="-311150" lvl="0" marL="457200" rtl="0" algn="l">
              <a:spcBef>
                <a:spcPts val="1000"/>
              </a:spcBef>
              <a:spcAft>
                <a:spcPts val="0"/>
              </a:spcAft>
              <a:buSzPts val="1300"/>
              <a:buChar char="●"/>
            </a:pPr>
            <a:r>
              <a:rPr lang="sv-SE" sz="1300"/>
              <a:t>Yes </a:t>
            </a:r>
            <a:r>
              <a:rPr b="1" lang="sv-SE" sz="1300"/>
              <a:t>[if number of items &gt; 0]</a:t>
            </a:r>
            <a:endParaRPr b="1" sz="1300"/>
          </a:p>
          <a:p>
            <a:pPr indent="-311150" lvl="0" marL="457200" rtl="0" algn="l">
              <a:spcBef>
                <a:spcPts val="1000"/>
              </a:spcBef>
              <a:spcAft>
                <a:spcPts val="0"/>
              </a:spcAft>
              <a:buSzPts val="1300"/>
              <a:buChar char="●"/>
            </a:pPr>
            <a:r>
              <a:rPr lang="sv-SE" sz="1300"/>
              <a:t>No</a:t>
            </a:r>
            <a:endParaRPr sz="1300"/>
          </a:p>
          <a:p>
            <a:pPr indent="0" lvl="0" marL="457200" rtl="0" algn="l">
              <a:spcBef>
                <a:spcPts val="1000"/>
              </a:spcBef>
              <a:spcAft>
                <a:spcPts val="0"/>
              </a:spcAft>
              <a:buNone/>
            </a:pPr>
            <a:r>
              <a:t/>
            </a:r>
            <a:endParaRPr sz="1300"/>
          </a:p>
          <a:p>
            <a:pPr indent="0" lvl="0" marL="0" rtl="0" algn="l">
              <a:spcBef>
                <a:spcPts val="1000"/>
              </a:spcBef>
              <a:spcAft>
                <a:spcPts val="0"/>
              </a:spcAft>
              <a:buNone/>
            </a:pPr>
            <a:r>
              <a:rPr b="1" lang="sv-SE" sz="1300"/>
              <a:t>Choice: Are there items in cameraData that could cause an error?</a:t>
            </a:r>
            <a:endParaRPr b="1" sz="1300"/>
          </a:p>
          <a:p>
            <a:pPr indent="-311150" lvl="0" marL="457200" rtl="0" algn="l">
              <a:spcBef>
                <a:spcPts val="1000"/>
              </a:spcBef>
              <a:spcAft>
                <a:spcPts val="0"/>
              </a:spcAft>
              <a:buSzPts val="1300"/>
              <a:buChar char="●"/>
            </a:pPr>
            <a:r>
              <a:rPr lang="sv-SE" sz="1300"/>
              <a:t>No</a:t>
            </a:r>
            <a:endParaRPr sz="1300"/>
          </a:p>
          <a:p>
            <a:pPr indent="-311150" lvl="0" marL="457200" rtl="0" algn="l">
              <a:spcBef>
                <a:spcPts val="1000"/>
              </a:spcBef>
              <a:spcAft>
                <a:spcPts val="0"/>
              </a:spcAft>
              <a:buSzPts val="1300"/>
              <a:buChar char="●"/>
            </a:pPr>
            <a:r>
              <a:rPr lang="sv-SE" sz="1300"/>
              <a:t>At least one null value </a:t>
            </a:r>
            <a:r>
              <a:rPr b="1" lang="sv-SE" sz="1300"/>
              <a:t>[error] [if number of items &gt; 0]</a:t>
            </a:r>
            <a:endParaRPr b="1" sz="1300"/>
          </a:p>
          <a:p>
            <a:pPr indent="-311150" lvl="0" marL="457200" rtl="0" algn="l">
              <a:spcBef>
                <a:spcPts val="1000"/>
              </a:spcBef>
              <a:spcAft>
                <a:spcPts val="0"/>
              </a:spcAft>
              <a:buSzPts val="1300"/>
              <a:buChar char="●"/>
            </a:pPr>
            <a:r>
              <a:rPr lang="sv-SE" sz="1300"/>
              <a:t>At least one negative value </a:t>
            </a:r>
            <a:r>
              <a:rPr b="1" lang="sv-SE" sz="1300"/>
              <a:t>[error] [if number of items &gt; 0]</a:t>
            </a:r>
            <a:endParaRPr b="1" sz="1300"/>
          </a:p>
          <a:p>
            <a:pPr indent="0" lvl="0" marL="0" rtl="0" algn="l">
              <a:spcBef>
                <a:spcPts val="1000"/>
              </a:spcBef>
              <a:spcAft>
                <a:spcPts val="0"/>
              </a:spcAft>
              <a:buNone/>
            </a:pPr>
            <a:r>
              <a:t/>
            </a:r>
            <a:endParaRPr sz="2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28" name="Google Shape;228;p3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a:t>
            </a:r>
            <a:endParaRPr/>
          </a:p>
        </p:txBody>
      </p:sp>
      <p:sp>
        <p:nvSpPr>
          <p:cNvPr id="229" name="Google Shape;229;p3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AutoNum type="arabicParenR"/>
            </a:pPr>
            <a:r>
              <a:rPr lang="sv-SE" sz="2200"/>
              <a:t>Describe one of the tours that we discussed in class. </a:t>
            </a:r>
            <a:endParaRPr sz="2200"/>
          </a:p>
          <a:p>
            <a:pPr indent="-368300" lvl="0" marL="457200" rtl="0" algn="l">
              <a:spcBef>
                <a:spcPts val="1000"/>
              </a:spcBef>
              <a:spcAft>
                <a:spcPts val="0"/>
              </a:spcAft>
              <a:buSzPts val="2200"/>
              <a:buAutoNum type="arabicParenR"/>
            </a:pPr>
            <a:r>
              <a:rPr lang="sv-SE" sz="2200"/>
              <a:t>Consider a web-based discussion forum. This forum offers the following functionality:</a:t>
            </a:r>
            <a:endParaRPr sz="2200"/>
          </a:p>
          <a:p>
            <a:pPr indent="-349250" lvl="0" marL="457200" rtl="0" algn="l">
              <a:spcBef>
                <a:spcPts val="1000"/>
              </a:spcBef>
              <a:spcAft>
                <a:spcPts val="0"/>
              </a:spcAft>
              <a:buSzPts val="1900"/>
              <a:buChar char="•"/>
            </a:pPr>
            <a:r>
              <a:rPr lang="sv-SE" sz="1900"/>
              <a:t>Users can register for an account.</a:t>
            </a:r>
            <a:endParaRPr sz="1900"/>
          </a:p>
          <a:p>
            <a:pPr indent="-349250" lvl="0" marL="457200" rtl="0" algn="l">
              <a:spcBef>
                <a:spcPts val="1000"/>
              </a:spcBef>
              <a:spcAft>
                <a:spcPts val="0"/>
              </a:spcAft>
              <a:buSzPts val="1900"/>
              <a:buChar char="•"/>
            </a:pPr>
            <a:r>
              <a:rPr lang="sv-SE" sz="1900"/>
              <a:t>Administrators can create, edit the name and description of, and delete “boards”. </a:t>
            </a:r>
            <a:endParaRPr sz="1900"/>
          </a:p>
          <a:p>
            <a:pPr indent="-349250" lvl="0" marL="457200" rtl="0" algn="l">
              <a:spcBef>
                <a:spcPts val="1000"/>
              </a:spcBef>
              <a:spcAft>
                <a:spcPts val="0"/>
              </a:spcAft>
              <a:buSzPts val="1900"/>
              <a:buChar char="•"/>
            </a:pPr>
            <a:r>
              <a:rPr lang="sv-SE" sz="1900"/>
              <a:t>Users can also post, reply, edit posts in topics.</a:t>
            </a:r>
            <a:endParaRPr sz="1900"/>
          </a:p>
          <a:p>
            <a:pPr indent="-349250" lvl="0" marL="457200" rtl="0" algn="l">
              <a:spcBef>
                <a:spcPts val="1000"/>
              </a:spcBef>
              <a:spcAft>
                <a:spcPts val="0"/>
              </a:spcAft>
              <a:buSzPts val="1900"/>
              <a:buChar char="•"/>
            </a:pPr>
            <a:r>
              <a:rPr lang="sv-SE" sz="1900"/>
              <a:t>Administrators can also edit or delete posts in topics.</a:t>
            </a:r>
            <a:endParaRPr sz="1900"/>
          </a:p>
          <a:p>
            <a:pPr indent="0" lvl="0" marL="0" rtl="0" algn="l">
              <a:spcBef>
                <a:spcPts val="1000"/>
              </a:spcBef>
              <a:spcAft>
                <a:spcPts val="0"/>
              </a:spcAft>
              <a:buNone/>
            </a:pPr>
            <a:r>
              <a:rPr lang="sv-SE" sz="2200"/>
              <a:t>Describe three interaction sequences.</a:t>
            </a:r>
            <a:endParaRPr sz="1800"/>
          </a:p>
          <a:p>
            <a:pPr indent="0" lvl="0" marL="0" rtl="0" algn="l">
              <a:spcBef>
                <a:spcPts val="1000"/>
              </a:spcBef>
              <a:spcAft>
                <a:spcPts val="0"/>
              </a:spcAft>
              <a:buNone/>
            </a:pPr>
            <a:r>
              <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36" name="Google Shape;236;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a:t>
            </a:r>
            <a:endParaRPr/>
          </a:p>
        </p:txBody>
      </p:sp>
      <p:sp>
        <p:nvSpPr>
          <p:cNvPr id="237" name="Google Shape;237;p3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FedEx Tour</a:t>
            </a:r>
            <a:endParaRPr b="1">
              <a:solidFill>
                <a:schemeClr val="accent3"/>
              </a:solidFill>
            </a:endParaRPr>
          </a:p>
          <a:p>
            <a:pPr indent="-368300" lvl="1" marL="914400" rtl="0" algn="l">
              <a:spcBef>
                <a:spcPts val="500"/>
              </a:spcBef>
              <a:spcAft>
                <a:spcPts val="0"/>
              </a:spcAft>
              <a:buSzPts val="2200"/>
              <a:buChar char="•"/>
            </a:pPr>
            <a:r>
              <a:rPr lang="sv-SE"/>
              <a:t>Models data creation and manipulation across features.</a:t>
            </a:r>
            <a:endParaRPr/>
          </a:p>
          <a:p>
            <a:pPr indent="-368300" lvl="1" marL="914400" rtl="0" algn="l">
              <a:spcBef>
                <a:spcPts val="500"/>
              </a:spcBef>
              <a:spcAft>
                <a:spcPts val="0"/>
              </a:spcAft>
              <a:buSzPts val="2200"/>
              <a:buChar char="•"/>
            </a:pPr>
            <a:r>
              <a:rPr lang="sv-SE"/>
              <a:t>Identify data that is stored, and “track” it as it gets changed or used.</a:t>
            </a:r>
            <a:endParaRPr/>
          </a:p>
          <a:p>
            <a:pPr indent="-368300" lvl="1" marL="914400" rtl="0" algn="l">
              <a:spcBef>
                <a:spcPts val="500"/>
              </a:spcBef>
              <a:spcAft>
                <a:spcPts val="0"/>
              </a:spcAft>
              <a:buSzPts val="2200"/>
              <a:buChar char="•"/>
            </a:pPr>
            <a:r>
              <a:rPr lang="sv-SE"/>
              <a:t>Particular focus on interactions with same data across multiple “functions”.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44" name="Google Shape;244;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a:t>
            </a:r>
            <a:endParaRPr/>
          </a:p>
        </p:txBody>
      </p:sp>
      <p:sp>
        <p:nvSpPr>
          <p:cNvPr id="245" name="Google Shape;245;p3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solidFill>
                  <a:schemeClr val="accent3"/>
                </a:solidFill>
              </a:rPr>
              <a:t>Describe three interaction sequences</a:t>
            </a:r>
            <a:endParaRPr b="1">
              <a:solidFill>
                <a:schemeClr val="accent3"/>
              </a:solidFill>
            </a:endParaRPr>
          </a:p>
          <a:p>
            <a:pPr indent="-368300" lvl="0" marL="457200" rtl="0" algn="l">
              <a:spcBef>
                <a:spcPts val="1000"/>
              </a:spcBef>
              <a:spcAft>
                <a:spcPts val="0"/>
              </a:spcAft>
              <a:buSzPts val="2200"/>
              <a:buAutoNum type="arabicPeriod"/>
            </a:pPr>
            <a:r>
              <a:rPr lang="sv-SE" sz="2200"/>
              <a:t>Register, log in, log out, try to register with same username or email, verify rejection, log in again. </a:t>
            </a:r>
            <a:endParaRPr sz="2200"/>
          </a:p>
          <a:p>
            <a:pPr indent="-368300" lvl="0" marL="457200" rtl="0" algn="l">
              <a:spcBef>
                <a:spcPts val="1000"/>
              </a:spcBef>
              <a:spcAft>
                <a:spcPts val="0"/>
              </a:spcAft>
              <a:buSzPts val="2200"/>
              <a:buAutoNum type="arabicPeriod"/>
            </a:pPr>
            <a:r>
              <a:rPr lang="sv-SE" sz="2200"/>
              <a:t>Log in as admin, post topic, edit post, reply, delete reply.</a:t>
            </a:r>
            <a:endParaRPr sz="2200"/>
          </a:p>
          <a:p>
            <a:pPr indent="-368300" lvl="0" marL="457200" rtl="0" algn="l">
              <a:spcBef>
                <a:spcPts val="1000"/>
              </a:spcBef>
              <a:spcAft>
                <a:spcPts val="0"/>
              </a:spcAft>
              <a:buSzPts val="2200"/>
              <a:buAutoNum type="arabicPeriod"/>
            </a:pPr>
            <a:r>
              <a:rPr lang="sv-SE" sz="2200"/>
              <a:t>Log in as admin, create board, edit name/description, delete board. </a:t>
            </a: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a:t>
            </a:r>
            <a:endParaRPr/>
          </a:p>
        </p:txBody>
      </p:sp>
      <p:sp>
        <p:nvSpPr>
          <p:cNvPr id="251" name="Google Shape;251;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sv-SE" sz="2000">
                <a:solidFill>
                  <a:schemeClr val="accent3"/>
                </a:solidFill>
                <a:latin typeface="Consolas"/>
                <a:ea typeface="Consolas"/>
                <a:cs typeface="Consolas"/>
                <a:sym typeface="Consolas"/>
              </a:rPr>
              <a:t>public String[] analyzeObstacles (List&lt;Float&gt; cameraData)</a:t>
            </a:r>
            <a:endParaRPr sz="2000">
              <a:solidFill>
                <a:schemeClr val="accent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2000">
              <a:latin typeface="Consolas"/>
              <a:ea typeface="Consolas"/>
              <a:cs typeface="Consolas"/>
              <a:sym typeface="Consolas"/>
            </a:endParaRPr>
          </a:p>
          <a:p>
            <a:pPr indent="0" lvl="0" marL="0" rtl="0" algn="l">
              <a:lnSpc>
                <a:spcPct val="115000"/>
              </a:lnSpc>
              <a:spcBef>
                <a:spcPts val="0"/>
              </a:spcBef>
              <a:spcAft>
                <a:spcPts val="0"/>
              </a:spcAft>
              <a:buNone/>
            </a:pPr>
            <a:r>
              <a:rPr lang="sv-SE" sz="2000"/>
              <a:t>Write three JUnit-format test cases:</a:t>
            </a:r>
            <a:endParaRPr sz="2000"/>
          </a:p>
          <a:p>
            <a:pPr indent="-355600" lvl="0" marL="457200" rtl="0" algn="l">
              <a:lnSpc>
                <a:spcPct val="115000"/>
              </a:lnSpc>
              <a:spcBef>
                <a:spcPts val="0"/>
              </a:spcBef>
              <a:spcAft>
                <a:spcPts val="0"/>
              </a:spcAft>
              <a:buSzPts val="2000"/>
              <a:buAutoNum type="arabicPeriod"/>
            </a:pPr>
            <a:r>
              <a:rPr lang="sv-SE" sz="2000"/>
              <a:t>Create one test case that checks a normal usage of the method, with at least one detected obstacle.</a:t>
            </a:r>
            <a:endParaRPr sz="2000"/>
          </a:p>
          <a:p>
            <a:pPr indent="-355600" lvl="0" marL="457200" rtl="0" algn="l">
              <a:lnSpc>
                <a:spcPct val="115000"/>
              </a:lnSpc>
              <a:spcBef>
                <a:spcPts val="0"/>
              </a:spcBef>
              <a:spcAft>
                <a:spcPts val="0"/>
              </a:spcAft>
              <a:buSzPts val="2000"/>
              <a:buAutoNum type="arabicPeriod"/>
            </a:pPr>
            <a:r>
              <a:rPr lang="sv-SE" sz="2000"/>
              <a:t>Create one test case that checks a normal usage of the method, with a potential obstruction.</a:t>
            </a:r>
            <a:endParaRPr sz="2000"/>
          </a:p>
          <a:p>
            <a:pPr indent="-355600" lvl="0" marL="457200" rtl="0" algn="l">
              <a:lnSpc>
                <a:spcPct val="115000"/>
              </a:lnSpc>
              <a:spcBef>
                <a:spcPts val="0"/>
              </a:spcBef>
              <a:spcAft>
                <a:spcPts val="0"/>
              </a:spcAft>
              <a:buSzPts val="2000"/>
              <a:buAutoNum type="arabicPeriod"/>
            </a:pPr>
            <a:r>
              <a:rPr lang="sv-SE" sz="2000"/>
              <a:t>Create one test case reflecting an error-handling scenario (an exception is thrown). </a:t>
            </a:r>
            <a:endParaRPr sz="2800"/>
          </a:p>
        </p:txBody>
      </p:sp>
      <p:sp>
        <p:nvSpPr>
          <p:cNvPr id="252" name="Google Shape;252;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59" name="Google Shape;259;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a:t>
            </a:r>
            <a:endParaRPr/>
          </a:p>
        </p:txBody>
      </p:sp>
      <p:sp>
        <p:nvSpPr>
          <p:cNvPr id="260" name="Google Shape;260;p37"/>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sv-SE" sz="800">
                <a:latin typeface="Consolas"/>
                <a:ea typeface="Consolas"/>
                <a:cs typeface="Consolas"/>
                <a:sym typeface="Consolas"/>
              </a:rPr>
              <a:t>@Test</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public void testDetectedObstacle() {</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List&lt;Float&gt; input = new ArraytList&lt;Float&gt;();</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input.add(0.50);</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String[] expected = new String[1];</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expected[0] = “Obstacle detected at 0.50 meters”;</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String[] output = analyzeObjects(input);</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assertArrayEquals(output, expected);</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assertTrue(output.length == 1); </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a:t>
            </a:r>
            <a:endParaRPr b="1" sz="800">
              <a:latin typeface="Consolas"/>
              <a:ea typeface="Consolas"/>
              <a:cs typeface="Consolas"/>
              <a:sym typeface="Consolas"/>
            </a:endParaRPr>
          </a:p>
          <a:p>
            <a:pPr indent="0" lvl="0" marL="0" rtl="0" algn="l">
              <a:lnSpc>
                <a:spcPct val="115000"/>
              </a:lnSpc>
              <a:spcBef>
                <a:spcPts val="0"/>
              </a:spcBef>
              <a:spcAft>
                <a:spcPts val="0"/>
              </a:spcAft>
              <a:buNone/>
            </a:pPr>
            <a:r>
              <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@Test</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public void testDetectedObstruction() {</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List&lt;Float&gt; input = new ArraytList&lt;Float&gt;();</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input.add(0.00);</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String[] expected = new String[1];</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expected[0] = “There is a potential obstruction blocking the camera”;</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String[] output = analyzeObjects(input);</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assertArrayEquals(output, expected);</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    assertTrue(output.length == 1); </a:t>
            </a:r>
            <a:endParaRPr b="1" sz="800">
              <a:latin typeface="Consolas"/>
              <a:ea typeface="Consolas"/>
              <a:cs typeface="Consolas"/>
              <a:sym typeface="Consolas"/>
            </a:endParaRPr>
          </a:p>
          <a:p>
            <a:pPr indent="0" lvl="0" marL="0" rtl="0" algn="l">
              <a:lnSpc>
                <a:spcPct val="115000"/>
              </a:lnSpc>
              <a:spcBef>
                <a:spcPts val="0"/>
              </a:spcBef>
              <a:spcAft>
                <a:spcPts val="0"/>
              </a:spcAft>
              <a:buNone/>
            </a:pPr>
            <a:r>
              <a:rPr b="1" lang="sv-SE" sz="800">
                <a:latin typeface="Consolas"/>
                <a:ea typeface="Consolas"/>
                <a:cs typeface="Consolas"/>
                <a:sym typeface="Consolas"/>
              </a:rPr>
              <a:t>}</a:t>
            </a:r>
            <a:endParaRPr sz="2300"/>
          </a:p>
        </p:txBody>
      </p:sp>
      <p:sp>
        <p:nvSpPr>
          <p:cNvPr id="261" name="Google Shape;261;p37"/>
          <p:cNvSpPr txBox="1"/>
          <p:nvPr>
            <p:ph idx="1" type="body"/>
          </p:nvPr>
        </p:nvSpPr>
        <p:spPr>
          <a:xfrm>
            <a:off x="4583695" y="1282400"/>
            <a:ext cx="41031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sv-SE" sz="1000">
                <a:latin typeface="Consolas"/>
                <a:ea typeface="Consolas"/>
                <a:cs typeface="Consolas"/>
                <a:sym typeface="Consolas"/>
              </a:rPr>
              <a:t>@Test</a:t>
            </a:r>
            <a:endParaRPr b="1" sz="1000">
              <a:latin typeface="Consolas"/>
              <a:ea typeface="Consolas"/>
              <a:cs typeface="Consolas"/>
              <a:sym typeface="Consolas"/>
            </a:endParaRPr>
          </a:p>
          <a:p>
            <a:pPr indent="0" lvl="0" marL="0" rtl="0" algn="l">
              <a:lnSpc>
                <a:spcPct val="115000"/>
              </a:lnSpc>
              <a:spcBef>
                <a:spcPts val="0"/>
              </a:spcBef>
              <a:spcAft>
                <a:spcPts val="0"/>
              </a:spcAft>
              <a:buNone/>
            </a:pPr>
            <a:r>
              <a:rPr b="1" lang="sv-SE" sz="1000">
                <a:latin typeface="Consolas"/>
                <a:ea typeface="Consolas"/>
                <a:cs typeface="Consolas"/>
                <a:sym typeface="Consolas"/>
              </a:rPr>
              <a:t>public void testNullContents() {</a:t>
            </a:r>
            <a:endParaRPr b="1" sz="1000">
              <a:latin typeface="Consolas"/>
              <a:ea typeface="Consolas"/>
              <a:cs typeface="Consolas"/>
              <a:sym typeface="Consolas"/>
            </a:endParaRPr>
          </a:p>
          <a:p>
            <a:pPr indent="0" lvl="0" marL="0" rtl="0" algn="l">
              <a:lnSpc>
                <a:spcPct val="115000"/>
              </a:lnSpc>
              <a:spcBef>
                <a:spcPts val="0"/>
              </a:spcBef>
              <a:spcAft>
                <a:spcPts val="0"/>
              </a:spcAft>
              <a:buNone/>
            </a:pPr>
            <a:r>
              <a:rPr b="1" lang="sv-SE" sz="1000">
                <a:latin typeface="Consolas"/>
                <a:ea typeface="Consolas"/>
                <a:cs typeface="Consolas"/>
                <a:sym typeface="Consolas"/>
              </a:rPr>
              <a:t>    List&lt;Float&gt; input = new ArraytList&lt;Float&gt;();</a:t>
            </a:r>
            <a:endParaRPr b="1" sz="1000">
              <a:latin typeface="Consolas"/>
              <a:ea typeface="Consolas"/>
              <a:cs typeface="Consolas"/>
              <a:sym typeface="Consolas"/>
            </a:endParaRPr>
          </a:p>
          <a:p>
            <a:pPr indent="0" lvl="0" marL="0" rtl="0" algn="l">
              <a:lnSpc>
                <a:spcPct val="115000"/>
              </a:lnSpc>
              <a:spcBef>
                <a:spcPts val="0"/>
              </a:spcBef>
              <a:spcAft>
                <a:spcPts val="0"/>
              </a:spcAft>
              <a:buNone/>
            </a:pPr>
            <a:r>
              <a:rPr b="1" lang="sv-SE" sz="1000">
                <a:latin typeface="Consolas"/>
                <a:ea typeface="Consolas"/>
                <a:cs typeface="Consolas"/>
                <a:sym typeface="Consolas"/>
              </a:rPr>
              <a:t>    input.add(null);</a:t>
            </a:r>
            <a:endParaRPr b="1" sz="1000">
              <a:latin typeface="Consolas"/>
              <a:ea typeface="Consolas"/>
              <a:cs typeface="Consolas"/>
              <a:sym typeface="Consolas"/>
            </a:endParaRPr>
          </a:p>
          <a:p>
            <a:pPr indent="0" lvl="0" marL="0" rtl="0" algn="l">
              <a:lnSpc>
                <a:spcPct val="115000"/>
              </a:lnSpc>
              <a:spcBef>
                <a:spcPts val="0"/>
              </a:spcBef>
              <a:spcAft>
                <a:spcPts val="0"/>
              </a:spcAft>
              <a:buNone/>
            </a:pPr>
            <a:r>
              <a:t/>
            </a:r>
            <a:endParaRPr b="1" sz="1000">
              <a:latin typeface="Consolas"/>
              <a:ea typeface="Consolas"/>
              <a:cs typeface="Consolas"/>
              <a:sym typeface="Consolas"/>
            </a:endParaRPr>
          </a:p>
          <a:p>
            <a:pPr indent="0" lvl="0" marL="0" rtl="0" algn="l">
              <a:lnSpc>
                <a:spcPct val="115000"/>
              </a:lnSpc>
              <a:spcBef>
                <a:spcPts val="0"/>
              </a:spcBef>
              <a:spcAft>
                <a:spcPts val="0"/>
              </a:spcAft>
              <a:buNone/>
            </a:pPr>
            <a:r>
              <a:rPr b="1" lang="sv-SE" sz="1000">
                <a:latin typeface="Consolas"/>
                <a:ea typeface="Consolas"/>
                <a:cs typeface="Consolas"/>
                <a:sym typeface="Consolas"/>
              </a:rPr>
              <a:t>    assertThrows(NullPointerException.class, () -&gt; {</a:t>
            </a:r>
            <a:endParaRPr b="1" sz="1000">
              <a:latin typeface="Consolas"/>
              <a:ea typeface="Consolas"/>
              <a:cs typeface="Consolas"/>
              <a:sym typeface="Consolas"/>
            </a:endParaRPr>
          </a:p>
          <a:p>
            <a:pPr indent="0" lvl="0" marL="0" rtl="0" algn="l">
              <a:lnSpc>
                <a:spcPct val="115000"/>
              </a:lnSpc>
              <a:spcBef>
                <a:spcPts val="0"/>
              </a:spcBef>
              <a:spcAft>
                <a:spcPts val="0"/>
              </a:spcAft>
              <a:buNone/>
            </a:pPr>
            <a:r>
              <a:rPr b="1" lang="sv-SE" sz="1000">
                <a:latin typeface="Consolas"/>
                <a:ea typeface="Consolas"/>
                <a:cs typeface="Consolas"/>
                <a:sym typeface="Consolas"/>
              </a:rPr>
              <a:t>        analyzeObjects(input);</a:t>
            </a:r>
            <a:endParaRPr b="1" sz="1000">
              <a:latin typeface="Consolas"/>
              <a:ea typeface="Consolas"/>
              <a:cs typeface="Consolas"/>
              <a:sym typeface="Consolas"/>
            </a:endParaRPr>
          </a:p>
          <a:p>
            <a:pPr indent="0" lvl="0" marL="0" rtl="0" algn="l">
              <a:lnSpc>
                <a:spcPct val="115000"/>
              </a:lnSpc>
              <a:spcBef>
                <a:spcPts val="0"/>
              </a:spcBef>
              <a:spcAft>
                <a:spcPts val="0"/>
              </a:spcAft>
              <a:buNone/>
            </a:pPr>
            <a:r>
              <a:rPr b="1" lang="sv-SE" sz="1000">
                <a:latin typeface="Consolas"/>
                <a:ea typeface="Consolas"/>
                <a:cs typeface="Consolas"/>
                <a:sym typeface="Consolas"/>
              </a:rPr>
              <a:t>    });</a:t>
            </a:r>
            <a:endParaRPr b="1" sz="1000">
              <a:latin typeface="Consolas"/>
              <a:ea typeface="Consolas"/>
              <a:cs typeface="Consolas"/>
              <a:sym typeface="Consolas"/>
            </a:endParaRPr>
          </a:p>
          <a:p>
            <a:pPr indent="0" lvl="0" marL="0" rtl="0" algn="l">
              <a:lnSpc>
                <a:spcPct val="115000"/>
              </a:lnSpc>
              <a:spcBef>
                <a:spcPts val="0"/>
              </a:spcBef>
              <a:spcAft>
                <a:spcPts val="0"/>
              </a:spcAft>
              <a:buNone/>
            </a:pPr>
            <a:r>
              <a:rPr b="1" lang="sv-SE" sz="1000">
                <a:latin typeface="Consolas"/>
                <a:ea typeface="Consolas"/>
                <a:cs typeface="Consolas"/>
                <a:sym typeface="Consolas"/>
              </a:rPr>
              <a:t>}</a:t>
            </a:r>
            <a:endParaRPr sz="2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68" name="Google Shape;268;p38"/>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Testing</a:t>
            </a:r>
            <a:endParaRPr/>
          </a:p>
        </p:txBody>
      </p:sp>
      <p:sp>
        <p:nvSpPr>
          <p:cNvPr id="274" name="Google Shape;274;p39"/>
          <p:cNvSpPr txBox="1"/>
          <p:nvPr>
            <p:ph idx="1" type="body"/>
          </p:nvPr>
        </p:nvSpPr>
        <p:spPr>
          <a:xfrm>
            <a:off x="468901" y="1282400"/>
            <a:ext cx="4316100" cy="3480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lang="sv-SE" sz="2200"/>
              <a:t>Draw the control-flow graph for this method.</a:t>
            </a:r>
            <a:endParaRPr sz="2200"/>
          </a:p>
          <a:p>
            <a:pPr indent="-368300" lvl="0" marL="457200" rtl="0" algn="l">
              <a:spcBef>
                <a:spcPts val="1000"/>
              </a:spcBef>
              <a:spcAft>
                <a:spcPts val="0"/>
              </a:spcAft>
              <a:buSzPts val="2200"/>
              <a:buChar char="•"/>
            </a:pPr>
            <a:r>
              <a:rPr lang="sv-SE" sz="2200"/>
              <a:t>Develop test input that will provide statement coverage.</a:t>
            </a:r>
            <a:endParaRPr sz="2200"/>
          </a:p>
          <a:p>
            <a:pPr indent="-368300" lvl="0" marL="457200" rtl="0" algn="l">
              <a:spcBef>
                <a:spcPts val="1000"/>
              </a:spcBef>
              <a:spcAft>
                <a:spcPts val="0"/>
              </a:spcAft>
              <a:buSzPts val="2200"/>
              <a:buChar char="•"/>
            </a:pPr>
            <a:r>
              <a:rPr lang="sv-SE" sz="2200"/>
              <a:t>Develop test input that will provide branch coverage.</a:t>
            </a:r>
            <a:endParaRPr sz="2200"/>
          </a:p>
          <a:p>
            <a:pPr indent="-368300" lvl="0" marL="457200" rtl="0" algn="l">
              <a:spcBef>
                <a:spcPts val="1000"/>
              </a:spcBef>
              <a:spcAft>
                <a:spcPts val="0"/>
              </a:spcAft>
              <a:buSzPts val="2200"/>
              <a:buChar char="•"/>
            </a:pPr>
            <a:r>
              <a:rPr lang="sv-SE" sz="2200"/>
              <a:t>Develop test input that will provide path coverage.</a:t>
            </a:r>
            <a:endParaRPr sz="2200"/>
          </a:p>
        </p:txBody>
      </p:sp>
      <p:sp>
        <p:nvSpPr>
          <p:cNvPr id="275" name="Google Shape;275;p39"/>
          <p:cNvSpPr txBox="1"/>
          <p:nvPr>
            <p:ph idx="1" type="body"/>
          </p:nvPr>
        </p:nvSpPr>
        <p:spPr>
          <a:xfrm>
            <a:off x="4864550" y="1200150"/>
            <a:ext cx="38223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v-SE">
                <a:latin typeface="Consolas"/>
                <a:ea typeface="Consolas"/>
                <a:cs typeface="Consolas"/>
                <a:sym typeface="Consolas"/>
              </a:rPr>
              <a:t>int findMax(int a, int b, int c) {</a:t>
            </a:r>
            <a:endParaRPr>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sv-SE">
                <a:latin typeface="Consolas"/>
                <a:ea typeface="Consolas"/>
                <a:cs typeface="Consolas"/>
                <a:sym typeface="Consolas"/>
              </a:rPr>
              <a:t>int temp;</a:t>
            </a:r>
            <a:endParaRPr>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sv-SE">
                <a:latin typeface="Consolas"/>
                <a:ea typeface="Consolas"/>
                <a:cs typeface="Consolas"/>
                <a:sym typeface="Consolas"/>
              </a:rPr>
              <a:t>if (a &gt; b)</a:t>
            </a:r>
            <a:endParaRPr>
              <a:latin typeface="Consolas"/>
              <a:ea typeface="Consolas"/>
              <a:cs typeface="Consolas"/>
              <a:sym typeface="Consolas"/>
            </a:endParaRPr>
          </a:p>
          <a:p>
            <a:pPr indent="457200" lvl="0" marL="457200" rtl="0" algn="l">
              <a:spcBef>
                <a:spcPts val="0"/>
              </a:spcBef>
              <a:spcAft>
                <a:spcPts val="0"/>
              </a:spcAft>
              <a:buClr>
                <a:schemeClr val="dk1"/>
              </a:buClr>
              <a:buSzPts val="1100"/>
              <a:buFont typeface="Arial"/>
              <a:buNone/>
            </a:pPr>
            <a:r>
              <a:rPr lang="sv-SE">
                <a:latin typeface="Consolas"/>
                <a:ea typeface="Consolas"/>
                <a:cs typeface="Consolas"/>
                <a:sym typeface="Consolas"/>
              </a:rPr>
              <a:t>temp=a;</a:t>
            </a:r>
            <a:endParaRPr>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sv-SE">
                <a:latin typeface="Consolas"/>
                <a:ea typeface="Consolas"/>
                <a:cs typeface="Consolas"/>
                <a:sym typeface="Consolas"/>
              </a:rPr>
              <a:t>else</a:t>
            </a:r>
            <a:endParaRPr>
              <a:latin typeface="Consolas"/>
              <a:ea typeface="Consolas"/>
              <a:cs typeface="Consolas"/>
              <a:sym typeface="Consolas"/>
            </a:endParaRPr>
          </a:p>
          <a:p>
            <a:pPr indent="457200" lvl="0" marL="457200" rtl="0" algn="l">
              <a:spcBef>
                <a:spcPts val="0"/>
              </a:spcBef>
              <a:spcAft>
                <a:spcPts val="0"/>
              </a:spcAft>
              <a:buClr>
                <a:schemeClr val="dk1"/>
              </a:buClr>
              <a:buSzPts val="1100"/>
              <a:buFont typeface="Arial"/>
              <a:buNone/>
            </a:pPr>
            <a:r>
              <a:rPr lang="sv-SE">
                <a:latin typeface="Consolas"/>
                <a:ea typeface="Consolas"/>
                <a:cs typeface="Consolas"/>
                <a:sym typeface="Consolas"/>
              </a:rPr>
              <a:t>temp=b;</a:t>
            </a:r>
            <a:endParaRPr>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sv-SE">
                <a:latin typeface="Consolas"/>
                <a:ea typeface="Consolas"/>
                <a:cs typeface="Consolas"/>
                <a:sym typeface="Consolas"/>
              </a:rPr>
              <a:t>if (c &gt; temp)</a:t>
            </a:r>
            <a:endParaRPr>
              <a:latin typeface="Consolas"/>
              <a:ea typeface="Consolas"/>
              <a:cs typeface="Consolas"/>
              <a:sym typeface="Consolas"/>
            </a:endParaRPr>
          </a:p>
          <a:p>
            <a:pPr indent="457200" lvl="0" marL="457200" rtl="0" algn="l">
              <a:spcBef>
                <a:spcPts val="0"/>
              </a:spcBef>
              <a:spcAft>
                <a:spcPts val="0"/>
              </a:spcAft>
              <a:buClr>
                <a:schemeClr val="dk1"/>
              </a:buClr>
              <a:buSzPts val="1100"/>
              <a:buFont typeface="Arial"/>
              <a:buNone/>
            </a:pPr>
            <a:r>
              <a:rPr lang="sv-SE">
                <a:latin typeface="Consolas"/>
                <a:ea typeface="Consolas"/>
                <a:cs typeface="Consolas"/>
                <a:sym typeface="Consolas"/>
              </a:rPr>
              <a:t>temp = c;</a:t>
            </a:r>
            <a:endParaRPr>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lang="sv-SE">
                <a:latin typeface="Consolas"/>
                <a:ea typeface="Consolas"/>
                <a:cs typeface="Consolas"/>
                <a:sym typeface="Consolas"/>
              </a:rPr>
              <a:t>return temp;</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p:txBody>
      </p:sp>
      <p:sp>
        <p:nvSpPr>
          <p:cNvPr id="276" name="Google Shape;276;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Testing</a:t>
            </a:r>
            <a:endParaRPr/>
          </a:p>
        </p:txBody>
      </p:sp>
      <p:sp>
        <p:nvSpPr>
          <p:cNvPr id="282" name="Google Shape;282;p40"/>
          <p:cNvSpPr txBox="1"/>
          <p:nvPr>
            <p:ph idx="1" type="body"/>
          </p:nvPr>
        </p:nvSpPr>
        <p:spPr>
          <a:xfrm>
            <a:off x="3987850" y="1238906"/>
            <a:ext cx="4225500" cy="227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1400">
                <a:latin typeface="Courier New"/>
                <a:ea typeface="Courier New"/>
                <a:cs typeface="Courier New"/>
                <a:sym typeface="Courier New"/>
              </a:rPr>
              <a:t>1. int findMax(int a, int b, int c) {</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2. 	int temp;</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3. 	if (a&gt;b)</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4. 		temp=a;</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5.	else</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6.		temp=b;</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7.  if (c&gt;temp)</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8.		temp = c;</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9.  return temp;</a:t>
            </a:r>
            <a:endParaRPr sz="1400">
              <a:latin typeface="Courier New"/>
              <a:ea typeface="Courier New"/>
              <a:cs typeface="Courier New"/>
              <a:sym typeface="Courier New"/>
            </a:endParaRPr>
          </a:p>
          <a:p>
            <a:pPr indent="0" lvl="0" marL="0" rtl="0" algn="l">
              <a:spcBef>
                <a:spcPts val="0"/>
              </a:spcBef>
              <a:spcAft>
                <a:spcPts val="0"/>
              </a:spcAft>
              <a:buNone/>
            </a:pPr>
            <a:r>
              <a:rPr lang="sv-SE" sz="1400">
                <a:latin typeface="Courier New"/>
                <a:ea typeface="Courier New"/>
                <a:cs typeface="Courier New"/>
                <a:sym typeface="Courier New"/>
              </a:rPr>
              <a:t>10. }</a:t>
            </a:r>
            <a:endParaRPr sz="1400">
              <a:latin typeface="Courier New"/>
              <a:ea typeface="Courier New"/>
              <a:cs typeface="Courier New"/>
              <a:sym typeface="Courier New"/>
            </a:endParaRPr>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283" name="Google Shape;283;p40"/>
          <p:cNvSpPr/>
          <p:nvPr/>
        </p:nvSpPr>
        <p:spPr>
          <a:xfrm>
            <a:off x="1265350" y="1419900"/>
            <a:ext cx="570000" cy="2388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2</a:t>
            </a:r>
            <a:endParaRPr/>
          </a:p>
        </p:txBody>
      </p:sp>
      <p:sp>
        <p:nvSpPr>
          <p:cNvPr id="284" name="Google Shape;284;p40"/>
          <p:cNvSpPr/>
          <p:nvPr/>
        </p:nvSpPr>
        <p:spPr>
          <a:xfrm>
            <a:off x="1328200" y="1854544"/>
            <a:ext cx="444300" cy="362100"/>
          </a:xfrm>
          <a:prstGeom prst="diamond">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3</a:t>
            </a:r>
            <a:endParaRPr/>
          </a:p>
        </p:txBody>
      </p:sp>
      <p:cxnSp>
        <p:nvCxnSpPr>
          <p:cNvPr id="285" name="Google Shape;285;p40"/>
          <p:cNvCxnSpPr>
            <a:stCxn id="283" idx="2"/>
            <a:endCxn id="284" idx="0"/>
          </p:cNvCxnSpPr>
          <p:nvPr/>
        </p:nvCxnSpPr>
        <p:spPr>
          <a:xfrm>
            <a:off x="1550350" y="1658700"/>
            <a:ext cx="0" cy="195900"/>
          </a:xfrm>
          <a:prstGeom prst="straightConnector1">
            <a:avLst/>
          </a:prstGeom>
          <a:noFill/>
          <a:ln cap="flat" cmpd="sng" w="19050">
            <a:solidFill>
              <a:schemeClr val="dk2"/>
            </a:solidFill>
            <a:prstDash val="solid"/>
            <a:round/>
            <a:headEnd len="med" w="med" type="none"/>
            <a:tailEnd len="med" w="med" type="triangle"/>
          </a:ln>
        </p:spPr>
      </p:cxnSp>
      <p:sp>
        <p:nvSpPr>
          <p:cNvPr id="286" name="Google Shape;286;p40"/>
          <p:cNvSpPr/>
          <p:nvPr/>
        </p:nvSpPr>
        <p:spPr>
          <a:xfrm>
            <a:off x="1265350" y="2412488"/>
            <a:ext cx="570000" cy="2388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6</a:t>
            </a:r>
            <a:endParaRPr/>
          </a:p>
        </p:txBody>
      </p:sp>
      <p:sp>
        <p:nvSpPr>
          <p:cNvPr id="287" name="Google Shape;287;p40"/>
          <p:cNvSpPr/>
          <p:nvPr/>
        </p:nvSpPr>
        <p:spPr>
          <a:xfrm>
            <a:off x="2178675" y="1916194"/>
            <a:ext cx="570000" cy="2388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4</a:t>
            </a:r>
            <a:endParaRPr/>
          </a:p>
        </p:txBody>
      </p:sp>
      <p:cxnSp>
        <p:nvCxnSpPr>
          <p:cNvPr id="288" name="Google Shape;288;p40"/>
          <p:cNvCxnSpPr>
            <a:stCxn id="284" idx="2"/>
            <a:endCxn id="286" idx="0"/>
          </p:cNvCxnSpPr>
          <p:nvPr/>
        </p:nvCxnSpPr>
        <p:spPr>
          <a:xfrm>
            <a:off x="1550350" y="2216644"/>
            <a:ext cx="0" cy="195900"/>
          </a:xfrm>
          <a:prstGeom prst="straightConnector1">
            <a:avLst/>
          </a:prstGeom>
          <a:noFill/>
          <a:ln cap="flat" cmpd="sng" w="19050">
            <a:solidFill>
              <a:schemeClr val="dk2"/>
            </a:solidFill>
            <a:prstDash val="solid"/>
            <a:round/>
            <a:headEnd len="med" w="med" type="none"/>
            <a:tailEnd len="med" w="med" type="triangle"/>
          </a:ln>
        </p:spPr>
      </p:cxnSp>
      <p:cxnSp>
        <p:nvCxnSpPr>
          <p:cNvPr id="289" name="Google Shape;289;p40"/>
          <p:cNvCxnSpPr>
            <a:stCxn id="284" idx="3"/>
            <a:endCxn id="287" idx="1"/>
          </p:cNvCxnSpPr>
          <p:nvPr/>
        </p:nvCxnSpPr>
        <p:spPr>
          <a:xfrm>
            <a:off x="1772500" y="2035594"/>
            <a:ext cx="406200" cy="0"/>
          </a:xfrm>
          <a:prstGeom prst="straightConnector1">
            <a:avLst/>
          </a:prstGeom>
          <a:noFill/>
          <a:ln cap="flat" cmpd="sng" w="19050">
            <a:solidFill>
              <a:schemeClr val="dk2"/>
            </a:solidFill>
            <a:prstDash val="solid"/>
            <a:round/>
            <a:headEnd len="med" w="med" type="none"/>
            <a:tailEnd len="med" w="med" type="triangle"/>
          </a:ln>
        </p:spPr>
      </p:cxnSp>
      <p:sp>
        <p:nvSpPr>
          <p:cNvPr id="290" name="Google Shape;290;p40"/>
          <p:cNvSpPr txBox="1"/>
          <p:nvPr/>
        </p:nvSpPr>
        <p:spPr>
          <a:xfrm>
            <a:off x="1815925" y="1767619"/>
            <a:ext cx="2415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291" name="Google Shape;291;p40"/>
          <p:cNvSpPr txBox="1"/>
          <p:nvPr/>
        </p:nvSpPr>
        <p:spPr>
          <a:xfrm>
            <a:off x="1033525" y="2129850"/>
            <a:ext cx="2415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292" name="Google Shape;292;p40"/>
          <p:cNvSpPr/>
          <p:nvPr/>
        </p:nvSpPr>
        <p:spPr>
          <a:xfrm>
            <a:off x="1265350" y="3431747"/>
            <a:ext cx="570000" cy="2388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8</a:t>
            </a:r>
            <a:endParaRPr/>
          </a:p>
        </p:txBody>
      </p:sp>
      <p:sp>
        <p:nvSpPr>
          <p:cNvPr id="293" name="Google Shape;293;p40"/>
          <p:cNvSpPr/>
          <p:nvPr/>
        </p:nvSpPr>
        <p:spPr>
          <a:xfrm>
            <a:off x="1328200" y="2847131"/>
            <a:ext cx="444300" cy="362100"/>
          </a:xfrm>
          <a:prstGeom prst="diamond">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7</a:t>
            </a:r>
            <a:endParaRPr/>
          </a:p>
        </p:txBody>
      </p:sp>
      <p:cxnSp>
        <p:nvCxnSpPr>
          <p:cNvPr id="294" name="Google Shape;294;p40"/>
          <p:cNvCxnSpPr>
            <a:stCxn id="286" idx="2"/>
            <a:endCxn id="293" idx="0"/>
          </p:cNvCxnSpPr>
          <p:nvPr/>
        </p:nvCxnSpPr>
        <p:spPr>
          <a:xfrm>
            <a:off x="1550350" y="2651288"/>
            <a:ext cx="0" cy="195900"/>
          </a:xfrm>
          <a:prstGeom prst="straightConnector1">
            <a:avLst/>
          </a:prstGeom>
          <a:noFill/>
          <a:ln cap="flat" cmpd="sng" w="19050">
            <a:solidFill>
              <a:schemeClr val="dk2"/>
            </a:solidFill>
            <a:prstDash val="solid"/>
            <a:round/>
            <a:headEnd len="med" w="med" type="none"/>
            <a:tailEnd len="med" w="med" type="triangle"/>
          </a:ln>
        </p:spPr>
      </p:cxnSp>
      <p:cxnSp>
        <p:nvCxnSpPr>
          <p:cNvPr id="295" name="Google Shape;295;p40"/>
          <p:cNvCxnSpPr>
            <a:stCxn id="293" idx="2"/>
            <a:endCxn id="292" idx="0"/>
          </p:cNvCxnSpPr>
          <p:nvPr/>
        </p:nvCxnSpPr>
        <p:spPr>
          <a:xfrm>
            <a:off x="1550350" y="3209231"/>
            <a:ext cx="0" cy="222600"/>
          </a:xfrm>
          <a:prstGeom prst="straightConnector1">
            <a:avLst/>
          </a:prstGeom>
          <a:noFill/>
          <a:ln cap="flat" cmpd="sng" w="19050">
            <a:solidFill>
              <a:schemeClr val="dk2"/>
            </a:solidFill>
            <a:prstDash val="solid"/>
            <a:round/>
            <a:headEnd len="med" w="med" type="none"/>
            <a:tailEnd len="med" w="med" type="triangle"/>
          </a:ln>
        </p:spPr>
      </p:cxnSp>
      <p:sp>
        <p:nvSpPr>
          <p:cNvPr id="296" name="Google Shape;296;p40"/>
          <p:cNvSpPr/>
          <p:nvPr/>
        </p:nvSpPr>
        <p:spPr>
          <a:xfrm>
            <a:off x="1265350" y="3928031"/>
            <a:ext cx="570000" cy="2388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9</a:t>
            </a:r>
            <a:endParaRPr/>
          </a:p>
        </p:txBody>
      </p:sp>
      <p:cxnSp>
        <p:nvCxnSpPr>
          <p:cNvPr id="297" name="Google Shape;297;p40"/>
          <p:cNvCxnSpPr>
            <a:stCxn id="292" idx="2"/>
            <a:endCxn id="296" idx="0"/>
          </p:cNvCxnSpPr>
          <p:nvPr/>
        </p:nvCxnSpPr>
        <p:spPr>
          <a:xfrm>
            <a:off x="1550350" y="3670547"/>
            <a:ext cx="0" cy="257400"/>
          </a:xfrm>
          <a:prstGeom prst="straightConnector1">
            <a:avLst/>
          </a:prstGeom>
          <a:noFill/>
          <a:ln cap="flat" cmpd="sng" w="19050">
            <a:solidFill>
              <a:schemeClr val="dk2"/>
            </a:solidFill>
            <a:prstDash val="solid"/>
            <a:round/>
            <a:headEnd len="med" w="med" type="none"/>
            <a:tailEnd len="med" w="med" type="triangle"/>
          </a:ln>
        </p:spPr>
      </p:cxnSp>
      <p:cxnSp>
        <p:nvCxnSpPr>
          <p:cNvPr id="298" name="Google Shape;298;p40"/>
          <p:cNvCxnSpPr>
            <a:stCxn id="287" idx="2"/>
            <a:endCxn id="293" idx="0"/>
          </p:cNvCxnSpPr>
          <p:nvPr/>
        </p:nvCxnSpPr>
        <p:spPr>
          <a:xfrm flipH="1">
            <a:off x="1550475" y="2154994"/>
            <a:ext cx="913200" cy="692100"/>
          </a:xfrm>
          <a:prstGeom prst="straightConnector1">
            <a:avLst/>
          </a:prstGeom>
          <a:noFill/>
          <a:ln cap="flat" cmpd="sng" w="19050">
            <a:solidFill>
              <a:schemeClr val="dk2"/>
            </a:solidFill>
            <a:prstDash val="solid"/>
            <a:round/>
            <a:headEnd len="med" w="med" type="none"/>
            <a:tailEnd len="med" w="med" type="triangle"/>
          </a:ln>
        </p:spPr>
      </p:cxnSp>
      <p:sp>
        <p:nvSpPr>
          <p:cNvPr id="299" name="Google Shape;299;p40"/>
          <p:cNvSpPr/>
          <p:nvPr/>
        </p:nvSpPr>
        <p:spPr>
          <a:xfrm>
            <a:off x="1564775" y="3194756"/>
            <a:ext cx="1062525" cy="702713"/>
          </a:xfrm>
          <a:custGeom>
            <a:rect b="b" l="l" r="r" t="t"/>
            <a:pathLst>
              <a:path extrusionOk="0" h="37478" w="42501">
                <a:moveTo>
                  <a:pt x="0" y="0"/>
                </a:moveTo>
                <a:lnTo>
                  <a:pt x="42501" y="13910"/>
                </a:lnTo>
                <a:lnTo>
                  <a:pt x="7728" y="37478"/>
                </a:lnTo>
              </a:path>
            </a:pathLst>
          </a:custGeom>
          <a:noFill/>
          <a:ln cap="flat" cmpd="sng" w="19050">
            <a:solidFill>
              <a:schemeClr val="dk2"/>
            </a:solidFill>
            <a:prstDash val="solid"/>
            <a:round/>
            <a:headEnd len="med" w="med" type="none"/>
            <a:tailEnd len="med" w="med" type="triangle"/>
          </a:ln>
        </p:spPr>
      </p:sp>
      <p:sp>
        <p:nvSpPr>
          <p:cNvPr id="300" name="Google Shape;300;p40"/>
          <p:cNvSpPr txBox="1"/>
          <p:nvPr/>
        </p:nvSpPr>
        <p:spPr>
          <a:xfrm>
            <a:off x="1188075" y="3216506"/>
            <a:ext cx="241500" cy="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301" name="Google Shape;301;p40"/>
          <p:cNvSpPr txBox="1"/>
          <p:nvPr/>
        </p:nvSpPr>
        <p:spPr>
          <a:xfrm>
            <a:off x="2057425" y="3151294"/>
            <a:ext cx="406200" cy="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sp>
        <p:nvSpPr>
          <p:cNvPr id="302" name="Google Shape;302;p40"/>
          <p:cNvSpPr txBox="1"/>
          <p:nvPr/>
        </p:nvSpPr>
        <p:spPr>
          <a:xfrm>
            <a:off x="4354775" y="3514331"/>
            <a:ext cx="17793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Statement:</a:t>
            </a:r>
            <a:endParaRPr/>
          </a:p>
          <a:p>
            <a:pPr indent="0" lvl="0" marL="0" rtl="0" algn="l">
              <a:spcBef>
                <a:spcPts val="0"/>
              </a:spcBef>
              <a:spcAft>
                <a:spcPts val="0"/>
              </a:spcAft>
              <a:buNone/>
            </a:pPr>
            <a:r>
              <a:rPr lang="sv-SE"/>
              <a:t>(3,2,4), (2,3,4)</a:t>
            </a:r>
            <a:endParaRPr/>
          </a:p>
        </p:txBody>
      </p:sp>
      <p:sp>
        <p:nvSpPr>
          <p:cNvPr id="303" name="Google Shape;303;p40"/>
          <p:cNvSpPr/>
          <p:nvPr/>
        </p:nvSpPr>
        <p:spPr>
          <a:xfrm>
            <a:off x="1303700" y="1470122"/>
            <a:ext cx="1913625" cy="2521331"/>
          </a:xfrm>
          <a:custGeom>
            <a:rect b="b" l="l" r="r" t="t"/>
            <a:pathLst>
              <a:path extrusionOk="0" h="134471" w="76545">
                <a:moveTo>
                  <a:pt x="0" y="0"/>
                </a:moveTo>
                <a:lnTo>
                  <a:pt x="2069" y="28136"/>
                </a:lnTo>
                <a:lnTo>
                  <a:pt x="76545" y="26894"/>
                </a:lnTo>
                <a:lnTo>
                  <a:pt x="13240" y="82338"/>
                </a:lnTo>
                <a:lnTo>
                  <a:pt x="15723" y="112128"/>
                </a:lnTo>
                <a:lnTo>
                  <a:pt x="21515" y="134471"/>
                </a:lnTo>
              </a:path>
            </a:pathLst>
          </a:custGeom>
          <a:noFill/>
          <a:ln cap="flat" cmpd="sng" w="19050">
            <a:solidFill>
              <a:srgbClr val="FF0000"/>
            </a:solidFill>
            <a:prstDash val="solid"/>
            <a:round/>
            <a:headEnd len="med" w="med" type="none"/>
            <a:tailEnd len="med" w="med" type="none"/>
          </a:ln>
        </p:spPr>
      </p:sp>
      <p:sp>
        <p:nvSpPr>
          <p:cNvPr id="304" name="Google Shape;304;p40"/>
          <p:cNvSpPr/>
          <p:nvPr/>
        </p:nvSpPr>
        <p:spPr>
          <a:xfrm>
            <a:off x="1451363" y="1416019"/>
            <a:ext cx="144800" cy="2529094"/>
          </a:xfrm>
          <a:custGeom>
            <a:rect b="b" l="l" r="r" t="t"/>
            <a:pathLst>
              <a:path extrusionOk="0" h="134885" w="5792">
                <a:moveTo>
                  <a:pt x="2896" y="0"/>
                </a:moveTo>
                <a:lnTo>
                  <a:pt x="2896" y="26894"/>
                </a:lnTo>
                <a:lnTo>
                  <a:pt x="1241" y="55444"/>
                </a:lnTo>
                <a:lnTo>
                  <a:pt x="0" y="81096"/>
                </a:lnTo>
                <a:lnTo>
                  <a:pt x="414" y="111301"/>
                </a:lnTo>
                <a:lnTo>
                  <a:pt x="5792" y="134885"/>
                </a:lnTo>
              </a:path>
            </a:pathLst>
          </a:custGeom>
          <a:noFill/>
          <a:ln cap="flat" cmpd="sng" w="19050">
            <a:solidFill>
              <a:srgbClr val="FF0000"/>
            </a:solidFill>
            <a:prstDash val="solid"/>
            <a:round/>
            <a:headEnd len="med" w="med" type="none"/>
            <a:tailEnd len="med" w="med" type="none"/>
          </a:ln>
        </p:spPr>
      </p:sp>
      <p:sp>
        <p:nvSpPr>
          <p:cNvPr id="305" name="Google Shape;305;p40"/>
          <p:cNvSpPr txBox="1"/>
          <p:nvPr/>
        </p:nvSpPr>
        <p:spPr>
          <a:xfrm>
            <a:off x="4354775" y="3920738"/>
            <a:ext cx="17793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Branch:</a:t>
            </a:r>
            <a:endParaRPr/>
          </a:p>
          <a:p>
            <a:pPr indent="0" lvl="0" marL="0" rtl="0" algn="l">
              <a:spcBef>
                <a:spcPts val="0"/>
              </a:spcBef>
              <a:spcAft>
                <a:spcPts val="0"/>
              </a:spcAft>
              <a:buNone/>
            </a:pPr>
            <a:r>
              <a:rPr lang="sv-SE"/>
              <a:t>(3,2,4), (3,4,1)</a:t>
            </a:r>
            <a:endParaRPr/>
          </a:p>
        </p:txBody>
      </p:sp>
      <p:sp>
        <p:nvSpPr>
          <p:cNvPr id="306" name="Google Shape;306;p40"/>
          <p:cNvSpPr txBox="1"/>
          <p:nvPr/>
        </p:nvSpPr>
        <p:spPr>
          <a:xfrm>
            <a:off x="6255300" y="3539531"/>
            <a:ext cx="23715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Path:</a:t>
            </a:r>
            <a:endParaRPr/>
          </a:p>
          <a:p>
            <a:pPr indent="0" lvl="0" marL="0" rtl="0" algn="l">
              <a:spcBef>
                <a:spcPts val="0"/>
              </a:spcBef>
              <a:spcAft>
                <a:spcPts val="0"/>
              </a:spcAft>
              <a:buNone/>
            </a:pPr>
            <a:r>
              <a:rPr lang="sv-SE"/>
              <a:t>(4,2,5), (4,2,1), (2,3,4), (2,3,1)</a:t>
            </a:r>
            <a:endParaRPr/>
          </a:p>
        </p:txBody>
      </p:sp>
      <p:sp>
        <p:nvSpPr>
          <p:cNvPr id="307" name="Google Shape;307;p40"/>
          <p:cNvSpPr/>
          <p:nvPr/>
        </p:nvSpPr>
        <p:spPr>
          <a:xfrm>
            <a:off x="1303700" y="1419891"/>
            <a:ext cx="1913625" cy="2521331"/>
          </a:xfrm>
          <a:custGeom>
            <a:rect b="b" l="l" r="r" t="t"/>
            <a:pathLst>
              <a:path extrusionOk="0" h="134471" w="76545">
                <a:moveTo>
                  <a:pt x="0" y="0"/>
                </a:moveTo>
                <a:lnTo>
                  <a:pt x="2069" y="28136"/>
                </a:lnTo>
                <a:lnTo>
                  <a:pt x="76545" y="26894"/>
                </a:lnTo>
                <a:lnTo>
                  <a:pt x="13240" y="82338"/>
                </a:lnTo>
                <a:lnTo>
                  <a:pt x="15723" y="112128"/>
                </a:lnTo>
                <a:lnTo>
                  <a:pt x="21515" y="134471"/>
                </a:lnTo>
              </a:path>
            </a:pathLst>
          </a:custGeom>
          <a:noFill/>
          <a:ln cap="flat" cmpd="sng" w="19050">
            <a:solidFill>
              <a:srgbClr val="FF00FF"/>
            </a:solidFill>
            <a:prstDash val="solid"/>
            <a:round/>
            <a:headEnd len="med" w="med" type="none"/>
            <a:tailEnd len="med" w="med" type="none"/>
          </a:ln>
        </p:spPr>
      </p:sp>
      <p:sp>
        <p:nvSpPr>
          <p:cNvPr id="308" name="Google Shape;308;p40"/>
          <p:cNvSpPr/>
          <p:nvPr/>
        </p:nvSpPr>
        <p:spPr>
          <a:xfrm>
            <a:off x="1253000" y="1430466"/>
            <a:ext cx="1686050" cy="2637675"/>
          </a:xfrm>
          <a:custGeom>
            <a:rect b="b" l="l" r="r" t="t"/>
            <a:pathLst>
              <a:path extrusionOk="0" h="140676" w="67442">
                <a:moveTo>
                  <a:pt x="0" y="0"/>
                </a:moveTo>
                <a:lnTo>
                  <a:pt x="2069" y="32686"/>
                </a:lnTo>
                <a:lnTo>
                  <a:pt x="67442" y="30617"/>
                </a:lnTo>
                <a:lnTo>
                  <a:pt x="7448" y="85647"/>
                </a:lnTo>
                <a:lnTo>
                  <a:pt x="55443" y="112955"/>
                </a:lnTo>
                <a:lnTo>
                  <a:pt x="5793" y="140676"/>
                </a:lnTo>
              </a:path>
            </a:pathLst>
          </a:custGeom>
          <a:noFill/>
          <a:ln cap="flat" cmpd="sng" w="19050">
            <a:solidFill>
              <a:srgbClr val="FF00FF"/>
            </a:solidFill>
            <a:prstDash val="solid"/>
            <a:round/>
            <a:headEnd len="med" w="med" type="none"/>
            <a:tailEnd len="med" w="med" type="none"/>
          </a:ln>
        </p:spPr>
      </p:sp>
      <p:sp>
        <p:nvSpPr>
          <p:cNvPr id="309" name="Google Shape;309;p40"/>
          <p:cNvSpPr/>
          <p:nvPr/>
        </p:nvSpPr>
        <p:spPr>
          <a:xfrm>
            <a:off x="1473063" y="1368366"/>
            <a:ext cx="144800" cy="2529094"/>
          </a:xfrm>
          <a:custGeom>
            <a:rect b="b" l="l" r="r" t="t"/>
            <a:pathLst>
              <a:path extrusionOk="0" h="134885" w="5792">
                <a:moveTo>
                  <a:pt x="2896" y="0"/>
                </a:moveTo>
                <a:lnTo>
                  <a:pt x="2896" y="26894"/>
                </a:lnTo>
                <a:lnTo>
                  <a:pt x="1241" y="55444"/>
                </a:lnTo>
                <a:lnTo>
                  <a:pt x="0" y="81096"/>
                </a:lnTo>
                <a:lnTo>
                  <a:pt x="414" y="111301"/>
                </a:lnTo>
                <a:lnTo>
                  <a:pt x="5792" y="134885"/>
                </a:lnTo>
              </a:path>
            </a:pathLst>
          </a:custGeom>
          <a:noFill/>
          <a:ln cap="flat" cmpd="sng" w="19050">
            <a:solidFill>
              <a:srgbClr val="FF00FF"/>
            </a:solidFill>
            <a:prstDash val="solid"/>
            <a:round/>
            <a:headEnd len="med" w="med" type="none"/>
            <a:tailEnd len="med" w="med" type="none"/>
          </a:ln>
        </p:spPr>
      </p:sp>
      <p:sp>
        <p:nvSpPr>
          <p:cNvPr id="310" name="Google Shape;310;p40"/>
          <p:cNvSpPr/>
          <p:nvPr/>
        </p:nvSpPr>
        <p:spPr>
          <a:xfrm>
            <a:off x="1550350" y="1474209"/>
            <a:ext cx="982675" cy="2412713"/>
          </a:xfrm>
          <a:custGeom>
            <a:rect b="b" l="l" r="r" t="t"/>
            <a:pathLst>
              <a:path extrusionOk="0" h="128678" w="39307">
                <a:moveTo>
                  <a:pt x="2069" y="0"/>
                </a:moveTo>
                <a:lnTo>
                  <a:pt x="0" y="81096"/>
                </a:lnTo>
                <a:lnTo>
                  <a:pt x="39307" y="106335"/>
                </a:lnTo>
                <a:lnTo>
                  <a:pt x="4965" y="128678"/>
                </a:lnTo>
              </a:path>
            </a:pathLst>
          </a:custGeom>
          <a:noFill/>
          <a:ln cap="flat" cmpd="sng" w="19050">
            <a:solidFill>
              <a:srgbClr val="FF00FF"/>
            </a:solidFill>
            <a:prstDash val="solid"/>
            <a:round/>
            <a:headEnd len="med" w="med" type="none"/>
            <a:tailEnd len="med" w="med" type="none"/>
          </a:ln>
        </p:spPr>
      </p:sp>
      <p:sp>
        <p:nvSpPr>
          <p:cNvPr id="311" name="Google Shape;311;p40"/>
          <p:cNvSpPr/>
          <p:nvPr/>
        </p:nvSpPr>
        <p:spPr>
          <a:xfrm>
            <a:off x="1492975" y="1450763"/>
            <a:ext cx="1206125" cy="2459606"/>
          </a:xfrm>
          <a:custGeom>
            <a:rect b="b" l="l" r="r" t="t"/>
            <a:pathLst>
              <a:path extrusionOk="0" h="131179" w="48245">
                <a:moveTo>
                  <a:pt x="0" y="0"/>
                </a:moveTo>
                <a:lnTo>
                  <a:pt x="1196" y="84529"/>
                </a:lnTo>
                <a:lnTo>
                  <a:pt x="48245" y="106060"/>
                </a:lnTo>
                <a:lnTo>
                  <a:pt x="5980" y="131179"/>
                </a:lnTo>
              </a:path>
            </a:pathLst>
          </a:custGeom>
          <a:noFill/>
          <a:ln cap="flat" cmpd="sng" w="19050">
            <a:solidFill>
              <a:srgbClr val="274E13"/>
            </a:solidFill>
            <a:prstDash val="solid"/>
            <a:round/>
            <a:headEnd len="med" w="med" type="none"/>
            <a:tailEnd len="med" w="med" type="none"/>
          </a:ln>
        </p:spPr>
      </p:sp>
      <p:sp>
        <p:nvSpPr>
          <p:cNvPr id="312" name="Google Shape;312;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
                                        <p:tgtEl>
                                          <p:spTgt spid="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303"/>
                                        </p:tgtEl>
                                      </p:cBhvr>
                                    </p:animEffect>
                                    <p:set>
                                      <p:cBhvr>
                                        <p:cTn dur="1" fill="hold">
                                          <p:stCondLst>
                                            <p:cond delay="0"/>
                                          </p:stCondLst>
                                        </p:cTn>
                                        <p:tgtEl>
                                          <p:spTgt spid="30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304"/>
                                        </p:tgtEl>
                                      </p:cBhvr>
                                    </p:animEffect>
                                    <p:set>
                                      <p:cBhvr>
                                        <p:cTn dur="1" fill="hold">
                                          <p:stCondLst>
                                            <p:cond delay="0"/>
                                          </p:stCondLst>
                                        </p:cTn>
                                        <p:tgtEl>
                                          <p:spTgt spid="30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311"/>
                                        </p:tgtEl>
                                      </p:cBhvr>
                                    </p:animEffect>
                                    <p:set>
                                      <p:cBhvr>
                                        <p:cTn dur="1" fill="hold">
                                          <p:stCondLst>
                                            <p:cond delay="0"/>
                                          </p:stCondLst>
                                        </p:cTn>
                                        <p:tgtEl>
                                          <p:spTgt spid="31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
                                        <p:tgtEl>
                                          <p:spTgt spid="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
                                        <p:tgtEl>
                                          <p:spTgt spid="3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Testing</a:t>
            </a:r>
            <a:endParaRPr/>
          </a:p>
        </p:txBody>
      </p:sp>
      <p:sp>
        <p:nvSpPr>
          <p:cNvPr id="318" name="Google Shape;318;p41"/>
          <p:cNvSpPr txBox="1"/>
          <p:nvPr>
            <p:ph idx="1" type="body"/>
          </p:nvPr>
        </p:nvSpPr>
        <p:spPr>
          <a:xfrm>
            <a:off x="468895" y="1282400"/>
            <a:ext cx="3935400" cy="3480300"/>
          </a:xfrm>
          <a:prstGeom prst="rect">
            <a:avLst/>
          </a:prstGeom>
        </p:spPr>
        <p:txBody>
          <a:bodyPr anchorCtr="0" anchor="t" bIns="45700" lIns="91425" spcFirstLastPara="1" rIns="91425" wrap="square" tIns="45700">
            <a:noAutofit/>
          </a:bodyPr>
          <a:lstStyle/>
          <a:p>
            <a:pPr indent="-368300" lvl="0" marL="457200" rtl="0" algn="l">
              <a:lnSpc>
                <a:spcPct val="120000"/>
              </a:lnSpc>
              <a:spcBef>
                <a:spcPts val="0"/>
              </a:spcBef>
              <a:spcAft>
                <a:spcPts val="0"/>
              </a:spcAft>
              <a:buSzPts val="2200"/>
              <a:buChar char="•"/>
            </a:pPr>
            <a:r>
              <a:rPr lang="sv-SE" sz="2200"/>
              <a:t>Modify the program to introduce a fault such that even path coverage </a:t>
            </a:r>
            <a:r>
              <a:rPr i="1" lang="sv-SE" sz="2200"/>
              <a:t>could</a:t>
            </a:r>
            <a:r>
              <a:rPr lang="sv-SE" sz="2200"/>
              <a:t> miss the fault. </a:t>
            </a:r>
            <a:endParaRPr sz="2200"/>
          </a:p>
        </p:txBody>
      </p:sp>
      <p:sp>
        <p:nvSpPr>
          <p:cNvPr id="319" name="Google Shape;319;p41"/>
          <p:cNvSpPr txBox="1"/>
          <p:nvPr>
            <p:ph idx="1" type="body"/>
          </p:nvPr>
        </p:nvSpPr>
        <p:spPr>
          <a:xfrm>
            <a:off x="4451700" y="1200150"/>
            <a:ext cx="42351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1800">
                <a:latin typeface="Consolas"/>
                <a:ea typeface="Consolas"/>
                <a:cs typeface="Consolas"/>
                <a:sym typeface="Consolas"/>
              </a:rPr>
              <a:t>int findMax(int a, int b, int c) {</a:t>
            </a:r>
            <a:endParaRPr sz="1800">
              <a:latin typeface="Consolas"/>
              <a:ea typeface="Consolas"/>
              <a:cs typeface="Consolas"/>
              <a:sym typeface="Consolas"/>
            </a:endParaRPr>
          </a:p>
          <a:p>
            <a:pPr indent="457200" lvl="0" marL="0" rtl="0" algn="l">
              <a:spcBef>
                <a:spcPts val="0"/>
              </a:spcBef>
              <a:spcAft>
                <a:spcPts val="0"/>
              </a:spcAft>
              <a:buNone/>
            </a:pPr>
            <a:r>
              <a:rPr lang="sv-SE" sz="1800">
                <a:latin typeface="Consolas"/>
                <a:ea typeface="Consolas"/>
                <a:cs typeface="Consolas"/>
                <a:sym typeface="Consolas"/>
              </a:rPr>
              <a:t>int temp;</a:t>
            </a:r>
            <a:endParaRPr sz="1800">
              <a:latin typeface="Consolas"/>
              <a:ea typeface="Consolas"/>
              <a:cs typeface="Consolas"/>
              <a:sym typeface="Consolas"/>
            </a:endParaRPr>
          </a:p>
          <a:p>
            <a:pPr indent="457200" lvl="0" marL="0" rtl="0" algn="l">
              <a:spcBef>
                <a:spcPts val="0"/>
              </a:spcBef>
              <a:spcAft>
                <a:spcPts val="0"/>
              </a:spcAft>
              <a:buNone/>
            </a:pPr>
            <a:r>
              <a:rPr lang="sv-SE" sz="1800">
                <a:latin typeface="Consolas"/>
                <a:ea typeface="Consolas"/>
                <a:cs typeface="Consolas"/>
                <a:sym typeface="Consolas"/>
              </a:rPr>
              <a:t>if (a&gt;b)</a:t>
            </a:r>
            <a:endParaRPr sz="1800">
              <a:latin typeface="Consolas"/>
              <a:ea typeface="Consolas"/>
              <a:cs typeface="Consolas"/>
              <a:sym typeface="Consolas"/>
            </a:endParaRPr>
          </a:p>
          <a:p>
            <a:pPr indent="457200" lvl="0" marL="457200" rtl="0" algn="l">
              <a:spcBef>
                <a:spcPts val="0"/>
              </a:spcBef>
              <a:spcAft>
                <a:spcPts val="0"/>
              </a:spcAft>
              <a:buNone/>
            </a:pPr>
            <a:r>
              <a:rPr lang="sv-SE" sz="1800">
                <a:latin typeface="Consolas"/>
                <a:ea typeface="Consolas"/>
                <a:cs typeface="Consolas"/>
                <a:sym typeface="Consolas"/>
              </a:rPr>
              <a:t>temp=a;</a:t>
            </a:r>
            <a:endParaRPr sz="1800">
              <a:latin typeface="Consolas"/>
              <a:ea typeface="Consolas"/>
              <a:cs typeface="Consolas"/>
              <a:sym typeface="Consolas"/>
            </a:endParaRPr>
          </a:p>
          <a:p>
            <a:pPr indent="457200" lvl="0" marL="0" rtl="0" algn="l">
              <a:spcBef>
                <a:spcPts val="0"/>
              </a:spcBef>
              <a:spcAft>
                <a:spcPts val="0"/>
              </a:spcAft>
              <a:buNone/>
            </a:pPr>
            <a:r>
              <a:rPr lang="sv-SE" sz="1800">
                <a:latin typeface="Consolas"/>
                <a:ea typeface="Consolas"/>
                <a:cs typeface="Consolas"/>
                <a:sym typeface="Consolas"/>
              </a:rPr>
              <a:t>else</a:t>
            </a:r>
            <a:endParaRPr sz="1800">
              <a:latin typeface="Consolas"/>
              <a:ea typeface="Consolas"/>
              <a:cs typeface="Consolas"/>
              <a:sym typeface="Consolas"/>
            </a:endParaRPr>
          </a:p>
          <a:p>
            <a:pPr indent="457200" lvl="0" marL="457200" rtl="0" algn="l">
              <a:spcBef>
                <a:spcPts val="0"/>
              </a:spcBef>
              <a:spcAft>
                <a:spcPts val="0"/>
              </a:spcAft>
              <a:buNone/>
            </a:pPr>
            <a:r>
              <a:rPr lang="sv-SE" sz="1800">
                <a:latin typeface="Consolas"/>
                <a:ea typeface="Consolas"/>
                <a:cs typeface="Consolas"/>
                <a:sym typeface="Consolas"/>
              </a:rPr>
              <a:t>temp=b;</a:t>
            </a:r>
            <a:endParaRPr sz="1800">
              <a:latin typeface="Consolas"/>
              <a:ea typeface="Consolas"/>
              <a:cs typeface="Consolas"/>
              <a:sym typeface="Consolas"/>
            </a:endParaRPr>
          </a:p>
          <a:p>
            <a:pPr indent="457200" lvl="0" marL="0" rtl="0" algn="l">
              <a:spcBef>
                <a:spcPts val="0"/>
              </a:spcBef>
              <a:spcAft>
                <a:spcPts val="0"/>
              </a:spcAft>
              <a:buNone/>
            </a:pPr>
            <a:r>
              <a:rPr lang="sv-SE" sz="1800">
                <a:latin typeface="Consolas"/>
                <a:ea typeface="Consolas"/>
                <a:cs typeface="Consolas"/>
                <a:sym typeface="Consolas"/>
              </a:rPr>
              <a:t>if (c&gt;temp)</a:t>
            </a:r>
            <a:endParaRPr sz="1800">
              <a:latin typeface="Consolas"/>
              <a:ea typeface="Consolas"/>
              <a:cs typeface="Consolas"/>
              <a:sym typeface="Consolas"/>
            </a:endParaRPr>
          </a:p>
          <a:p>
            <a:pPr indent="457200" lvl="0" marL="457200" rtl="0" algn="l">
              <a:spcBef>
                <a:spcPts val="0"/>
              </a:spcBef>
              <a:spcAft>
                <a:spcPts val="0"/>
              </a:spcAft>
              <a:buNone/>
            </a:pPr>
            <a:r>
              <a:rPr lang="sv-SE" sz="1800">
                <a:latin typeface="Consolas"/>
                <a:ea typeface="Consolas"/>
                <a:cs typeface="Consolas"/>
                <a:sym typeface="Consolas"/>
              </a:rPr>
              <a:t>temp = c;</a:t>
            </a:r>
            <a:endParaRPr sz="1800">
              <a:latin typeface="Consolas"/>
              <a:ea typeface="Consolas"/>
              <a:cs typeface="Consolas"/>
              <a:sym typeface="Consolas"/>
            </a:endParaRPr>
          </a:p>
          <a:p>
            <a:pPr indent="457200" lvl="0" marL="0" rtl="0" algn="l">
              <a:spcBef>
                <a:spcPts val="0"/>
              </a:spcBef>
              <a:spcAft>
                <a:spcPts val="0"/>
              </a:spcAft>
              <a:buNone/>
            </a:pPr>
            <a:r>
              <a:rPr lang="sv-SE" sz="1800">
                <a:latin typeface="Consolas"/>
                <a:ea typeface="Consolas"/>
                <a:cs typeface="Consolas"/>
                <a:sym typeface="Consolas"/>
              </a:rPr>
              <a:t>return temp;</a:t>
            </a:r>
            <a:endParaRPr sz="1800">
              <a:latin typeface="Consolas"/>
              <a:ea typeface="Consolas"/>
              <a:cs typeface="Consolas"/>
              <a:sym typeface="Consolas"/>
            </a:endParaRPr>
          </a:p>
          <a:p>
            <a:pPr indent="0" lvl="0" marL="0" rtl="0" algn="l">
              <a:spcBef>
                <a:spcPts val="0"/>
              </a:spcBef>
              <a:spcAft>
                <a:spcPts val="0"/>
              </a:spcAft>
              <a:buNone/>
            </a:pPr>
            <a:r>
              <a:rPr lang="sv-SE"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320" name="Google Shape;320;p41"/>
          <p:cNvSpPr txBox="1"/>
          <p:nvPr/>
        </p:nvSpPr>
        <p:spPr>
          <a:xfrm>
            <a:off x="608400" y="3065581"/>
            <a:ext cx="3795900" cy="9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800"/>
              <a:t>Use (a &gt; b+1) instead of (a&gt;b) and the test input from the last slide:</a:t>
            </a:r>
            <a:endParaRPr sz="1800"/>
          </a:p>
          <a:p>
            <a:pPr indent="0" lvl="0" marL="0" rtl="0" algn="l">
              <a:spcBef>
                <a:spcPts val="0"/>
              </a:spcBef>
              <a:spcAft>
                <a:spcPts val="0"/>
              </a:spcAft>
              <a:buNone/>
            </a:pPr>
            <a:r>
              <a:rPr lang="sv-SE" sz="1800">
                <a:solidFill>
                  <a:schemeClr val="dk1"/>
                </a:solidFill>
              </a:rPr>
              <a:t>(4,2,5), (4,2,1), (2,3,4), (2,3,1)</a:t>
            </a:r>
            <a:endParaRPr sz="1800"/>
          </a:p>
          <a:p>
            <a:pPr indent="0" lvl="0" marL="0" rtl="0" algn="l">
              <a:spcBef>
                <a:spcPts val="0"/>
              </a:spcBef>
              <a:spcAft>
                <a:spcPts val="0"/>
              </a:spcAft>
              <a:buNone/>
            </a:pPr>
            <a:r>
              <a:rPr lang="sv-SE" sz="1800"/>
              <a:t>will not reveal the fault. </a:t>
            </a:r>
            <a:endParaRPr sz="1800"/>
          </a:p>
        </p:txBody>
      </p:sp>
      <p:sp>
        <p:nvSpPr>
          <p:cNvPr id="321" name="Google Shape;321;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Testing</a:t>
            </a:r>
            <a:endParaRPr/>
          </a:p>
        </p:txBody>
      </p:sp>
      <p:sp>
        <p:nvSpPr>
          <p:cNvPr id="327" name="Google Shape;327;p42"/>
          <p:cNvSpPr txBox="1"/>
          <p:nvPr>
            <p:ph idx="1" type="body"/>
          </p:nvPr>
        </p:nvSpPr>
        <p:spPr>
          <a:xfrm>
            <a:off x="468895" y="1282400"/>
            <a:ext cx="3909300" cy="3480300"/>
          </a:xfrm>
          <a:prstGeom prst="rect">
            <a:avLst/>
          </a:prstGeom>
        </p:spPr>
        <p:txBody>
          <a:bodyPr anchorCtr="0" anchor="t" bIns="45700" lIns="91425" spcFirstLastPara="1" rIns="91425" wrap="square" tIns="45700">
            <a:noAutofit/>
          </a:bodyPr>
          <a:lstStyle/>
          <a:p>
            <a:pPr indent="0" lvl="0" marL="457200" rtl="0" algn="l">
              <a:lnSpc>
                <a:spcPct val="120000"/>
              </a:lnSpc>
              <a:spcBef>
                <a:spcPts val="0"/>
              </a:spcBef>
              <a:spcAft>
                <a:spcPts val="0"/>
              </a:spcAft>
              <a:buNone/>
            </a:pPr>
            <a:r>
              <a:t/>
            </a:r>
            <a:endParaRPr sz="900"/>
          </a:p>
          <a:p>
            <a:pPr indent="0" lvl="0" marL="457200" rtl="0" algn="l">
              <a:lnSpc>
                <a:spcPct val="120000"/>
              </a:lnSpc>
              <a:spcBef>
                <a:spcPts val="0"/>
              </a:spcBef>
              <a:spcAft>
                <a:spcPts val="0"/>
              </a:spcAft>
              <a:buNone/>
            </a:pPr>
            <a:r>
              <a:t/>
            </a:r>
            <a:endParaRPr sz="900"/>
          </a:p>
          <a:p>
            <a:pPr indent="0" lvl="0" marL="457200" rtl="0" algn="l">
              <a:lnSpc>
                <a:spcPct val="120000"/>
              </a:lnSpc>
              <a:spcBef>
                <a:spcPts val="0"/>
              </a:spcBef>
              <a:spcAft>
                <a:spcPts val="0"/>
              </a:spcAft>
              <a:buNone/>
            </a:pPr>
            <a:r>
              <a:t/>
            </a:r>
            <a:endParaRPr sz="900"/>
          </a:p>
          <a:p>
            <a:pPr indent="0" lvl="0" marL="457200" rtl="0" algn="l">
              <a:lnSpc>
                <a:spcPct val="120000"/>
              </a:lnSpc>
              <a:spcBef>
                <a:spcPts val="0"/>
              </a:spcBef>
              <a:spcAft>
                <a:spcPts val="0"/>
              </a:spcAft>
              <a:buNone/>
            </a:pPr>
            <a:r>
              <a:t/>
            </a:r>
            <a:endParaRPr sz="900"/>
          </a:p>
          <a:p>
            <a:pPr indent="-285750" lvl="0" marL="457200" rtl="0" algn="l">
              <a:lnSpc>
                <a:spcPct val="120000"/>
              </a:lnSpc>
              <a:spcBef>
                <a:spcPts val="0"/>
              </a:spcBef>
              <a:spcAft>
                <a:spcPts val="0"/>
              </a:spcAft>
              <a:buSzPts val="900"/>
              <a:buFont typeface="Consolas"/>
              <a:buChar char="•"/>
            </a:pPr>
            <a:r>
              <a:rPr lang="sv-SE" sz="900"/>
              <a:t>removeLetters(["s", "t", "r", "i", "n", "g", "w"], "string") ➞ ["w"]</a:t>
            </a:r>
            <a:endParaRPr sz="900"/>
          </a:p>
          <a:p>
            <a:pPr indent="-285750" lvl="0" marL="457200" rtl="0" algn="l">
              <a:lnSpc>
                <a:spcPct val="120000"/>
              </a:lnSpc>
              <a:spcBef>
                <a:spcPts val="0"/>
              </a:spcBef>
              <a:spcAft>
                <a:spcPts val="0"/>
              </a:spcAft>
              <a:buSzPts val="900"/>
              <a:buFont typeface="Consolas"/>
              <a:buChar char="•"/>
            </a:pPr>
            <a:r>
              <a:rPr lang="sv-SE" sz="900"/>
              <a:t>removeLetters(["b", "b", "l", "l", "g", "n", "o", "a", "w"], "balloon") ➞ ["b", "g", "w"]</a:t>
            </a:r>
            <a:endParaRPr sz="900"/>
          </a:p>
          <a:p>
            <a:pPr indent="-285750" lvl="0" marL="457200" rtl="0" algn="l">
              <a:lnSpc>
                <a:spcPct val="120000"/>
              </a:lnSpc>
              <a:spcBef>
                <a:spcPts val="0"/>
              </a:spcBef>
              <a:spcAft>
                <a:spcPts val="0"/>
              </a:spcAft>
              <a:buSzPts val="900"/>
              <a:buFont typeface="Consolas"/>
              <a:buChar char="•"/>
            </a:pPr>
            <a:r>
              <a:rPr lang="sv-SE" sz="900"/>
              <a:t>removeLetters(["d", "b", "t", "e", "a", "i"], "edabit") ➞ [ ]</a:t>
            </a:r>
            <a:endParaRPr sz="900"/>
          </a:p>
          <a:p>
            <a:pPr indent="0" lvl="0" marL="0" rtl="0" algn="l">
              <a:lnSpc>
                <a:spcPct val="120000"/>
              </a:lnSpc>
              <a:spcBef>
                <a:spcPts val="0"/>
              </a:spcBef>
              <a:spcAft>
                <a:spcPts val="0"/>
              </a:spcAft>
              <a:buNone/>
            </a:pPr>
            <a:r>
              <a:t/>
            </a:r>
            <a:endParaRPr sz="1500"/>
          </a:p>
          <a:p>
            <a:pPr indent="-336550" lvl="0" marL="457200" rtl="0" algn="l">
              <a:lnSpc>
                <a:spcPct val="115000"/>
              </a:lnSpc>
              <a:spcBef>
                <a:spcPts val="0"/>
              </a:spcBef>
              <a:spcAft>
                <a:spcPts val="0"/>
              </a:spcAft>
              <a:buSzPts val="1700"/>
              <a:buAutoNum type="arabicPeriod"/>
            </a:pPr>
            <a:r>
              <a:rPr lang="sv-SE" sz="1700"/>
              <a:t>Draw the control-flow graph for this function. </a:t>
            </a:r>
            <a:endParaRPr sz="1700"/>
          </a:p>
          <a:p>
            <a:pPr indent="-336550" lvl="0" marL="457200" rtl="0" algn="l">
              <a:lnSpc>
                <a:spcPct val="115000"/>
              </a:lnSpc>
              <a:spcBef>
                <a:spcPts val="0"/>
              </a:spcBef>
              <a:spcAft>
                <a:spcPts val="0"/>
              </a:spcAft>
              <a:buSzPts val="1700"/>
              <a:buAutoNum type="arabicPeriod"/>
            </a:pPr>
            <a:r>
              <a:rPr lang="sv-SE" sz="1700"/>
              <a:t>Identify test input that will provide statement and branch coverage. </a:t>
            </a:r>
            <a:endParaRPr sz="1500"/>
          </a:p>
        </p:txBody>
      </p:sp>
      <p:sp>
        <p:nvSpPr>
          <p:cNvPr id="328" name="Google Shape;328;p42"/>
          <p:cNvSpPr txBox="1"/>
          <p:nvPr>
            <p:ph idx="1" type="body"/>
          </p:nvPr>
        </p:nvSpPr>
        <p:spPr>
          <a:xfrm>
            <a:off x="4451700" y="1200150"/>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public String[] removeLetters(String[] letters, String word)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lettersRemoved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while(word.length()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if(letters[i].equals(word.substring(0, 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letters[i] =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break;</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word = word.substring(1);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idx = 0;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String[] output = new String[letters.length -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output[idx] = letters[i];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idx++;</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return output;</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a:t>
            </a:r>
            <a:endParaRPr b="1" sz="800">
              <a:latin typeface="Consolas"/>
              <a:ea typeface="Consolas"/>
              <a:cs typeface="Consolas"/>
              <a:sym typeface="Consolas"/>
            </a:endParaRPr>
          </a:p>
          <a:p>
            <a:pPr indent="0" lvl="0" marL="0" rtl="0" algn="l">
              <a:lnSpc>
                <a:spcPct val="120000"/>
              </a:lnSpc>
              <a:spcBef>
                <a:spcPts val="0"/>
              </a:spcBef>
              <a:spcAft>
                <a:spcPts val="0"/>
              </a:spcAft>
              <a:buNone/>
            </a:pPr>
            <a:r>
              <a:t/>
            </a:r>
            <a:endParaRPr b="1" sz="800">
              <a:latin typeface="Consolas"/>
              <a:ea typeface="Consolas"/>
              <a:cs typeface="Consolas"/>
              <a:sym typeface="Consolas"/>
            </a:endParaRPr>
          </a:p>
        </p:txBody>
      </p:sp>
      <p:sp>
        <p:nvSpPr>
          <p:cNvPr id="329" name="Google Shape;329;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43" title="Spring26-PracticeExam-Key (1).png"/>
          <p:cNvPicPr preferRelativeResize="0"/>
          <p:nvPr/>
        </p:nvPicPr>
        <p:blipFill>
          <a:blip r:embed="rId3">
            <a:alphaModFix/>
          </a:blip>
          <a:stretch>
            <a:fillRect/>
          </a:stretch>
        </p:blipFill>
        <p:spPr>
          <a:xfrm>
            <a:off x="912625" y="1488228"/>
            <a:ext cx="4741729" cy="3556297"/>
          </a:xfrm>
          <a:prstGeom prst="rect">
            <a:avLst/>
          </a:prstGeom>
          <a:noFill/>
          <a:ln>
            <a:noFill/>
          </a:ln>
        </p:spPr>
      </p:pic>
      <p:sp>
        <p:nvSpPr>
          <p:cNvPr id="336" name="Google Shape;336;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37" name="Google Shape;337;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Testing</a:t>
            </a:r>
            <a:endParaRPr/>
          </a:p>
        </p:txBody>
      </p:sp>
      <p:sp>
        <p:nvSpPr>
          <p:cNvPr id="338" name="Google Shape;338;p43"/>
          <p:cNvSpPr txBox="1"/>
          <p:nvPr/>
        </p:nvSpPr>
        <p:spPr>
          <a:xfrm>
            <a:off x="5381075" y="2120425"/>
            <a:ext cx="3373500" cy="1193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sv-SE" sz="1100"/>
              <a:t>removeLetters(["d", "i", "t"], "dir") ➞ ["t"]</a:t>
            </a:r>
            <a:endParaRPr b="1" sz="1100"/>
          </a:p>
          <a:p>
            <a:pPr indent="0" lvl="0" marL="0" rtl="0" algn="l">
              <a:spcBef>
                <a:spcPts val="0"/>
              </a:spcBef>
              <a:spcAft>
                <a:spcPts val="0"/>
              </a:spcAft>
              <a:buNone/>
            </a:pPr>
            <a:r>
              <a:t/>
            </a:r>
            <a:endParaRPr/>
          </a:p>
        </p:txBody>
      </p:sp>
      <p:cxnSp>
        <p:nvCxnSpPr>
          <p:cNvPr id="339" name="Google Shape;339;p43"/>
          <p:cNvCxnSpPr/>
          <p:nvPr/>
        </p:nvCxnSpPr>
        <p:spPr>
          <a:xfrm>
            <a:off x="1247275" y="1562050"/>
            <a:ext cx="1033500" cy="0"/>
          </a:xfrm>
          <a:prstGeom prst="straightConnector1">
            <a:avLst/>
          </a:prstGeom>
          <a:noFill/>
          <a:ln cap="flat" cmpd="sng" w="9525">
            <a:solidFill>
              <a:srgbClr val="FF0000"/>
            </a:solidFill>
            <a:prstDash val="solid"/>
            <a:round/>
            <a:headEnd len="med" w="med" type="none"/>
            <a:tailEnd len="med" w="med" type="triangle"/>
          </a:ln>
        </p:spPr>
      </p:cxnSp>
      <p:cxnSp>
        <p:nvCxnSpPr>
          <p:cNvPr id="340" name="Google Shape;340;p43"/>
          <p:cNvCxnSpPr/>
          <p:nvPr/>
        </p:nvCxnSpPr>
        <p:spPr>
          <a:xfrm>
            <a:off x="2423275" y="1924350"/>
            <a:ext cx="17700" cy="1312500"/>
          </a:xfrm>
          <a:prstGeom prst="straightConnector1">
            <a:avLst/>
          </a:prstGeom>
          <a:noFill/>
          <a:ln cap="flat" cmpd="sng" w="9525">
            <a:solidFill>
              <a:srgbClr val="FF0000"/>
            </a:solidFill>
            <a:prstDash val="solid"/>
            <a:round/>
            <a:headEnd len="med" w="med" type="none"/>
            <a:tailEnd len="med" w="med" type="triangle"/>
          </a:ln>
        </p:spPr>
      </p:cxnSp>
      <p:cxnSp>
        <p:nvCxnSpPr>
          <p:cNvPr id="341" name="Google Shape;341;p43"/>
          <p:cNvCxnSpPr/>
          <p:nvPr/>
        </p:nvCxnSpPr>
        <p:spPr>
          <a:xfrm rot="10800000">
            <a:off x="1484775" y="2684550"/>
            <a:ext cx="564300" cy="475200"/>
          </a:xfrm>
          <a:prstGeom prst="straightConnector1">
            <a:avLst/>
          </a:prstGeom>
          <a:noFill/>
          <a:ln cap="flat" cmpd="sng" w="9525">
            <a:solidFill>
              <a:srgbClr val="FF0000"/>
            </a:solidFill>
            <a:prstDash val="solid"/>
            <a:round/>
            <a:headEnd len="med" w="med" type="none"/>
            <a:tailEnd len="med" w="med" type="triangle"/>
          </a:ln>
        </p:spPr>
      </p:cxnSp>
      <p:cxnSp>
        <p:nvCxnSpPr>
          <p:cNvPr id="342" name="Google Shape;342;p43"/>
          <p:cNvCxnSpPr/>
          <p:nvPr/>
        </p:nvCxnSpPr>
        <p:spPr>
          <a:xfrm flipH="1" rot="10800000">
            <a:off x="1514550" y="1954075"/>
            <a:ext cx="552300" cy="409800"/>
          </a:xfrm>
          <a:prstGeom prst="straightConnector1">
            <a:avLst/>
          </a:prstGeom>
          <a:noFill/>
          <a:ln cap="flat" cmpd="sng" w="9525">
            <a:solidFill>
              <a:srgbClr val="FF0000"/>
            </a:solidFill>
            <a:prstDash val="solid"/>
            <a:round/>
            <a:headEnd len="med" w="med" type="none"/>
            <a:tailEnd len="med" w="med" type="triangle"/>
          </a:ln>
        </p:spPr>
      </p:cxnSp>
      <p:cxnSp>
        <p:nvCxnSpPr>
          <p:cNvPr id="343" name="Google Shape;343;p43"/>
          <p:cNvCxnSpPr/>
          <p:nvPr/>
        </p:nvCxnSpPr>
        <p:spPr>
          <a:xfrm>
            <a:off x="2548000" y="1948125"/>
            <a:ext cx="0" cy="813600"/>
          </a:xfrm>
          <a:prstGeom prst="straightConnector1">
            <a:avLst/>
          </a:prstGeom>
          <a:noFill/>
          <a:ln cap="flat" cmpd="sng" w="9525">
            <a:solidFill>
              <a:srgbClr val="FF0000"/>
            </a:solidFill>
            <a:prstDash val="solid"/>
            <a:round/>
            <a:headEnd len="med" w="med" type="none"/>
            <a:tailEnd len="med" w="med" type="triangle"/>
          </a:ln>
        </p:spPr>
      </p:cxnSp>
      <p:cxnSp>
        <p:nvCxnSpPr>
          <p:cNvPr id="344" name="Google Shape;344;p43"/>
          <p:cNvCxnSpPr/>
          <p:nvPr/>
        </p:nvCxnSpPr>
        <p:spPr>
          <a:xfrm rot="10800000">
            <a:off x="2690400" y="2447125"/>
            <a:ext cx="279300" cy="166200"/>
          </a:xfrm>
          <a:prstGeom prst="straightConnector1">
            <a:avLst/>
          </a:prstGeom>
          <a:noFill/>
          <a:ln cap="flat" cmpd="sng" w="9525">
            <a:solidFill>
              <a:srgbClr val="FF0000"/>
            </a:solidFill>
            <a:prstDash val="solid"/>
            <a:round/>
            <a:headEnd len="med" w="med" type="none"/>
            <a:tailEnd len="med" w="med" type="triangle"/>
          </a:ln>
        </p:spPr>
      </p:cxnSp>
      <p:cxnSp>
        <p:nvCxnSpPr>
          <p:cNvPr id="345" name="Google Shape;345;p43"/>
          <p:cNvCxnSpPr/>
          <p:nvPr/>
        </p:nvCxnSpPr>
        <p:spPr>
          <a:xfrm flipH="1">
            <a:off x="1490825" y="2482650"/>
            <a:ext cx="789900" cy="17700"/>
          </a:xfrm>
          <a:prstGeom prst="straightConnector1">
            <a:avLst/>
          </a:prstGeom>
          <a:noFill/>
          <a:ln cap="flat" cmpd="sng" w="9525">
            <a:solidFill>
              <a:srgbClr val="FF0000"/>
            </a:solidFill>
            <a:prstDash val="solid"/>
            <a:round/>
            <a:headEnd len="med" w="med" type="none"/>
            <a:tailEnd len="med" w="med" type="triangle"/>
          </a:ln>
        </p:spPr>
      </p:cxnSp>
      <p:cxnSp>
        <p:nvCxnSpPr>
          <p:cNvPr id="346" name="Google Shape;346;p43"/>
          <p:cNvCxnSpPr/>
          <p:nvPr/>
        </p:nvCxnSpPr>
        <p:spPr>
          <a:xfrm>
            <a:off x="2684600" y="1609575"/>
            <a:ext cx="1063200" cy="0"/>
          </a:xfrm>
          <a:prstGeom prst="straightConnector1">
            <a:avLst/>
          </a:prstGeom>
          <a:noFill/>
          <a:ln cap="flat" cmpd="sng" w="9525">
            <a:solidFill>
              <a:srgbClr val="FF0000"/>
            </a:solidFill>
            <a:prstDash val="solid"/>
            <a:round/>
            <a:headEnd len="med" w="med" type="none"/>
            <a:tailEnd len="med" w="med" type="triangle"/>
          </a:ln>
        </p:spPr>
      </p:cxnSp>
      <p:cxnSp>
        <p:nvCxnSpPr>
          <p:cNvPr id="347" name="Google Shape;347;p43"/>
          <p:cNvCxnSpPr/>
          <p:nvPr/>
        </p:nvCxnSpPr>
        <p:spPr>
          <a:xfrm>
            <a:off x="4009075" y="1769925"/>
            <a:ext cx="6000" cy="320700"/>
          </a:xfrm>
          <a:prstGeom prst="straightConnector1">
            <a:avLst/>
          </a:prstGeom>
          <a:noFill/>
          <a:ln cap="flat" cmpd="sng" w="9525">
            <a:solidFill>
              <a:srgbClr val="FF0000"/>
            </a:solidFill>
            <a:prstDash val="solid"/>
            <a:round/>
            <a:headEnd len="med" w="med" type="none"/>
            <a:tailEnd len="med" w="med" type="triangle"/>
          </a:ln>
        </p:spPr>
      </p:cxnSp>
      <p:cxnSp>
        <p:nvCxnSpPr>
          <p:cNvPr id="348" name="Google Shape;348;p43"/>
          <p:cNvCxnSpPr/>
          <p:nvPr/>
        </p:nvCxnSpPr>
        <p:spPr>
          <a:xfrm rot="10800000">
            <a:off x="3225100" y="1971800"/>
            <a:ext cx="469200" cy="184200"/>
          </a:xfrm>
          <a:prstGeom prst="straightConnector1">
            <a:avLst/>
          </a:prstGeom>
          <a:noFill/>
          <a:ln cap="flat" cmpd="sng" w="9525">
            <a:solidFill>
              <a:srgbClr val="FF0000"/>
            </a:solidFill>
            <a:prstDash val="solid"/>
            <a:round/>
            <a:headEnd len="med" w="med" type="none"/>
            <a:tailEnd len="med" w="med" type="triangle"/>
          </a:ln>
        </p:spPr>
      </p:cxnSp>
      <p:cxnSp>
        <p:nvCxnSpPr>
          <p:cNvPr id="349" name="Google Shape;349;p43"/>
          <p:cNvCxnSpPr/>
          <p:nvPr/>
        </p:nvCxnSpPr>
        <p:spPr>
          <a:xfrm flipH="1" rot="10800000">
            <a:off x="3290425" y="1770025"/>
            <a:ext cx="397800" cy="166200"/>
          </a:xfrm>
          <a:prstGeom prst="straightConnector1">
            <a:avLst/>
          </a:prstGeom>
          <a:noFill/>
          <a:ln cap="flat" cmpd="sng" w="9525">
            <a:solidFill>
              <a:srgbClr val="FF0000"/>
            </a:solidFill>
            <a:prstDash val="solid"/>
            <a:round/>
            <a:headEnd len="med" w="med" type="none"/>
            <a:tailEnd len="med" w="med" type="triangle"/>
          </a:ln>
        </p:spPr>
      </p:cxnSp>
      <p:cxnSp>
        <p:nvCxnSpPr>
          <p:cNvPr id="350" name="Google Shape;350;p43"/>
          <p:cNvCxnSpPr/>
          <p:nvPr/>
        </p:nvCxnSpPr>
        <p:spPr>
          <a:xfrm flipH="1">
            <a:off x="3718200" y="2221325"/>
            <a:ext cx="189900" cy="219900"/>
          </a:xfrm>
          <a:prstGeom prst="straightConnector1">
            <a:avLst/>
          </a:prstGeom>
          <a:noFill/>
          <a:ln cap="flat" cmpd="sng" w="9525">
            <a:solidFill>
              <a:srgbClr val="FF0000"/>
            </a:solidFill>
            <a:prstDash val="solid"/>
            <a:round/>
            <a:headEnd len="med" w="med" type="none"/>
            <a:tailEnd len="med" w="med" type="triangle"/>
          </a:ln>
        </p:spPr>
      </p:cxnSp>
      <p:cxnSp>
        <p:nvCxnSpPr>
          <p:cNvPr id="351" name="Google Shape;351;p43"/>
          <p:cNvCxnSpPr/>
          <p:nvPr/>
        </p:nvCxnSpPr>
        <p:spPr>
          <a:xfrm rot="10800000">
            <a:off x="3130175" y="2150025"/>
            <a:ext cx="486900" cy="297000"/>
          </a:xfrm>
          <a:prstGeom prst="straightConnector1">
            <a:avLst/>
          </a:prstGeom>
          <a:noFill/>
          <a:ln cap="flat" cmpd="sng" w="9525">
            <a:solidFill>
              <a:srgbClr val="FF0000"/>
            </a:solidFill>
            <a:prstDash val="solid"/>
            <a:round/>
            <a:headEnd len="med" w="med" type="none"/>
            <a:tailEnd len="med" w="med" type="triangle"/>
          </a:ln>
        </p:spPr>
      </p:cxnSp>
      <p:cxnSp>
        <p:nvCxnSpPr>
          <p:cNvPr id="352" name="Google Shape;352;p43"/>
          <p:cNvCxnSpPr/>
          <p:nvPr/>
        </p:nvCxnSpPr>
        <p:spPr>
          <a:xfrm>
            <a:off x="4086300" y="1710550"/>
            <a:ext cx="439500" cy="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2600"/>
                                        <p:tgtEl>
                                          <p:spTgt spid="339"/>
                                        </p:tgtEl>
                                      </p:cBhvr>
                                    </p:animEffect>
                                  </p:childTnLst>
                                </p:cTn>
                              </p:par>
                            </p:childTnLst>
                          </p:cTn>
                        </p:par>
                        <p:par>
                          <p:cTn fill="hold">
                            <p:stCondLst>
                              <p:cond delay="2600"/>
                            </p:stCondLst>
                            <p:childTnLst>
                              <p:par>
                                <p:cTn fill="hold" nodeType="after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25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25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2500"/>
                                        <p:tgtEl>
                                          <p:spTgt spid="342"/>
                                        </p:tgtEl>
                                      </p:cBhvr>
                                    </p:animEffect>
                                  </p:childTnLst>
                                </p:cTn>
                              </p:par>
                            </p:childTnLst>
                          </p:cTn>
                        </p:par>
                        <p:par>
                          <p:cTn fill="hold">
                            <p:stCondLst>
                              <p:cond delay="5100"/>
                            </p:stCondLst>
                            <p:childTnLst>
                              <p:par>
                                <p:cTn fill="hold" nodeType="after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25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26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2500"/>
                                        <p:tgtEl>
                                          <p:spTgt spid="342"/>
                                        </p:tgtEl>
                                      </p:cBhvr>
                                    </p:animEffect>
                                  </p:childTnLst>
                                </p:cTn>
                              </p:par>
                            </p:childTnLst>
                          </p:cTn>
                        </p:par>
                        <p:par>
                          <p:cTn fill="hold">
                            <p:stCondLst>
                              <p:cond delay="7700"/>
                            </p:stCondLst>
                            <p:childTnLst>
                              <p:par>
                                <p:cTn fill="hold" nodeType="after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2500"/>
                                        <p:tgtEl>
                                          <p:spTgt spid="343"/>
                                        </p:tgtEl>
                                      </p:cBhvr>
                                    </p:animEffect>
                                  </p:childTnLst>
                                </p:cTn>
                              </p:par>
                              <p:par>
                                <p:cTn fill="hold" nodeType="with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27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2000"/>
                                        <p:tgtEl>
                                          <p:spTgt spid="345"/>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2000"/>
                                        <p:tgtEl>
                                          <p:spTgt spid="342"/>
                                        </p:tgtEl>
                                      </p:cBhvr>
                                    </p:animEffect>
                                  </p:childTnLst>
                                </p:cTn>
                              </p:par>
                            </p:childTnLst>
                          </p:cTn>
                        </p:par>
                        <p:par>
                          <p:cTn fill="hold">
                            <p:stCondLst>
                              <p:cond delay="10400"/>
                            </p:stCondLst>
                            <p:childTnLst>
                              <p:par>
                                <p:cTn fill="hold" nodeType="after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800"/>
                                        <p:tgtEl>
                                          <p:spTgt spid="346"/>
                                        </p:tgtEl>
                                      </p:cBhvr>
                                    </p:animEffect>
                                  </p:childTnLst>
                                </p:cTn>
                              </p:par>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7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240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900"/>
                                        <p:tgtEl>
                                          <p:spTgt spid="349"/>
                                        </p:tgtEl>
                                      </p:cBhvr>
                                    </p:animEffect>
                                  </p:childTnLst>
                                </p:cTn>
                              </p:par>
                            </p:childTnLst>
                          </p:cTn>
                        </p:par>
                        <p:par>
                          <p:cTn fill="hold">
                            <p:stCondLst>
                              <p:cond delay="12800"/>
                            </p:stCondLst>
                            <p:childTnLst>
                              <p:par>
                                <p:cTn fill="hold" nodeType="after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8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80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800"/>
                                        <p:tgtEl>
                                          <p:spTgt spid="349"/>
                                        </p:tgtEl>
                                      </p:cBhvr>
                                    </p:animEffect>
                                  </p:childTnLst>
                                </p:cTn>
                              </p:par>
                            </p:childTnLst>
                          </p:cTn>
                        </p:par>
                        <p:par>
                          <p:cTn fill="hold">
                            <p:stCondLst>
                              <p:cond delay="14600"/>
                            </p:stCondLst>
                            <p:childTnLst>
                              <p:par>
                                <p:cTn fill="hold" nodeType="after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300"/>
                                        <p:tgtEl>
                                          <p:spTgt spid="351"/>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par>
                                <p:cTn fill="hold" nodeType="with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 Testing</a:t>
            </a:r>
            <a:endParaRPr/>
          </a:p>
        </p:txBody>
      </p:sp>
      <p:sp>
        <p:nvSpPr>
          <p:cNvPr id="358" name="Google Shape;358;p44"/>
          <p:cNvSpPr txBox="1"/>
          <p:nvPr>
            <p:ph idx="1" type="body"/>
          </p:nvPr>
        </p:nvSpPr>
        <p:spPr>
          <a:xfrm>
            <a:off x="468895" y="1282400"/>
            <a:ext cx="39093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Identify all DU pairs and write test cases to achieve All DU Pair Coverage.</a:t>
            </a:r>
            <a:endParaRPr/>
          </a:p>
        </p:txBody>
      </p:sp>
      <p:sp>
        <p:nvSpPr>
          <p:cNvPr id="359" name="Google Shape;359;p44"/>
          <p:cNvSpPr txBox="1"/>
          <p:nvPr>
            <p:ph idx="1" type="body"/>
          </p:nvPr>
        </p:nvSpPr>
        <p:spPr>
          <a:xfrm>
            <a:off x="4451700" y="1200150"/>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public String[] removeLetters(String[] letters, String word)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lettersRemoved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while(word.length()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if(letters[i].equals(word.substring(0, 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letters[i] =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break;</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word = word.substring(1);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idx = 0;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String[] output = new String[letters.length -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output[idx] = letters[i];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idx++;</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return output;</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a:t>
            </a:r>
            <a:endParaRPr b="1" sz="800">
              <a:latin typeface="Consolas"/>
              <a:ea typeface="Consolas"/>
              <a:cs typeface="Consolas"/>
              <a:sym typeface="Consolas"/>
            </a:endParaRPr>
          </a:p>
          <a:p>
            <a:pPr indent="0" lvl="0" marL="0" rtl="0" algn="l">
              <a:lnSpc>
                <a:spcPct val="120000"/>
              </a:lnSpc>
              <a:spcBef>
                <a:spcPts val="0"/>
              </a:spcBef>
              <a:spcAft>
                <a:spcPts val="0"/>
              </a:spcAft>
              <a:buNone/>
            </a:pPr>
            <a:r>
              <a:t/>
            </a:r>
            <a:endParaRPr b="1" sz="800">
              <a:latin typeface="Consolas"/>
              <a:ea typeface="Consolas"/>
              <a:cs typeface="Consolas"/>
              <a:sym typeface="Consolas"/>
            </a:endParaRPr>
          </a:p>
        </p:txBody>
      </p:sp>
      <p:sp>
        <p:nvSpPr>
          <p:cNvPr id="360" name="Google Shape;360;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 Testing</a:t>
            </a:r>
            <a:endParaRPr/>
          </a:p>
        </p:txBody>
      </p:sp>
      <p:sp>
        <p:nvSpPr>
          <p:cNvPr id="366" name="Google Shape;366;p45"/>
          <p:cNvSpPr txBox="1"/>
          <p:nvPr>
            <p:ph idx="1" type="body"/>
          </p:nvPr>
        </p:nvSpPr>
        <p:spPr>
          <a:xfrm>
            <a:off x="4451700" y="1200150"/>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public String[] removeLetters(String[] letters, String word)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lettersRemoved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while(word.length()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if(letters[i].equals(word.substring(0, 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letters[i] =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break;</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word = word.substring(1);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idx = 0;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String[] output = new String[letters.length -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output[idx] = letters[i];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idx++;</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return output;</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a:t>
            </a:r>
            <a:endParaRPr b="1" sz="800">
              <a:latin typeface="Consolas"/>
              <a:ea typeface="Consolas"/>
              <a:cs typeface="Consolas"/>
              <a:sym typeface="Consolas"/>
            </a:endParaRPr>
          </a:p>
          <a:p>
            <a:pPr indent="0" lvl="0" marL="0" rtl="0" algn="l">
              <a:lnSpc>
                <a:spcPct val="120000"/>
              </a:lnSpc>
              <a:spcBef>
                <a:spcPts val="0"/>
              </a:spcBef>
              <a:spcAft>
                <a:spcPts val="0"/>
              </a:spcAft>
              <a:buNone/>
            </a:pPr>
            <a:r>
              <a:t/>
            </a:r>
            <a:endParaRPr b="1" sz="800">
              <a:latin typeface="Consolas"/>
              <a:ea typeface="Consolas"/>
              <a:cs typeface="Consolas"/>
              <a:sym typeface="Consolas"/>
            </a:endParaRPr>
          </a:p>
        </p:txBody>
      </p:sp>
      <p:sp>
        <p:nvSpPr>
          <p:cNvPr id="367" name="Google Shape;367;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graphicFrame>
        <p:nvGraphicFramePr>
          <p:cNvPr id="368" name="Google Shape;368;p45"/>
          <p:cNvGraphicFramePr/>
          <p:nvPr/>
        </p:nvGraphicFramePr>
        <p:xfrm>
          <a:off x="247450" y="2005525"/>
          <a:ext cx="3000000" cy="3000000"/>
        </p:xfrm>
        <a:graphic>
          <a:graphicData uri="http://schemas.openxmlformats.org/drawingml/2006/table">
            <a:tbl>
              <a:tblPr>
                <a:noFill/>
                <a:tableStyleId>{C9EB1461-ABD7-4C77-8ECE-06A745F3CEBD}</a:tableStyleId>
              </a:tblPr>
              <a:tblGrid>
                <a:gridCol w="850650"/>
                <a:gridCol w="3353600"/>
              </a:tblGrid>
              <a:tr h="12700">
                <a:tc>
                  <a:txBody>
                    <a:bodyPr/>
                    <a:lstStyle/>
                    <a:p>
                      <a:pPr indent="0" lvl="0" marL="0" rtl="0" algn="l">
                        <a:spcBef>
                          <a:spcPts val="0"/>
                        </a:spcBef>
                        <a:spcAft>
                          <a:spcPts val="0"/>
                        </a:spcAft>
                        <a:buNone/>
                      </a:pPr>
                      <a:r>
                        <a:rPr b="1" lang="sv-SE" sz="800"/>
                        <a:t>Variable</a:t>
                      </a:r>
                      <a:endParaRPr b="1" sz="800"/>
                    </a:p>
                  </a:txBody>
                  <a:tcPr marT="63500" marB="63500" marR="63500" marL="63500"/>
                </a:tc>
                <a:tc>
                  <a:txBody>
                    <a:bodyPr/>
                    <a:lstStyle/>
                    <a:p>
                      <a:pPr indent="0" lvl="0" marL="0" rtl="0" algn="l">
                        <a:spcBef>
                          <a:spcPts val="0"/>
                        </a:spcBef>
                        <a:spcAft>
                          <a:spcPts val="0"/>
                        </a:spcAft>
                        <a:buNone/>
                      </a:pPr>
                      <a:r>
                        <a:rPr b="1" lang="sv-SE" sz="800"/>
                        <a:t>D-U Pairs</a:t>
                      </a:r>
                      <a:endParaRPr b="1" sz="800"/>
                    </a:p>
                  </a:txBody>
                  <a:tcPr marT="63500" marB="63500" marR="63500" marL="63500"/>
                </a:tc>
              </a:tr>
              <a:tr h="12700">
                <a:tc>
                  <a:txBody>
                    <a:bodyPr/>
                    <a:lstStyle/>
                    <a:p>
                      <a:pPr indent="0" lvl="0" marL="0" rtl="0" algn="l">
                        <a:spcBef>
                          <a:spcPts val="0"/>
                        </a:spcBef>
                        <a:spcAft>
                          <a:spcPts val="0"/>
                        </a:spcAft>
                        <a:buNone/>
                      </a:pPr>
                      <a:r>
                        <a:rPr lang="sv-SE" sz="800"/>
                        <a:t>letters</a:t>
                      </a:r>
                      <a:endParaRPr sz="800"/>
                    </a:p>
                  </a:txBody>
                  <a:tcPr marT="63500" marB="63500" marR="63500" marL="63500"/>
                </a:tc>
                <a:tc>
                  <a:txBody>
                    <a:bodyPr/>
                    <a:lstStyle/>
                    <a:p>
                      <a:pPr indent="0" lvl="0" marL="0" rtl="0" algn="l">
                        <a:spcBef>
                          <a:spcPts val="0"/>
                        </a:spcBef>
                        <a:spcAft>
                          <a:spcPts val="0"/>
                        </a:spcAft>
                        <a:buNone/>
                      </a:pPr>
                      <a:r>
                        <a:rPr lang="sv-SE" sz="800"/>
                        <a:t>(1, 4), (1, 5), (6, 4), (6, 5), (6, 6), (1, 14), (6, 14), (1, 15), (6, 15), (1, 16), (6, 16), (1, 17), (6, 17)</a:t>
                      </a:r>
                      <a:endParaRPr sz="800"/>
                    </a:p>
                  </a:txBody>
                  <a:tcPr marT="63500" marB="63500" marR="63500" marL="63500"/>
                </a:tc>
              </a:tr>
              <a:tr h="12700">
                <a:tc>
                  <a:txBody>
                    <a:bodyPr/>
                    <a:lstStyle/>
                    <a:p>
                      <a:pPr indent="0" lvl="0" marL="0" rtl="0" algn="l">
                        <a:spcBef>
                          <a:spcPts val="0"/>
                        </a:spcBef>
                        <a:spcAft>
                          <a:spcPts val="0"/>
                        </a:spcAft>
                        <a:buNone/>
                      </a:pPr>
                      <a:r>
                        <a:rPr lang="sv-SE" sz="800"/>
                        <a:t>word</a:t>
                      </a:r>
                      <a:endParaRPr sz="800"/>
                    </a:p>
                  </a:txBody>
                  <a:tcPr marT="63500" marB="63500" marR="63500" marL="63500"/>
                </a:tc>
                <a:tc>
                  <a:txBody>
                    <a:bodyPr/>
                    <a:lstStyle/>
                    <a:p>
                      <a:pPr indent="0" lvl="0" marL="0" rtl="0" algn="l">
                        <a:spcBef>
                          <a:spcPts val="0"/>
                        </a:spcBef>
                        <a:spcAft>
                          <a:spcPts val="0"/>
                        </a:spcAft>
                        <a:buNone/>
                      </a:pPr>
                      <a:r>
                        <a:rPr lang="sv-SE" sz="800"/>
                        <a:t>(1, 3), (1, 5), (1, 11), (11, 5), (11, 11), (11,3)</a:t>
                      </a:r>
                      <a:endParaRPr sz="800"/>
                    </a:p>
                  </a:txBody>
                  <a:tcPr marT="63500" marB="63500" marR="63500" marL="63500"/>
                </a:tc>
              </a:tr>
              <a:tr h="12700">
                <a:tc>
                  <a:txBody>
                    <a:bodyPr/>
                    <a:lstStyle/>
                    <a:p>
                      <a:pPr indent="0" lvl="0" marL="0" rtl="0" algn="l">
                        <a:spcBef>
                          <a:spcPts val="0"/>
                        </a:spcBef>
                        <a:spcAft>
                          <a:spcPts val="0"/>
                        </a:spcAft>
                        <a:buNone/>
                      </a:pPr>
                      <a:r>
                        <a:rPr lang="sv-SE" sz="800"/>
                        <a:t>lettersRemoved</a:t>
                      </a:r>
                      <a:endParaRPr sz="800"/>
                    </a:p>
                  </a:txBody>
                  <a:tcPr marT="63500" marB="63500" marR="63500" marL="63500"/>
                </a:tc>
                <a:tc>
                  <a:txBody>
                    <a:bodyPr/>
                    <a:lstStyle/>
                    <a:p>
                      <a:pPr indent="0" lvl="0" marL="0" rtl="0" algn="l">
                        <a:spcBef>
                          <a:spcPts val="0"/>
                        </a:spcBef>
                        <a:spcAft>
                          <a:spcPts val="0"/>
                        </a:spcAft>
                        <a:buNone/>
                      </a:pPr>
                      <a:r>
                        <a:rPr lang="sv-SE" sz="800"/>
                        <a:t>(2, 7), (7, 7), (2, 14), (7, 14)</a:t>
                      </a:r>
                      <a:endParaRPr sz="800"/>
                    </a:p>
                  </a:txBody>
                  <a:tcPr marT="63500" marB="63500" marR="63500" marL="63500"/>
                </a:tc>
              </a:tr>
              <a:tr h="12700">
                <a:tc>
                  <a:txBody>
                    <a:bodyPr/>
                    <a:lstStyle/>
                    <a:p>
                      <a:pPr indent="0" lvl="0" marL="0" rtl="0" algn="l">
                        <a:spcBef>
                          <a:spcPts val="0"/>
                        </a:spcBef>
                        <a:spcAft>
                          <a:spcPts val="0"/>
                        </a:spcAft>
                        <a:buNone/>
                      </a:pPr>
                      <a:r>
                        <a:rPr lang="sv-SE" sz="800"/>
                        <a:t>i</a:t>
                      </a:r>
                      <a:endParaRPr sz="800"/>
                    </a:p>
                  </a:txBody>
                  <a:tcPr marT="63500" marB="63500" marR="63500" marL="63500"/>
                </a:tc>
                <a:tc>
                  <a:txBody>
                    <a:bodyPr/>
                    <a:lstStyle/>
                    <a:p>
                      <a:pPr indent="0" lvl="0" marL="0" rtl="0" algn="l">
                        <a:spcBef>
                          <a:spcPts val="0"/>
                        </a:spcBef>
                        <a:spcAft>
                          <a:spcPts val="0"/>
                        </a:spcAft>
                        <a:buNone/>
                      </a:pPr>
                      <a:r>
                        <a:rPr lang="sv-SE" sz="800"/>
                        <a:t>(4, 4), (4, 5), (4, 6), (15, 15), (15, 16), (15, 17)</a:t>
                      </a:r>
                      <a:endParaRPr sz="800"/>
                    </a:p>
                  </a:txBody>
                  <a:tcPr marT="63500" marB="63500" marR="63500" marL="63500"/>
                </a:tc>
              </a:tr>
              <a:tr h="12700">
                <a:tc>
                  <a:txBody>
                    <a:bodyPr/>
                    <a:lstStyle/>
                    <a:p>
                      <a:pPr indent="0" lvl="0" marL="0" rtl="0" algn="l">
                        <a:spcBef>
                          <a:spcPts val="0"/>
                        </a:spcBef>
                        <a:spcAft>
                          <a:spcPts val="0"/>
                        </a:spcAft>
                        <a:buNone/>
                      </a:pPr>
                      <a:r>
                        <a:rPr lang="sv-SE" sz="800"/>
                        <a:t>idx</a:t>
                      </a:r>
                      <a:endParaRPr sz="800"/>
                    </a:p>
                  </a:txBody>
                  <a:tcPr marT="63500" marB="63500" marR="63500" marL="63500"/>
                </a:tc>
                <a:tc>
                  <a:txBody>
                    <a:bodyPr/>
                    <a:lstStyle/>
                    <a:p>
                      <a:pPr indent="0" lvl="0" marL="0" rtl="0" algn="l">
                        <a:spcBef>
                          <a:spcPts val="0"/>
                        </a:spcBef>
                        <a:spcAft>
                          <a:spcPts val="0"/>
                        </a:spcAft>
                        <a:buNone/>
                      </a:pPr>
                      <a:r>
                        <a:rPr lang="sv-SE" sz="800"/>
                        <a:t>(13, 17), (13, 18), (18, 18), (18, 17)</a:t>
                      </a:r>
                      <a:endParaRPr sz="800"/>
                    </a:p>
                  </a:txBody>
                  <a:tcPr marT="63500" marB="63500" marR="63500" marL="63500"/>
                </a:tc>
              </a:tr>
              <a:tr h="12700">
                <a:tc>
                  <a:txBody>
                    <a:bodyPr/>
                    <a:lstStyle/>
                    <a:p>
                      <a:pPr indent="0" lvl="0" marL="0" rtl="0" algn="l">
                        <a:spcBef>
                          <a:spcPts val="0"/>
                        </a:spcBef>
                        <a:spcAft>
                          <a:spcPts val="0"/>
                        </a:spcAft>
                        <a:buNone/>
                      </a:pPr>
                      <a:r>
                        <a:rPr lang="sv-SE" sz="800"/>
                        <a:t>output</a:t>
                      </a:r>
                      <a:endParaRPr sz="800"/>
                    </a:p>
                  </a:txBody>
                  <a:tcPr marT="63500" marB="63500" marR="63500" marL="63500"/>
                </a:tc>
                <a:tc>
                  <a:txBody>
                    <a:bodyPr/>
                    <a:lstStyle/>
                    <a:p>
                      <a:pPr indent="0" lvl="0" marL="0" rtl="0" algn="l">
                        <a:spcBef>
                          <a:spcPts val="0"/>
                        </a:spcBef>
                        <a:spcAft>
                          <a:spcPts val="0"/>
                        </a:spcAft>
                        <a:buNone/>
                      </a:pPr>
                      <a:r>
                        <a:rPr lang="sv-SE" sz="800"/>
                        <a:t>(14, 21), (17,21)</a:t>
                      </a:r>
                      <a:endParaRPr sz="800"/>
                    </a:p>
                  </a:txBody>
                  <a:tcPr marT="63500" marB="63500" marR="63500" marL="635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 Testing</a:t>
            </a:r>
            <a:endParaRPr/>
          </a:p>
        </p:txBody>
      </p:sp>
      <p:sp>
        <p:nvSpPr>
          <p:cNvPr id="374" name="Google Shape;374;p46"/>
          <p:cNvSpPr txBox="1"/>
          <p:nvPr>
            <p:ph idx="1" type="body"/>
          </p:nvPr>
        </p:nvSpPr>
        <p:spPr>
          <a:xfrm>
            <a:off x="4451700" y="1200150"/>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public String[] removeLetters(String[] letters, String word)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lettersRemoved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while(word.length()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if(letters[i].equals(word.substring(0, 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letters[i] =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break;</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word = word.substring(1);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idx = 0;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String[] output = new String[letters.length -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output[idx] = letters[i];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idx++;</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return output;</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a:t>
            </a:r>
            <a:endParaRPr b="1" sz="800">
              <a:latin typeface="Consolas"/>
              <a:ea typeface="Consolas"/>
              <a:cs typeface="Consolas"/>
              <a:sym typeface="Consolas"/>
            </a:endParaRPr>
          </a:p>
          <a:p>
            <a:pPr indent="0" lvl="0" marL="0" rtl="0" algn="l">
              <a:lnSpc>
                <a:spcPct val="120000"/>
              </a:lnSpc>
              <a:spcBef>
                <a:spcPts val="0"/>
              </a:spcBef>
              <a:spcAft>
                <a:spcPts val="0"/>
              </a:spcAft>
              <a:buNone/>
            </a:pPr>
            <a:r>
              <a:t/>
            </a:r>
            <a:endParaRPr b="1" sz="800">
              <a:latin typeface="Consolas"/>
              <a:ea typeface="Consolas"/>
              <a:cs typeface="Consolas"/>
              <a:sym typeface="Consolas"/>
            </a:endParaRPr>
          </a:p>
        </p:txBody>
      </p:sp>
      <p:sp>
        <p:nvSpPr>
          <p:cNvPr id="375" name="Google Shape;375;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76" name="Google Shape;376;p46"/>
          <p:cNvSpPr txBox="1"/>
          <p:nvPr/>
        </p:nvSpPr>
        <p:spPr>
          <a:xfrm>
            <a:off x="380125" y="1514525"/>
            <a:ext cx="3617100" cy="433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sv-SE" sz="1100"/>
              <a:t>removeLetters(["d", "i", "t", “y”], "dir") ➞ ["t", “y”]</a:t>
            </a:r>
            <a:endParaRPr b="1" sz="1100"/>
          </a:p>
          <a:p>
            <a:pPr indent="0" lvl="0" marL="0" rtl="0" algn="l">
              <a:spcBef>
                <a:spcPts val="0"/>
              </a:spcBef>
              <a:spcAft>
                <a:spcPts val="0"/>
              </a:spcAft>
              <a:buNone/>
            </a:pPr>
            <a:r>
              <a:t/>
            </a:r>
            <a:endParaRPr/>
          </a:p>
        </p:txBody>
      </p:sp>
      <p:graphicFrame>
        <p:nvGraphicFramePr>
          <p:cNvPr id="377" name="Google Shape;377;p46"/>
          <p:cNvGraphicFramePr/>
          <p:nvPr/>
        </p:nvGraphicFramePr>
        <p:xfrm>
          <a:off x="185875" y="2005475"/>
          <a:ext cx="3000000" cy="3000000"/>
        </p:xfrm>
        <a:graphic>
          <a:graphicData uri="http://schemas.openxmlformats.org/drawingml/2006/table">
            <a:tbl>
              <a:tblPr>
                <a:noFill/>
                <a:tableStyleId>{C9EB1461-ABD7-4C77-8ECE-06A745F3CEBD}</a:tableStyleId>
              </a:tblPr>
              <a:tblGrid>
                <a:gridCol w="1266425"/>
                <a:gridCol w="2892475"/>
              </a:tblGrid>
              <a:tr h="12700">
                <a:tc>
                  <a:txBody>
                    <a:bodyPr/>
                    <a:lstStyle/>
                    <a:p>
                      <a:pPr indent="0" lvl="0" marL="0" rtl="0" algn="l">
                        <a:spcBef>
                          <a:spcPts val="0"/>
                        </a:spcBef>
                        <a:spcAft>
                          <a:spcPts val="0"/>
                        </a:spcAft>
                        <a:buNone/>
                      </a:pPr>
                      <a:r>
                        <a:rPr b="1" lang="sv-SE" sz="1100"/>
                        <a:t>Variable</a:t>
                      </a:r>
                      <a:endParaRPr b="1" sz="1100"/>
                    </a:p>
                  </a:txBody>
                  <a:tcPr marT="63500" marB="63500" marR="63500" marL="63500"/>
                </a:tc>
                <a:tc>
                  <a:txBody>
                    <a:bodyPr/>
                    <a:lstStyle/>
                    <a:p>
                      <a:pPr indent="0" lvl="0" marL="0" rtl="0" algn="l">
                        <a:spcBef>
                          <a:spcPts val="0"/>
                        </a:spcBef>
                        <a:spcAft>
                          <a:spcPts val="0"/>
                        </a:spcAft>
                        <a:buNone/>
                      </a:pPr>
                      <a:r>
                        <a:rPr b="1" lang="sv-SE" sz="1100"/>
                        <a:t>New D-U Pairs Covered</a:t>
                      </a:r>
                      <a:endParaRPr b="1" sz="1100"/>
                    </a:p>
                  </a:txBody>
                  <a:tcPr marT="63500" marB="63500" marR="63500" marL="63500"/>
                </a:tc>
              </a:tr>
              <a:tr h="12700">
                <a:tc>
                  <a:txBody>
                    <a:bodyPr/>
                    <a:lstStyle/>
                    <a:p>
                      <a:pPr indent="0" lvl="0" marL="0" rtl="0" algn="l">
                        <a:spcBef>
                          <a:spcPts val="0"/>
                        </a:spcBef>
                        <a:spcAft>
                          <a:spcPts val="0"/>
                        </a:spcAft>
                        <a:buNone/>
                      </a:pPr>
                      <a:r>
                        <a:rPr lang="sv-SE" sz="1100"/>
                        <a:t>letters</a:t>
                      </a:r>
                      <a:endParaRPr sz="1100"/>
                    </a:p>
                  </a:txBody>
                  <a:tcPr marT="63500" marB="63500" marR="63500" marL="63500"/>
                </a:tc>
                <a:tc>
                  <a:txBody>
                    <a:bodyPr/>
                    <a:lstStyle/>
                    <a:p>
                      <a:pPr indent="0" lvl="0" marL="0" rtl="0" algn="l">
                        <a:spcBef>
                          <a:spcPts val="0"/>
                        </a:spcBef>
                        <a:spcAft>
                          <a:spcPts val="0"/>
                        </a:spcAft>
                        <a:buNone/>
                      </a:pPr>
                      <a:r>
                        <a:rPr lang="sv-SE" sz="1100"/>
                        <a:t>(1, 4), (1, 5), (6, 4), (6, 5), (6, 6), (6, 14), (6, 15), (6, 16), (6, 17)</a:t>
                      </a:r>
                      <a:endParaRPr sz="1100"/>
                    </a:p>
                  </a:txBody>
                  <a:tcPr marT="63500" marB="63500" marR="63500" marL="63500"/>
                </a:tc>
              </a:tr>
              <a:tr h="12700">
                <a:tc>
                  <a:txBody>
                    <a:bodyPr/>
                    <a:lstStyle/>
                    <a:p>
                      <a:pPr indent="0" lvl="0" marL="0" rtl="0" algn="l">
                        <a:spcBef>
                          <a:spcPts val="0"/>
                        </a:spcBef>
                        <a:spcAft>
                          <a:spcPts val="0"/>
                        </a:spcAft>
                        <a:buNone/>
                      </a:pPr>
                      <a:r>
                        <a:rPr lang="sv-SE" sz="1100"/>
                        <a:t>word</a:t>
                      </a:r>
                      <a:endParaRPr sz="1100"/>
                    </a:p>
                  </a:txBody>
                  <a:tcPr marT="63500" marB="63500" marR="63500" marL="63500"/>
                </a:tc>
                <a:tc>
                  <a:txBody>
                    <a:bodyPr/>
                    <a:lstStyle/>
                    <a:p>
                      <a:pPr indent="0" lvl="0" marL="0" rtl="0" algn="l">
                        <a:spcBef>
                          <a:spcPts val="0"/>
                        </a:spcBef>
                        <a:spcAft>
                          <a:spcPts val="0"/>
                        </a:spcAft>
                        <a:buNone/>
                      </a:pPr>
                      <a:r>
                        <a:rPr lang="sv-SE" sz="1100"/>
                        <a:t>(1, 3), (1, 5), (1, 11), (11, 3), (11, 5), (11, 11)</a:t>
                      </a:r>
                      <a:endParaRPr sz="1100"/>
                    </a:p>
                  </a:txBody>
                  <a:tcPr marT="63500" marB="63500" marR="63500" marL="63500"/>
                </a:tc>
              </a:tr>
              <a:tr h="12700">
                <a:tc>
                  <a:txBody>
                    <a:bodyPr/>
                    <a:lstStyle/>
                    <a:p>
                      <a:pPr indent="0" lvl="0" marL="0" rtl="0" algn="l">
                        <a:spcBef>
                          <a:spcPts val="0"/>
                        </a:spcBef>
                        <a:spcAft>
                          <a:spcPts val="0"/>
                        </a:spcAft>
                        <a:buNone/>
                      </a:pPr>
                      <a:r>
                        <a:rPr lang="sv-SE" sz="1100"/>
                        <a:t>lettersRemoved</a:t>
                      </a:r>
                      <a:endParaRPr sz="1100"/>
                    </a:p>
                  </a:txBody>
                  <a:tcPr marT="63500" marB="63500" marR="63500" marL="63500"/>
                </a:tc>
                <a:tc>
                  <a:txBody>
                    <a:bodyPr/>
                    <a:lstStyle/>
                    <a:p>
                      <a:pPr indent="0" lvl="0" marL="0" rtl="0" algn="l">
                        <a:spcBef>
                          <a:spcPts val="0"/>
                        </a:spcBef>
                        <a:spcAft>
                          <a:spcPts val="0"/>
                        </a:spcAft>
                        <a:buNone/>
                      </a:pPr>
                      <a:r>
                        <a:rPr lang="sv-SE" sz="1100"/>
                        <a:t>(2, 7), (7, 7), (7, 14)</a:t>
                      </a:r>
                      <a:endParaRPr sz="1100"/>
                    </a:p>
                  </a:txBody>
                  <a:tcPr marT="63500" marB="63500" marR="63500" marL="63500"/>
                </a:tc>
              </a:tr>
              <a:tr h="12700">
                <a:tc>
                  <a:txBody>
                    <a:bodyPr/>
                    <a:lstStyle/>
                    <a:p>
                      <a:pPr indent="0" lvl="0" marL="0" rtl="0" algn="l">
                        <a:spcBef>
                          <a:spcPts val="0"/>
                        </a:spcBef>
                        <a:spcAft>
                          <a:spcPts val="0"/>
                        </a:spcAft>
                        <a:buNone/>
                      </a:pPr>
                      <a:r>
                        <a:rPr lang="sv-SE" sz="1100"/>
                        <a:t>i</a:t>
                      </a:r>
                      <a:endParaRPr sz="1100"/>
                    </a:p>
                  </a:txBody>
                  <a:tcPr marT="63500" marB="63500" marR="63500" marL="63500"/>
                </a:tc>
                <a:tc>
                  <a:txBody>
                    <a:bodyPr/>
                    <a:lstStyle/>
                    <a:p>
                      <a:pPr indent="0" lvl="0" marL="0" rtl="0" algn="l">
                        <a:spcBef>
                          <a:spcPts val="0"/>
                        </a:spcBef>
                        <a:spcAft>
                          <a:spcPts val="0"/>
                        </a:spcAft>
                        <a:buNone/>
                      </a:pPr>
                      <a:r>
                        <a:rPr lang="sv-SE" sz="1100"/>
                        <a:t>(4, 5), (4, 6), (4, 4), (15, 16), (15, 15), (15, 17)</a:t>
                      </a:r>
                      <a:endParaRPr sz="1100"/>
                    </a:p>
                  </a:txBody>
                  <a:tcPr marT="63500" marB="63500" marR="63500" marL="63500"/>
                </a:tc>
              </a:tr>
              <a:tr h="12700">
                <a:tc>
                  <a:txBody>
                    <a:bodyPr/>
                    <a:lstStyle/>
                    <a:p>
                      <a:pPr indent="0" lvl="0" marL="0" rtl="0" algn="l">
                        <a:spcBef>
                          <a:spcPts val="0"/>
                        </a:spcBef>
                        <a:spcAft>
                          <a:spcPts val="0"/>
                        </a:spcAft>
                        <a:buNone/>
                      </a:pPr>
                      <a:r>
                        <a:rPr lang="sv-SE" sz="1100"/>
                        <a:t>idx</a:t>
                      </a:r>
                      <a:endParaRPr sz="1100"/>
                    </a:p>
                  </a:txBody>
                  <a:tcPr marT="63500" marB="63500" marR="63500" marL="63500"/>
                </a:tc>
                <a:tc>
                  <a:txBody>
                    <a:bodyPr/>
                    <a:lstStyle/>
                    <a:p>
                      <a:pPr indent="0" lvl="0" marL="0" rtl="0" algn="l">
                        <a:spcBef>
                          <a:spcPts val="0"/>
                        </a:spcBef>
                        <a:spcAft>
                          <a:spcPts val="0"/>
                        </a:spcAft>
                        <a:buNone/>
                      </a:pPr>
                      <a:r>
                        <a:rPr lang="sv-SE" sz="1100"/>
                        <a:t>(13, 17), (13, 18), (18, 18), (18, 17)</a:t>
                      </a:r>
                      <a:endParaRPr sz="1100"/>
                    </a:p>
                  </a:txBody>
                  <a:tcPr marT="63500" marB="63500" marR="63500" marL="63500"/>
                </a:tc>
              </a:tr>
              <a:tr h="12700">
                <a:tc>
                  <a:txBody>
                    <a:bodyPr/>
                    <a:lstStyle/>
                    <a:p>
                      <a:pPr indent="0" lvl="0" marL="0" rtl="0" algn="l">
                        <a:spcBef>
                          <a:spcPts val="0"/>
                        </a:spcBef>
                        <a:spcAft>
                          <a:spcPts val="0"/>
                        </a:spcAft>
                        <a:buNone/>
                      </a:pPr>
                      <a:r>
                        <a:rPr lang="sv-SE" sz="1100"/>
                        <a:t>output</a:t>
                      </a:r>
                      <a:endParaRPr sz="1100"/>
                    </a:p>
                  </a:txBody>
                  <a:tcPr marT="63500" marB="63500" marR="63500" marL="63500"/>
                </a:tc>
                <a:tc>
                  <a:txBody>
                    <a:bodyPr/>
                    <a:lstStyle/>
                    <a:p>
                      <a:pPr indent="0" lvl="0" marL="0" rtl="0" algn="l">
                        <a:spcBef>
                          <a:spcPts val="0"/>
                        </a:spcBef>
                        <a:spcAft>
                          <a:spcPts val="0"/>
                        </a:spcAft>
                        <a:buNone/>
                      </a:pPr>
                      <a:r>
                        <a:rPr lang="sv-SE" sz="1100"/>
                        <a:t>(17, 21) </a:t>
                      </a:r>
                      <a:endParaRPr sz="1100"/>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 Testing</a:t>
            </a:r>
            <a:endParaRPr/>
          </a:p>
        </p:txBody>
      </p:sp>
      <p:sp>
        <p:nvSpPr>
          <p:cNvPr id="383" name="Google Shape;383;p47"/>
          <p:cNvSpPr txBox="1"/>
          <p:nvPr>
            <p:ph idx="1" type="body"/>
          </p:nvPr>
        </p:nvSpPr>
        <p:spPr>
          <a:xfrm>
            <a:off x="4451700" y="1200150"/>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public String[] removeLetters(String[] letters, String word)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lettersRemoved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while(word.length()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if(letters[i].equals(word.substring(0, 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letters[i] =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break;</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word = word.substring(1);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idx = 0;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String[] output = new String[letters.length -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output[idx] = letters[i];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idx++;</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return output;</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a:t>
            </a:r>
            <a:endParaRPr b="1" sz="800">
              <a:latin typeface="Consolas"/>
              <a:ea typeface="Consolas"/>
              <a:cs typeface="Consolas"/>
              <a:sym typeface="Consolas"/>
            </a:endParaRPr>
          </a:p>
          <a:p>
            <a:pPr indent="0" lvl="0" marL="0" rtl="0" algn="l">
              <a:lnSpc>
                <a:spcPct val="120000"/>
              </a:lnSpc>
              <a:spcBef>
                <a:spcPts val="0"/>
              </a:spcBef>
              <a:spcAft>
                <a:spcPts val="0"/>
              </a:spcAft>
              <a:buNone/>
            </a:pPr>
            <a:r>
              <a:t/>
            </a:r>
            <a:endParaRPr b="1" sz="800">
              <a:latin typeface="Consolas"/>
              <a:ea typeface="Consolas"/>
              <a:cs typeface="Consolas"/>
              <a:sym typeface="Consolas"/>
            </a:endParaRPr>
          </a:p>
        </p:txBody>
      </p:sp>
      <p:sp>
        <p:nvSpPr>
          <p:cNvPr id="384" name="Google Shape;384;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85" name="Google Shape;385;p47"/>
          <p:cNvSpPr txBox="1"/>
          <p:nvPr/>
        </p:nvSpPr>
        <p:spPr>
          <a:xfrm>
            <a:off x="380125" y="1514525"/>
            <a:ext cx="3617100" cy="433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sv-SE" sz="1100"/>
              <a:t>removeLetters(["d"], "x") ➞ ["d"]</a:t>
            </a:r>
            <a:endParaRPr b="1" sz="1100"/>
          </a:p>
          <a:p>
            <a:pPr indent="0" lvl="0" marL="0" rtl="0" algn="l">
              <a:lnSpc>
                <a:spcPct val="120000"/>
              </a:lnSpc>
              <a:spcBef>
                <a:spcPts val="0"/>
              </a:spcBef>
              <a:spcAft>
                <a:spcPts val="0"/>
              </a:spcAft>
              <a:buNone/>
            </a:pPr>
            <a:r>
              <a:t/>
            </a:r>
            <a:endParaRPr b="1" sz="1100"/>
          </a:p>
          <a:p>
            <a:pPr indent="0" lvl="0" marL="0" rtl="0" algn="l">
              <a:spcBef>
                <a:spcPts val="0"/>
              </a:spcBef>
              <a:spcAft>
                <a:spcPts val="0"/>
              </a:spcAft>
              <a:buNone/>
            </a:pPr>
            <a:r>
              <a:t/>
            </a:r>
            <a:endParaRPr/>
          </a:p>
        </p:txBody>
      </p:sp>
      <p:graphicFrame>
        <p:nvGraphicFramePr>
          <p:cNvPr id="386" name="Google Shape;386;p47"/>
          <p:cNvGraphicFramePr/>
          <p:nvPr/>
        </p:nvGraphicFramePr>
        <p:xfrm>
          <a:off x="259325" y="2233600"/>
          <a:ext cx="3000000" cy="3000000"/>
        </p:xfrm>
        <a:graphic>
          <a:graphicData uri="http://schemas.openxmlformats.org/drawingml/2006/table">
            <a:tbl>
              <a:tblPr>
                <a:noFill/>
                <a:tableStyleId>{C9EB1461-ABD7-4C77-8ECE-06A745F3CEBD}</a:tableStyleId>
              </a:tblPr>
              <a:tblGrid>
                <a:gridCol w="1125525"/>
                <a:gridCol w="2845650"/>
              </a:tblGrid>
              <a:tr h="12700">
                <a:tc>
                  <a:txBody>
                    <a:bodyPr/>
                    <a:lstStyle/>
                    <a:p>
                      <a:pPr indent="0" lvl="0" marL="0" rtl="0" algn="l">
                        <a:spcBef>
                          <a:spcPts val="0"/>
                        </a:spcBef>
                        <a:spcAft>
                          <a:spcPts val="0"/>
                        </a:spcAft>
                        <a:buNone/>
                      </a:pPr>
                      <a:r>
                        <a:rPr b="1" lang="sv-SE" sz="1100"/>
                        <a:t>Variable</a:t>
                      </a:r>
                      <a:endParaRPr b="1" sz="1100"/>
                    </a:p>
                  </a:txBody>
                  <a:tcPr marT="63500" marB="63500" marR="63500" marL="63500"/>
                </a:tc>
                <a:tc>
                  <a:txBody>
                    <a:bodyPr/>
                    <a:lstStyle/>
                    <a:p>
                      <a:pPr indent="0" lvl="0" marL="0" rtl="0" algn="l">
                        <a:spcBef>
                          <a:spcPts val="0"/>
                        </a:spcBef>
                        <a:spcAft>
                          <a:spcPts val="0"/>
                        </a:spcAft>
                        <a:buNone/>
                      </a:pPr>
                      <a:r>
                        <a:rPr b="1" lang="sv-SE" sz="1100"/>
                        <a:t>New D-U Pairs Covered</a:t>
                      </a:r>
                      <a:endParaRPr b="1" sz="1100"/>
                    </a:p>
                  </a:txBody>
                  <a:tcPr marT="63500" marB="63500" marR="63500" marL="63500"/>
                </a:tc>
              </a:tr>
              <a:tr h="12700">
                <a:tc>
                  <a:txBody>
                    <a:bodyPr/>
                    <a:lstStyle/>
                    <a:p>
                      <a:pPr indent="0" lvl="0" marL="0" rtl="0" algn="l">
                        <a:spcBef>
                          <a:spcPts val="0"/>
                        </a:spcBef>
                        <a:spcAft>
                          <a:spcPts val="0"/>
                        </a:spcAft>
                        <a:buNone/>
                      </a:pPr>
                      <a:r>
                        <a:rPr lang="sv-SE" sz="1100"/>
                        <a:t>letters</a:t>
                      </a:r>
                      <a:endParaRPr sz="1100"/>
                    </a:p>
                  </a:txBody>
                  <a:tcPr marT="63500" marB="63500" marR="63500" marL="63500"/>
                </a:tc>
                <a:tc>
                  <a:txBody>
                    <a:bodyPr/>
                    <a:lstStyle/>
                    <a:p>
                      <a:pPr indent="0" lvl="0" marL="0" rtl="0" algn="l">
                        <a:spcBef>
                          <a:spcPts val="0"/>
                        </a:spcBef>
                        <a:spcAft>
                          <a:spcPts val="0"/>
                        </a:spcAft>
                        <a:buNone/>
                      </a:pPr>
                      <a:r>
                        <a:rPr lang="sv-SE" sz="1100"/>
                        <a:t>(1, 14), (1, 15), (1, 16), (1, 17)</a:t>
                      </a:r>
                      <a:endParaRPr sz="1100"/>
                    </a:p>
                  </a:txBody>
                  <a:tcPr marT="63500" marB="63500" marR="63500" marL="63500"/>
                </a:tc>
              </a:tr>
              <a:tr h="12700">
                <a:tc>
                  <a:txBody>
                    <a:bodyPr/>
                    <a:lstStyle/>
                    <a:p>
                      <a:pPr indent="0" lvl="0" marL="0" rtl="0" algn="l">
                        <a:spcBef>
                          <a:spcPts val="0"/>
                        </a:spcBef>
                        <a:spcAft>
                          <a:spcPts val="0"/>
                        </a:spcAft>
                        <a:buNone/>
                      </a:pPr>
                      <a:r>
                        <a:rPr lang="sv-SE" sz="1100"/>
                        <a:t>lettersRemoved</a:t>
                      </a:r>
                      <a:endParaRPr sz="1100"/>
                    </a:p>
                  </a:txBody>
                  <a:tcPr marT="63500" marB="63500" marR="63500" marL="63500"/>
                </a:tc>
                <a:tc>
                  <a:txBody>
                    <a:bodyPr/>
                    <a:lstStyle/>
                    <a:p>
                      <a:pPr indent="0" lvl="0" marL="0" rtl="0" algn="l">
                        <a:spcBef>
                          <a:spcPts val="0"/>
                        </a:spcBef>
                        <a:spcAft>
                          <a:spcPts val="0"/>
                        </a:spcAft>
                        <a:buNone/>
                      </a:pPr>
                      <a:r>
                        <a:rPr lang="sv-SE" sz="1100"/>
                        <a:t>(2, 14)</a:t>
                      </a:r>
                      <a:endParaRPr sz="1100"/>
                    </a:p>
                  </a:txBody>
                  <a:tcPr marT="63500" marB="63500" marR="63500" marL="635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 Testing</a:t>
            </a:r>
            <a:endParaRPr/>
          </a:p>
        </p:txBody>
      </p:sp>
      <p:sp>
        <p:nvSpPr>
          <p:cNvPr id="392" name="Google Shape;392;p48"/>
          <p:cNvSpPr txBox="1"/>
          <p:nvPr>
            <p:ph idx="1" type="body"/>
          </p:nvPr>
        </p:nvSpPr>
        <p:spPr>
          <a:xfrm>
            <a:off x="4451700" y="1200150"/>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public String[] removeLetters(String[] letters, String word)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lettersRemoved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while(word.length() != 0){</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if(letters[i].equals(word.substring(0, 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letters[i] =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break;</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word = word.substring(1);</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int idx = 0;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String[] output = new String[letters.length - lettersRemoved];</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for(int i = 0; i &lt; letters.length; 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if(!letters[i].equals("")){</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output[idx] = letters[i];</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idx++;</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   return output;</a:t>
            </a:r>
            <a:endParaRPr sz="800">
              <a:latin typeface="Consolas"/>
              <a:ea typeface="Consolas"/>
              <a:cs typeface="Consolas"/>
              <a:sym typeface="Consolas"/>
            </a:endParaRPr>
          </a:p>
          <a:p>
            <a:pPr indent="-279400" lvl="0" marL="457200" rtl="0" algn="l">
              <a:lnSpc>
                <a:spcPct val="120000"/>
              </a:lnSpc>
              <a:spcBef>
                <a:spcPts val="0"/>
              </a:spcBef>
              <a:spcAft>
                <a:spcPts val="0"/>
              </a:spcAft>
              <a:buSzPts val="800"/>
              <a:buFont typeface="Consolas"/>
              <a:buAutoNum type="arabicPeriod"/>
            </a:pPr>
            <a:r>
              <a:rPr lang="sv-SE" sz="800">
                <a:latin typeface="Consolas"/>
                <a:ea typeface="Consolas"/>
                <a:cs typeface="Consolas"/>
                <a:sym typeface="Consolas"/>
              </a:rPr>
              <a:t>}</a:t>
            </a:r>
            <a:endParaRPr b="1" sz="800">
              <a:latin typeface="Consolas"/>
              <a:ea typeface="Consolas"/>
              <a:cs typeface="Consolas"/>
              <a:sym typeface="Consolas"/>
            </a:endParaRPr>
          </a:p>
          <a:p>
            <a:pPr indent="0" lvl="0" marL="0" rtl="0" algn="l">
              <a:lnSpc>
                <a:spcPct val="120000"/>
              </a:lnSpc>
              <a:spcBef>
                <a:spcPts val="0"/>
              </a:spcBef>
              <a:spcAft>
                <a:spcPts val="0"/>
              </a:spcAft>
              <a:buNone/>
            </a:pPr>
            <a:r>
              <a:t/>
            </a:r>
            <a:endParaRPr b="1" sz="800">
              <a:latin typeface="Consolas"/>
              <a:ea typeface="Consolas"/>
              <a:cs typeface="Consolas"/>
              <a:sym typeface="Consolas"/>
            </a:endParaRPr>
          </a:p>
        </p:txBody>
      </p:sp>
      <p:sp>
        <p:nvSpPr>
          <p:cNvPr id="393" name="Google Shape;393;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94" name="Google Shape;394;p48"/>
          <p:cNvSpPr txBox="1"/>
          <p:nvPr/>
        </p:nvSpPr>
        <p:spPr>
          <a:xfrm>
            <a:off x="380125" y="1514525"/>
            <a:ext cx="3617100" cy="433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sv-SE" sz="1100"/>
              <a:t>removeLetters(["d"], "d") ➞ [ ]</a:t>
            </a:r>
            <a:endParaRPr b="1" sz="1100"/>
          </a:p>
          <a:p>
            <a:pPr indent="0" lvl="0" marL="0" rtl="0" algn="l">
              <a:lnSpc>
                <a:spcPct val="120000"/>
              </a:lnSpc>
              <a:spcBef>
                <a:spcPts val="0"/>
              </a:spcBef>
              <a:spcAft>
                <a:spcPts val="0"/>
              </a:spcAft>
              <a:buNone/>
            </a:pPr>
            <a:r>
              <a:t/>
            </a:r>
            <a:endParaRPr b="1" sz="1100"/>
          </a:p>
          <a:p>
            <a:pPr indent="0" lvl="0" marL="0" rtl="0" algn="l">
              <a:lnSpc>
                <a:spcPct val="120000"/>
              </a:lnSpc>
              <a:spcBef>
                <a:spcPts val="0"/>
              </a:spcBef>
              <a:spcAft>
                <a:spcPts val="0"/>
              </a:spcAft>
              <a:buNone/>
            </a:pPr>
            <a:r>
              <a:t/>
            </a:r>
            <a:endParaRPr b="1" sz="1100"/>
          </a:p>
          <a:p>
            <a:pPr indent="0" lvl="0" marL="0" rtl="0" algn="l">
              <a:spcBef>
                <a:spcPts val="0"/>
              </a:spcBef>
              <a:spcAft>
                <a:spcPts val="0"/>
              </a:spcAft>
              <a:buNone/>
            </a:pPr>
            <a:r>
              <a:t/>
            </a:r>
            <a:endParaRPr/>
          </a:p>
        </p:txBody>
      </p:sp>
      <p:graphicFrame>
        <p:nvGraphicFramePr>
          <p:cNvPr id="395" name="Google Shape;395;p48"/>
          <p:cNvGraphicFramePr/>
          <p:nvPr/>
        </p:nvGraphicFramePr>
        <p:xfrm>
          <a:off x="182100" y="2180150"/>
          <a:ext cx="3000000" cy="3000000"/>
        </p:xfrm>
        <a:graphic>
          <a:graphicData uri="http://schemas.openxmlformats.org/drawingml/2006/table">
            <a:tbl>
              <a:tblPr>
                <a:noFill/>
                <a:tableStyleId>{C9EB1461-ABD7-4C77-8ECE-06A745F3CEBD}</a:tableStyleId>
              </a:tblPr>
              <a:tblGrid>
                <a:gridCol w="938825"/>
                <a:gridCol w="3000300"/>
              </a:tblGrid>
              <a:tr h="12700">
                <a:tc>
                  <a:txBody>
                    <a:bodyPr/>
                    <a:lstStyle/>
                    <a:p>
                      <a:pPr indent="0" lvl="0" marL="0" rtl="0" algn="l">
                        <a:spcBef>
                          <a:spcPts val="0"/>
                        </a:spcBef>
                        <a:spcAft>
                          <a:spcPts val="0"/>
                        </a:spcAft>
                        <a:buNone/>
                      </a:pPr>
                      <a:r>
                        <a:rPr b="1" lang="sv-SE" sz="1100"/>
                        <a:t>Variable</a:t>
                      </a:r>
                      <a:endParaRPr b="1" sz="1100"/>
                    </a:p>
                  </a:txBody>
                  <a:tcPr marT="63500" marB="63500" marR="63500" marL="63500"/>
                </a:tc>
                <a:tc>
                  <a:txBody>
                    <a:bodyPr/>
                    <a:lstStyle/>
                    <a:p>
                      <a:pPr indent="0" lvl="0" marL="0" rtl="0" algn="l">
                        <a:spcBef>
                          <a:spcPts val="0"/>
                        </a:spcBef>
                        <a:spcAft>
                          <a:spcPts val="0"/>
                        </a:spcAft>
                        <a:buNone/>
                      </a:pPr>
                      <a:r>
                        <a:rPr b="1" lang="sv-SE" sz="1100"/>
                        <a:t>New D-U Pairs Covered</a:t>
                      </a:r>
                      <a:endParaRPr b="1" sz="1100"/>
                    </a:p>
                  </a:txBody>
                  <a:tcPr marT="63500" marB="63500" marR="63500" marL="63500"/>
                </a:tc>
              </a:tr>
              <a:tr h="12700">
                <a:tc>
                  <a:txBody>
                    <a:bodyPr/>
                    <a:lstStyle/>
                    <a:p>
                      <a:pPr indent="0" lvl="0" marL="0" rtl="0" algn="l">
                        <a:spcBef>
                          <a:spcPts val="0"/>
                        </a:spcBef>
                        <a:spcAft>
                          <a:spcPts val="0"/>
                        </a:spcAft>
                        <a:buNone/>
                      </a:pPr>
                      <a:r>
                        <a:rPr lang="sv-SE" sz="1100"/>
                        <a:t>output</a:t>
                      </a:r>
                      <a:endParaRPr sz="1100"/>
                    </a:p>
                  </a:txBody>
                  <a:tcPr marT="63500" marB="63500" marR="63500" marL="63500"/>
                </a:tc>
                <a:tc>
                  <a:txBody>
                    <a:bodyPr/>
                    <a:lstStyle/>
                    <a:p>
                      <a:pPr indent="0" lvl="0" marL="0" rtl="0" algn="l">
                        <a:spcBef>
                          <a:spcPts val="0"/>
                        </a:spcBef>
                        <a:spcAft>
                          <a:spcPts val="0"/>
                        </a:spcAft>
                        <a:buNone/>
                      </a:pPr>
                      <a:r>
                        <a:rPr lang="sv-SE" sz="1100"/>
                        <a:t>(14, 21)</a:t>
                      </a:r>
                      <a:endParaRPr sz="1100"/>
                    </a:p>
                  </a:txBody>
                  <a:tcPr marT="63500" marB="63500" marR="63500" marL="63500"/>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 Testing</a:t>
            </a:r>
            <a:endParaRPr/>
          </a:p>
        </p:txBody>
      </p:sp>
      <p:sp>
        <p:nvSpPr>
          <p:cNvPr id="401" name="Google Shape;401;p49"/>
          <p:cNvSpPr txBox="1"/>
          <p:nvPr>
            <p:ph idx="1" type="body"/>
          </p:nvPr>
        </p:nvSpPr>
        <p:spPr>
          <a:xfrm>
            <a:off x="468895" y="1282400"/>
            <a:ext cx="39093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Identify all DU pairs and write test cases to achieve All DU Pair Coverage.</a:t>
            </a:r>
            <a:endParaRPr/>
          </a:p>
        </p:txBody>
      </p:sp>
      <p:sp>
        <p:nvSpPr>
          <p:cNvPr id="402" name="Google Shape;402;p49"/>
          <p:cNvSpPr txBox="1"/>
          <p:nvPr>
            <p:ph idx="1" type="body"/>
          </p:nvPr>
        </p:nvSpPr>
        <p:spPr>
          <a:xfrm>
            <a:off x="4451700" y="1200150"/>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public static boolean canPartition(int[] arr)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Arrays.sort(arr);</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int product = 1;</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if ((Math.abs(arr[0]) &gt;= arr[arr.length-1]) || arr[0] == 0)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for (int i = 1; i &lt; arr.length; i++){</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product *= arr[i];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return arr[0] == product;</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 else{</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for (int i = 0; i &lt; arr.length-1; i++){</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product *= arr[i];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return arr[arr.length-1] == product;</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a:t>
            </a:r>
            <a:endParaRPr b="1" sz="1100">
              <a:latin typeface="Consolas"/>
              <a:ea typeface="Consolas"/>
              <a:cs typeface="Consolas"/>
              <a:sym typeface="Consolas"/>
            </a:endParaRPr>
          </a:p>
          <a:p>
            <a:pPr indent="0" lvl="0" marL="0" rtl="0" algn="l">
              <a:lnSpc>
                <a:spcPct val="120000"/>
              </a:lnSpc>
              <a:spcBef>
                <a:spcPts val="0"/>
              </a:spcBef>
              <a:spcAft>
                <a:spcPts val="0"/>
              </a:spcAft>
              <a:buNone/>
            </a:pPr>
            <a:r>
              <a:t/>
            </a:r>
            <a:endParaRPr b="1" sz="1100">
              <a:latin typeface="Consolas"/>
              <a:ea typeface="Consolas"/>
              <a:cs typeface="Consolas"/>
              <a:sym typeface="Consolas"/>
            </a:endParaRPr>
          </a:p>
        </p:txBody>
      </p:sp>
      <p:sp>
        <p:nvSpPr>
          <p:cNvPr id="403" name="Google Shape;403;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 Testing</a:t>
            </a:r>
            <a:endParaRPr/>
          </a:p>
        </p:txBody>
      </p:sp>
      <p:sp>
        <p:nvSpPr>
          <p:cNvPr id="409" name="Google Shape;409;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10" name="Google Shape;410;p50"/>
          <p:cNvSpPr txBox="1"/>
          <p:nvPr>
            <p:ph idx="1" type="body"/>
          </p:nvPr>
        </p:nvSpPr>
        <p:spPr>
          <a:xfrm>
            <a:off x="410400" y="1209925"/>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public static boolean canPartition(int[] arr)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Arrays.sort(arr);</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int product = 1;</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if ((Math.abs(arr[0]) &gt;= arr[arr.length-1]) || arr[0] == 0)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for (int i = 1; i &lt; arr.length; i++){</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product *= arr[i];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return arr[0] == product;</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 else{</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for (int i = 0; i &lt; arr.length-1; i++){</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product *= arr[i];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return arr[arr.length-1] == product;</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a:t>
            </a:r>
            <a:endParaRPr b="1" sz="1100">
              <a:latin typeface="Consolas"/>
              <a:ea typeface="Consolas"/>
              <a:cs typeface="Consolas"/>
              <a:sym typeface="Consolas"/>
            </a:endParaRPr>
          </a:p>
          <a:p>
            <a:pPr indent="0" lvl="0" marL="0" rtl="0" algn="l">
              <a:lnSpc>
                <a:spcPct val="120000"/>
              </a:lnSpc>
              <a:spcBef>
                <a:spcPts val="0"/>
              </a:spcBef>
              <a:spcAft>
                <a:spcPts val="0"/>
              </a:spcAft>
              <a:buNone/>
            </a:pPr>
            <a:r>
              <a:t/>
            </a:r>
            <a:endParaRPr b="1" sz="1100">
              <a:latin typeface="Consolas"/>
              <a:ea typeface="Consolas"/>
              <a:cs typeface="Consolas"/>
              <a:sym typeface="Consolas"/>
            </a:endParaRPr>
          </a:p>
        </p:txBody>
      </p:sp>
      <p:graphicFrame>
        <p:nvGraphicFramePr>
          <p:cNvPr id="411" name="Google Shape;411;p50"/>
          <p:cNvGraphicFramePr/>
          <p:nvPr/>
        </p:nvGraphicFramePr>
        <p:xfrm>
          <a:off x="5029500" y="2168025"/>
          <a:ext cx="3000000" cy="3000000"/>
        </p:xfrm>
        <a:graphic>
          <a:graphicData uri="http://schemas.openxmlformats.org/drawingml/2006/table">
            <a:tbl>
              <a:tblPr>
                <a:noFill/>
                <a:tableStyleId>{C9EB1461-ABD7-4C77-8ECE-06A745F3CEBD}</a:tableStyleId>
              </a:tblPr>
              <a:tblGrid>
                <a:gridCol w="936100"/>
                <a:gridCol w="2721200"/>
              </a:tblGrid>
              <a:tr h="503575">
                <a:tc>
                  <a:txBody>
                    <a:bodyPr/>
                    <a:lstStyle/>
                    <a:p>
                      <a:pPr indent="0" lvl="0" marL="0" rtl="0" algn="l">
                        <a:spcBef>
                          <a:spcPts val="0"/>
                        </a:spcBef>
                        <a:spcAft>
                          <a:spcPts val="0"/>
                        </a:spcAft>
                        <a:buNone/>
                      </a:pPr>
                      <a:r>
                        <a:rPr lang="sv-SE" sz="1100"/>
                        <a:t>arr</a:t>
                      </a:r>
                      <a:endParaRPr sz="1100"/>
                    </a:p>
                  </a:txBody>
                  <a:tcPr marT="63500" marB="63500" marR="63500" marL="63500"/>
                </a:tc>
                <a:tc>
                  <a:txBody>
                    <a:bodyPr/>
                    <a:lstStyle/>
                    <a:p>
                      <a:pPr indent="0" lvl="0" marL="0" rtl="0" algn="l">
                        <a:spcBef>
                          <a:spcPts val="0"/>
                        </a:spcBef>
                        <a:spcAft>
                          <a:spcPts val="0"/>
                        </a:spcAft>
                        <a:buNone/>
                      </a:pPr>
                      <a:r>
                        <a:rPr lang="sv-SE" sz="1100"/>
                        <a:t>(1, 2), (2, 4), (2, 5), (2, 6), (2, 8), (2, 10), (2, 11), (2, 13)</a:t>
                      </a:r>
                      <a:endParaRPr sz="1100"/>
                    </a:p>
                  </a:txBody>
                  <a:tcPr marT="63500" marB="63500" marR="63500" marL="63500"/>
                </a:tc>
              </a:tr>
              <a:tr h="12700">
                <a:tc>
                  <a:txBody>
                    <a:bodyPr/>
                    <a:lstStyle/>
                    <a:p>
                      <a:pPr indent="0" lvl="0" marL="0" rtl="0" algn="l">
                        <a:spcBef>
                          <a:spcPts val="0"/>
                        </a:spcBef>
                        <a:spcAft>
                          <a:spcPts val="0"/>
                        </a:spcAft>
                        <a:buNone/>
                      </a:pPr>
                      <a:r>
                        <a:rPr lang="sv-SE" sz="1100"/>
                        <a:t>product</a:t>
                      </a:r>
                      <a:endParaRPr sz="1100"/>
                    </a:p>
                  </a:txBody>
                  <a:tcPr marT="63500" marB="63500" marR="63500" marL="63500"/>
                </a:tc>
                <a:tc>
                  <a:txBody>
                    <a:bodyPr/>
                    <a:lstStyle/>
                    <a:p>
                      <a:pPr indent="0" lvl="0" marL="0" rtl="0" algn="l">
                        <a:spcBef>
                          <a:spcPts val="0"/>
                        </a:spcBef>
                        <a:spcAft>
                          <a:spcPts val="0"/>
                        </a:spcAft>
                        <a:buNone/>
                      </a:pPr>
                      <a:r>
                        <a:rPr lang="sv-SE" sz="1100"/>
                        <a:t>(3, 6), (6, 6), (3, 8), (6, 8), (3, 11), (11, 11), (11, 13)</a:t>
                      </a:r>
                      <a:endParaRPr sz="1100"/>
                    </a:p>
                  </a:txBody>
                  <a:tcPr marT="63500" marB="63500" marR="63500" marL="63500"/>
                </a:tc>
              </a:tr>
              <a:tr h="12700">
                <a:tc>
                  <a:txBody>
                    <a:bodyPr/>
                    <a:lstStyle/>
                    <a:p>
                      <a:pPr indent="0" lvl="0" marL="0" rtl="0" algn="l">
                        <a:spcBef>
                          <a:spcPts val="0"/>
                        </a:spcBef>
                        <a:spcAft>
                          <a:spcPts val="0"/>
                        </a:spcAft>
                        <a:buNone/>
                      </a:pPr>
                      <a:r>
                        <a:rPr lang="sv-SE" sz="1100"/>
                        <a:t>i</a:t>
                      </a:r>
                      <a:endParaRPr sz="1100"/>
                    </a:p>
                  </a:txBody>
                  <a:tcPr marT="63500" marB="63500" marR="63500" marL="63500"/>
                </a:tc>
                <a:tc>
                  <a:txBody>
                    <a:bodyPr/>
                    <a:lstStyle/>
                    <a:p>
                      <a:pPr indent="0" lvl="0" marL="0" rtl="0" algn="l">
                        <a:spcBef>
                          <a:spcPts val="0"/>
                        </a:spcBef>
                        <a:spcAft>
                          <a:spcPts val="0"/>
                        </a:spcAft>
                        <a:buNone/>
                      </a:pPr>
                      <a:r>
                        <a:rPr lang="sv-SE" sz="1100"/>
                        <a:t>(5, 5), (5, 6), (10, 10), (10, 11)</a:t>
                      </a:r>
                      <a:endParaRPr sz="1100"/>
                    </a:p>
                  </a:txBody>
                  <a:tcPr marT="63500" marB="63500" marR="63500" marL="63500"/>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 Flow Testing</a:t>
            </a:r>
            <a:endParaRPr/>
          </a:p>
        </p:txBody>
      </p:sp>
      <p:sp>
        <p:nvSpPr>
          <p:cNvPr id="417" name="Google Shape;417;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18" name="Google Shape;418;p51"/>
          <p:cNvSpPr txBox="1"/>
          <p:nvPr>
            <p:ph idx="1" type="body"/>
          </p:nvPr>
        </p:nvSpPr>
        <p:spPr>
          <a:xfrm>
            <a:off x="305425" y="1150875"/>
            <a:ext cx="4444500" cy="37257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public static boolean canPartition(int[] arr)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Arrays.sort(arr);</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int product = 1;</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if ((Math.abs(arr[0]) &gt;= arr[arr.length-1]) || arr[0] == 0)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for (int i = 1; i &lt; arr.length; i++){</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product *= arr[i];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return arr[0] == product;</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 else{</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for (int i = 0; i &lt; arr.length-1; i++){</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product *= arr[i];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return arr[arr.length-1] == product;</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    }</a:t>
            </a:r>
            <a:endParaRPr b="1"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b="1" lang="sv-SE" sz="1100">
                <a:latin typeface="Consolas"/>
                <a:ea typeface="Consolas"/>
                <a:cs typeface="Consolas"/>
                <a:sym typeface="Consolas"/>
              </a:rPr>
              <a:t>}</a:t>
            </a:r>
            <a:endParaRPr b="1" sz="1100">
              <a:latin typeface="Consolas"/>
              <a:ea typeface="Consolas"/>
              <a:cs typeface="Consolas"/>
              <a:sym typeface="Consolas"/>
            </a:endParaRPr>
          </a:p>
          <a:p>
            <a:pPr indent="0" lvl="0" marL="0" rtl="0" algn="l">
              <a:lnSpc>
                <a:spcPct val="120000"/>
              </a:lnSpc>
              <a:spcBef>
                <a:spcPts val="0"/>
              </a:spcBef>
              <a:spcAft>
                <a:spcPts val="0"/>
              </a:spcAft>
              <a:buNone/>
            </a:pPr>
            <a:r>
              <a:t/>
            </a:r>
            <a:endParaRPr b="1" sz="1100">
              <a:latin typeface="Consolas"/>
              <a:ea typeface="Consolas"/>
              <a:cs typeface="Consolas"/>
              <a:sym typeface="Consolas"/>
            </a:endParaRPr>
          </a:p>
        </p:txBody>
      </p:sp>
      <p:graphicFrame>
        <p:nvGraphicFramePr>
          <p:cNvPr id="419" name="Google Shape;419;p51"/>
          <p:cNvGraphicFramePr/>
          <p:nvPr/>
        </p:nvGraphicFramePr>
        <p:xfrm>
          <a:off x="5029500" y="685325"/>
          <a:ext cx="3000000" cy="3000000"/>
        </p:xfrm>
        <a:graphic>
          <a:graphicData uri="http://schemas.openxmlformats.org/drawingml/2006/table">
            <a:tbl>
              <a:tblPr>
                <a:noFill/>
                <a:tableStyleId>{C9EB1461-ABD7-4C77-8ECE-06A745F3CEBD}</a:tableStyleId>
              </a:tblPr>
              <a:tblGrid>
                <a:gridCol w="936100"/>
                <a:gridCol w="2721200"/>
              </a:tblGrid>
              <a:tr h="503575">
                <a:tc>
                  <a:txBody>
                    <a:bodyPr/>
                    <a:lstStyle/>
                    <a:p>
                      <a:pPr indent="0" lvl="0" marL="0" rtl="0" algn="l">
                        <a:spcBef>
                          <a:spcPts val="0"/>
                        </a:spcBef>
                        <a:spcAft>
                          <a:spcPts val="0"/>
                        </a:spcAft>
                        <a:buNone/>
                      </a:pPr>
                      <a:r>
                        <a:rPr lang="sv-SE" sz="1100"/>
                        <a:t>arr</a:t>
                      </a:r>
                      <a:endParaRPr sz="1100"/>
                    </a:p>
                  </a:txBody>
                  <a:tcPr marT="63500" marB="63500" marR="63500" marL="63500"/>
                </a:tc>
                <a:tc>
                  <a:txBody>
                    <a:bodyPr/>
                    <a:lstStyle/>
                    <a:p>
                      <a:pPr indent="0" lvl="0" marL="0" rtl="0" algn="l">
                        <a:spcBef>
                          <a:spcPts val="0"/>
                        </a:spcBef>
                        <a:spcAft>
                          <a:spcPts val="0"/>
                        </a:spcAft>
                        <a:buNone/>
                      </a:pPr>
                      <a:r>
                        <a:rPr lang="sv-SE" sz="1100"/>
                        <a:t>(1, 2), (2, 4), (2, 5), (2, 6), (2, 8), (2, 10), (2, 11), (2, 13)</a:t>
                      </a:r>
                      <a:endParaRPr sz="1100"/>
                    </a:p>
                  </a:txBody>
                  <a:tcPr marT="63500" marB="63500" marR="63500" marL="63500"/>
                </a:tc>
              </a:tr>
              <a:tr h="12700">
                <a:tc>
                  <a:txBody>
                    <a:bodyPr/>
                    <a:lstStyle/>
                    <a:p>
                      <a:pPr indent="0" lvl="0" marL="0" rtl="0" algn="l">
                        <a:spcBef>
                          <a:spcPts val="0"/>
                        </a:spcBef>
                        <a:spcAft>
                          <a:spcPts val="0"/>
                        </a:spcAft>
                        <a:buNone/>
                      </a:pPr>
                      <a:r>
                        <a:rPr lang="sv-SE" sz="1100"/>
                        <a:t>product</a:t>
                      </a:r>
                      <a:endParaRPr sz="1100"/>
                    </a:p>
                  </a:txBody>
                  <a:tcPr marT="63500" marB="63500" marR="63500" marL="63500"/>
                </a:tc>
                <a:tc>
                  <a:txBody>
                    <a:bodyPr/>
                    <a:lstStyle/>
                    <a:p>
                      <a:pPr indent="0" lvl="0" marL="0" rtl="0" algn="l">
                        <a:spcBef>
                          <a:spcPts val="0"/>
                        </a:spcBef>
                        <a:spcAft>
                          <a:spcPts val="0"/>
                        </a:spcAft>
                        <a:buNone/>
                      </a:pPr>
                      <a:r>
                        <a:rPr lang="sv-SE" sz="1100"/>
                        <a:t>(3, 6), (6, 6), (3, 8), (6, 8), (3, 11), (11, 11), (11, 13)</a:t>
                      </a:r>
                      <a:endParaRPr sz="1100"/>
                    </a:p>
                  </a:txBody>
                  <a:tcPr marT="63500" marB="63500" marR="63500" marL="63500"/>
                </a:tc>
              </a:tr>
              <a:tr h="12700">
                <a:tc>
                  <a:txBody>
                    <a:bodyPr/>
                    <a:lstStyle/>
                    <a:p>
                      <a:pPr indent="0" lvl="0" marL="0" rtl="0" algn="l">
                        <a:spcBef>
                          <a:spcPts val="0"/>
                        </a:spcBef>
                        <a:spcAft>
                          <a:spcPts val="0"/>
                        </a:spcAft>
                        <a:buNone/>
                      </a:pPr>
                      <a:r>
                        <a:rPr lang="sv-SE" sz="1100"/>
                        <a:t>i</a:t>
                      </a:r>
                      <a:endParaRPr sz="1100"/>
                    </a:p>
                  </a:txBody>
                  <a:tcPr marT="63500" marB="63500" marR="63500" marL="63500"/>
                </a:tc>
                <a:tc>
                  <a:txBody>
                    <a:bodyPr/>
                    <a:lstStyle/>
                    <a:p>
                      <a:pPr indent="0" lvl="0" marL="0" rtl="0" algn="l">
                        <a:spcBef>
                          <a:spcPts val="0"/>
                        </a:spcBef>
                        <a:spcAft>
                          <a:spcPts val="0"/>
                        </a:spcAft>
                        <a:buNone/>
                      </a:pPr>
                      <a:r>
                        <a:rPr lang="sv-SE" sz="1100"/>
                        <a:t>(5, 5), (5, 6), (10, 10), (10, 11)</a:t>
                      </a:r>
                      <a:endParaRPr sz="1100"/>
                    </a:p>
                  </a:txBody>
                  <a:tcPr marT="63500" marB="63500" marR="63500" marL="63500"/>
                </a:tc>
              </a:tr>
            </a:tbl>
          </a:graphicData>
        </a:graphic>
      </p:graphicFrame>
      <p:graphicFrame>
        <p:nvGraphicFramePr>
          <p:cNvPr id="420" name="Google Shape;420;p51"/>
          <p:cNvGraphicFramePr/>
          <p:nvPr/>
        </p:nvGraphicFramePr>
        <p:xfrm>
          <a:off x="4900475" y="2235875"/>
          <a:ext cx="3000000" cy="3000000"/>
        </p:xfrm>
        <a:graphic>
          <a:graphicData uri="http://schemas.openxmlformats.org/drawingml/2006/table">
            <a:tbl>
              <a:tblPr>
                <a:noFill/>
                <a:tableStyleId>{C9EB1461-ABD7-4C77-8ECE-06A745F3CEBD}</a:tableStyleId>
              </a:tblPr>
              <a:tblGrid>
                <a:gridCol w="1474875"/>
                <a:gridCol w="2606250"/>
              </a:tblGrid>
              <a:tr h="12700">
                <a:tc>
                  <a:txBody>
                    <a:bodyPr/>
                    <a:lstStyle/>
                    <a:p>
                      <a:pPr indent="0" lvl="0" marL="0" rtl="0" algn="l">
                        <a:spcBef>
                          <a:spcPts val="0"/>
                        </a:spcBef>
                        <a:spcAft>
                          <a:spcPts val="0"/>
                        </a:spcAft>
                        <a:buNone/>
                      </a:pPr>
                      <a:r>
                        <a:rPr b="1" lang="sv-SE" sz="1000"/>
                        <a:t>Input</a:t>
                      </a:r>
                      <a:endParaRPr b="1" sz="1000"/>
                    </a:p>
                  </a:txBody>
                  <a:tcPr marT="63500" marB="63500" marR="63500" marL="63500"/>
                </a:tc>
                <a:tc>
                  <a:txBody>
                    <a:bodyPr/>
                    <a:lstStyle/>
                    <a:p>
                      <a:pPr indent="0" lvl="0" marL="0" rtl="0" algn="l">
                        <a:spcBef>
                          <a:spcPts val="0"/>
                        </a:spcBef>
                        <a:spcAft>
                          <a:spcPts val="0"/>
                        </a:spcAft>
                        <a:buNone/>
                      </a:pPr>
                      <a:r>
                        <a:rPr b="1" lang="sv-SE" sz="1000"/>
                        <a:t>Additional DU Pairs Covered</a:t>
                      </a:r>
                      <a:endParaRPr b="1" sz="1000"/>
                    </a:p>
                  </a:txBody>
                  <a:tcPr marT="63500" marB="63500" marR="63500" marL="63500"/>
                </a:tc>
              </a:tr>
              <a:tr h="12700">
                <a:tc>
                  <a:txBody>
                    <a:bodyPr/>
                    <a:lstStyle/>
                    <a:p>
                      <a:pPr indent="0" lvl="0" marL="0" rtl="0" algn="l">
                        <a:lnSpc>
                          <a:spcPct val="120000"/>
                        </a:lnSpc>
                        <a:spcBef>
                          <a:spcPts val="0"/>
                        </a:spcBef>
                        <a:spcAft>
                          <a:spcPts val="0"/>
                        </a:spcAft>
                        <a:buNone/>
                      </a:pPr>
                      <a:r>
                        <a:rPr b="1" lang="sv-SE" sz="1100">
                          <a:latin typeface="Consolas"/>
                          <a:ea typeface="Consolas"/>
                          <a:cs typeface="Consolas"/>
                          <a:sym typeface="Consolas"/>
                        </a:rPr>
                        <a:t>[2, 8, 4, 1]</a:t>
                      </a:r>
                      <a:endParaRPr sz="1000"/>
                    </a:p>
                  </a:txBody>
                  <a:tcPr marT="63500" marB="63500" marR="63500" marL="63500"/>
                </a:tc>
                <a:tc>
                  <a:txBody>
                    <a:bodyPr/>
                    <a:lstStyle/>
                    <a:p>
                      <a:pPr indent="0" lvl="0" marL="0" rtl="0" algn="l">
                        <a:spcBef>
                          <a:spcPts val="0"/>
                        </a:spcBef>
                        <a:spcAft>
                          <a:spcPts val="0"/>
                        </a:spcAft>
                        <a:buNone/>
                      </a:pPr>
                      <a:r>
                        <a:rPr lang="sv-SE" sz="1000"/>
                        <a:t>arr: (1, 2), (2, 4), (2, 10), (2, 11), (2, 13)</a:t>
                      </a:r>
                      <a:endParaRPr sz="1000"/>
                    </a:p>
                    <a:p>
                      <a:pPr indent="0" lvl="0" marL="0" rtl="0" algn="l">
                        <a:spcBef>
                          <a:spcPts val="0"/>
                        </a:spcBef>
                        <a:spcAft>
                          <a:spcPts val="0"/>
                        </a:spcAft>
                        <a:buNone/>
                      </a:pPr>
                      <a:r>
                        <a:rPr lang="sv-SE" sz="1000"/>
                        <a:t>product: (3, 11), (11, 11), (11, 13)</a:t>
                      </a:r>
                      <a:endParaRPr sz="1000"/>
                    </a:p>
                    <a:p>
                      <a:pPr indent="0" lvl="0" marL="0" rtl="0" algn="l">
                        <a:spcBef>
                          <a:spcPts val="0"/>
                        </a:spcBef>
                        <a:spcAft>
                          <a:spcPts val="0"/>
                        </a:spcAft>
                        <a:buNone/>
                      </a:pPr>
                      <a:r>
                        <a:rPr lang="sv-SE" sz="1000"/>
                        <a:t>i: (10, 10), (10, 11)</a:t>
                      </a:r>
                      <a:endParaRPr sz="1000"/>
                    </a:p>
                  </a:txBody>
                  <a:tcPr marT="63500" marB="63500" marR="63500" marL="63500"/>
                </a:tc>
              </a:tr>
              <a:tr h="12700">
                <a:tc>
                  <a:txBody>
                    <a:bodyPr/>
                    <a:lstStyle/>
                    <a:p>
                      <a:pPr indent="0" lvl="0" marL="0" rtl="0" algn="l">
                        <a:lnSpc>
                          <a:spcPct val="120000"/>
                        </a:lnSpc>
                        <a:spcBef>
                          <a:spcPts val="0"/>
                        </a:spcBef>
                        <a:spcAft>
                          <a:spcPts val="0"/>
                        </a:spcAft>
                        <a:buNone/>
                      </a:pPr>
                      <a:r>
                        <a:rPr b="1" lang="sv-SE" sz="1100">
                          <a:latin typeface="Consolas"/>
                          <a:ea typeface="Consolas"/>
                          <a:cs typeface="Consolas"/>
                          <a:sym typeface="Consolas"/>
                        </a:rPr>
                        <a:t>[-1, -10, 0, 10]</a:t>
                      </a:r>
                      <a:endParaRPr sz="1000"/>
                    </a:p>
                  </a:txBody>
                  <a:tcPr marT="63500" marB="63500" marR="63500" marL="63500"/>
                </a:tc>
                <a:tc>
                  <a:txBody>
                    <a:bodyPr/>
                    <a:lstStyle/>
                    <a:p>
                      <a:pPr indent="0" lvl="0" marL="0" rtl="0" algn="l">
                        <a:spcBef>
                          <a:spcPts val="0"/>
                        </a:spcBef>
                        <a:spcAft>
                          <a:spcPts val="0"/>
                        </a:spcAft>
                        <a:buNone/>
                      </a:pPr>
                      <a:r>
                        <a:rPr lang="sv-SE" sz="1000"/>
                        <a:t>arr: (2, 5), (2, 6), (2, 8)</a:t>
                      </a:r>
                      <a:br>
                        <a:rPr lang="sv-SE" sz="1000"/>
                      </a:br>
                      <a:r>
                        <a:rPr lang="sv-SE" sz="1000"/>
                        <a:t>product: (3, 6), (6, 6), (6, 8)</a:t>
                      </a:r>
                      <a:br>
                        <a:rPr lang="sv-SE" sz="1000"/>
                      </a:br>
                      <a:r>
                        <a:rPr lang="sv-SE" sz="1000"/>
                        <a:t>i: (5, 5), (5, 6)</a:t>
                      </a:r>
                      <a:endParaRPr sz="1000"/>
                    </a:p>
                  </a:txBody>
                  <a:tcPr marT="63500" marB="63500" marR="63500" marL="63500"/>
                </a:tc>
              </a:tr>
              <a:tr h="12700">
                <a:tc>
                  <a:txBody>
                    <a:bodyPr/>
                    <a:lstStyle/>
                    <a:p>
                      <a:pPr indent="0" lvl="0" marL="0" rtl="0" algn="l">
                        <a:spcBef>
                          <a:spcPts val="0"/>
                        </a:spcBef>
                        <a:spcAft>
                          <a:spcPts val="0"/>
                        </a:spcAft>
                        <a:buNone/>
                      </a:pPr>
                      <a:r>
                        <a:rPr b="1" lang="sv-SE" sz="1100">
                          <a:latin typeface="Consolas"/>
                          <a:ea typeface="Consolas"/>
                          <a:cs typeface="Consolas"/>
                          <a:sym typeface="Consolas"/>
                        </a:rPr>
                        <a:t>[0]</a:t>
                      </a:r>
                      <a:endParaRPr b="1" sz="1100">
                        <a:latin typeface="Consolas"/>
                        <a:ea typeface="Consolas"/>
                        <a:cs typeface="Consolas"/>
                        <a:sym typeface="Consolas"/>
                      </a:endParaRPr>
                    </a:p>
                  </a:txBody>
                  <a:tcPr marT="63500" marB="63500" marR="63500" marL="63500"/>
                </a:tc>
                <a:tc>
                  <a:txBody>
                    <a:bodyPr/>
                    <a:lstStyle/>
                    <a:p>
                      <a:pPr indent="0" lvl="0" marL="0" rtl="0" algn="l">
                        <a:spcBef>
                          <a:spcPts val="0"/>
                        </a:spcBef>
                        <a:spcAft>
                          <a:spcPts val="0"/>
                        </a:spcAft>
                        <a:buNone/>
                      </a:pPr>
                      <a:r>
                        <a:rPr lang="sv-SE" sz="1000"/>
                        <a:t>product</a:t>
                      </a:r>
                      <a:r>
                        <a:rPr lang="sv-SE" sz="1000"/>
                        <a:t>: (3, 8)</a:t>
                      </a:r>
                      <a:endParaRPr sz="1000"/>
                    </a:p>
                  </a:txBody>
                  <a:tcPr marT="63500" marB="63500" marR="63500" marL="63500"/>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Testing</a:t>
            </a:r>
            <a:endParaRPr/>
          </a:p>
        </p:txBody>
      </p:sp>
      <p:sp>
        <p:nvSpPr>
          <p:cNvPr id="426" name="Google Shape;426;p52"/>
          <p:cNvSpPr txBox="1"/>
          <p:nvPr>
            <p:ph idx="1" type="body"/>
          </p:nvPr>
        </p:nvSpPr>
        <p:spPr>
          <a:xfrm>
            <a:off x="321475" y="1282400"/>
            <a:ext cx="44112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sz="1400"/>
              <a:t>Consider the following function:</a:t>
            </a:r>
            <a:endParaRPr sz="1400"/>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public static long lonelyNumbers(int n)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String s = " " + n + "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long a = 0;</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StringBuilder sb = new StringBuilder();</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for(int i = 1; i &lt; s.length() - 1; 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if(s.charAt(i) == s.charAt(i - 1) || s.charAt(i) == </a:t>
            </a:r>
            <a:br>
              <a:rPr lang="sv-SE" sz="1100">
                <a:latin typeface="Consolas"/>
                <a:ea typeface="Consolas"/>
                <a:cs typeface="Consolas"/>
                <a:sym typeface="Consolas"/>
              </a:rPr>
            </a:br>
            <a:r>
              <a:rPr lang="sv-SE" sz="1100">
                <a:latin typeface="Consolas"/>
                <a:ea typeface="Consolas"/>
                <a:cs typeface="Consolas"/>
                <a:sym typeface="Consolas"/>
              </a:rPr>
              <a:t>            s.charAt(i + 1)){</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sb.append(s.charAt(i));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 else</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sb.append("" + s.charAt(i) + s.charAt(i) + s.charAt(i));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a = Long.parseLong(sb.toString().trim());</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return a;</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a:t>
            </a:r>
            <a:endParaRPr b="1" sz="1400"/>
          </a:p>
          <a:p>
            <a:pPr indent="0" lvl="0" marL="0" rtl="0" algn="l">
              <a:lnSpc>
                <a:spcPct val="115000"/>
              </a:lnSpc>
              <a:spcBef>
                <a:spcPts val="0"/>
              </a:spcBef>
              <a:spcAft>
                <a:spcPts val="0"/>
              </a:spcAft>
              <a:buNone/>
            </a:pPr>
            <a:r>
              <a:t/>
            </a:r>
            <a:endParaRPr sz="1400"/>
          </a:p>
        </p:txBody>
      </p:sp>
      <p:sp>
        <p:nvSpPr>
          <p:cNvPr id="427" name="Google Shape;427;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28" name="Google Shape;428;p52"/>
          <p:cNvSpPr txBox="1"/>
          <p:nvPr>
            <p:ph idx="1" type="body"/>
          </p:nvPr>
        </p:nvSpPr>
        <p:spPr>
          <a:xfrm>
            <a:off x="4823850" y="1200150"/>
            <a:ext cx="3862800" cy="3725700"/>
          </a:xfrm>
          <a:prstGeom prst="rect">
            <a:avLst/>
          </a:prstGeom>
          <a:noFill/>
          <a:ln>
            <a:noFill/>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sv-SE" sz="1100">
                <a:solidFill>
                  <a:schemeClr val="dk1"/>
                </a:solidFill>
                <a:latin typeface="Consolas"/>
                <a:ea typeface="Consolas"/>
                <a:cs typeface="Consolas"/>
                <a:sym typeface="Consolas"/>
              </a:rPr>
              <a:t>lonelyNumbers(4666) ➞ 444666</a:t>
            </a:r>
            <a:endParaRPr sz="1100">
              <a:solidFill>
                <a:schemeClr val="dk1"/>
              </a:solidFill>
              <a:latin typeface="Consolas"/>
              <a:ea typeface="Consolas"/>
              <a:cs typeface="Consolas"/>
              <a:sym typeface="Consolas"/>
            </a:endParaRPr>
          </a:p>
          <a:p>
            <a:pPr indent="-298450" lvl="0" marL="457200" rtl="0" algn="l">
              <a:lnSpc>
                <a:spcPct val="115000"/>
              </a:lnSpc>
              <a:spcBef>
                <a:spcPts val="0"/>
              </a:spcBef>
              <a:spcAft>
                <a:spcPts val="0"/>
              </a:spcAft>
              <a:buClr>
                <a:schemeClr val="dk1"/>
              </a:buClr>
              <a:buSzPts val="1100"/>
              <a:buChar char="●"/>
            </a:pPr>
            <a:r>
              <a:rPr lang="sv-SE" sz="1100">
                <a:solidFill>
                  <a:schemeClr val="dk1"/>
                </a:solidFill>
                <a:latin typeface="Consolas"/>
                <a:ea typeface="Consolas"/>
                <a:cs typeface="Consolas"/>
                <a:sym typeface="Consolas"/>
              </a:rPr>
              <a:t>lonelyNumbers(544) ➞ 55544</a:t>
            </a:r>
            <a:endParaRPr sz="1100">
              <a:solidFill>
                <a:schemeClr val="dk1"/>
              </a:solidFill>
              <a:latin typeface="Consolas"/>
              <a:ea typeface="Consolas"/>
              <a:cs typeface="Consolas"/>
              <a:sym typeface="Consolas"/>
            </a:endParaRPr>
          </a:p>
          <a:p>
            <a:pPr indent="-298450" lvl="0" marL="457200" rtl="0" algn="l">
              <a:lnSpc>
                <a:spcPct val="115000"/>
              </a:lnSpc>
              <a:spcBef>
                <a:spcPts val="0"/>
              </a:spcBef>
              <a:spcAft>
                <a:spcPts val="0"/>
              </a:spcAft>
              <a:buClr>
                <a:schemeClr val="dk1"/>
              </a:buClr>
              <a:buSzPts val="1100"/>
              <a:buChar char="●"/>
            </a:pPr>
            <a:r>
              <a:rPr lang="sv-SE" sz="1100">
                <a:solidFill>
                  <a:schemeClr val="dk1"/>
                </a:solidFill>
                <a:latin typeface="Consolas"/>
                <a:ea typeface="Consolas"/>
                <a:cs typeface="Consolas"/>
                <a:sym typeface="Consolas"/>
              </a:rPr>
              <a:t>lonelyNumbers(123) ➞ 111222333</a:t>
            </a:r>
            <a:endParaRPr sz="1100">
              <a:solidFill>
                <a:schemeClr val="dk1"/>
              </a:solidFill>
              <a:latin typeface="Consolas"/>
              <a:ea typeface="Consolas"/>
              <a:cs typeface="Consolas"/>
              <a:sym typeface="Consolas"/>
            </a:endParaRPr>
          </a:p>
          <a:p>
            <a:pPr indent="-298450" lvl="0" marL="457200" rtl="0" algn="l">
              <a:lnSpc>
                <a:spcPct val="115000"/>
              </a:lnSpc>
              <a:spcBef>
                <a:spcPts val="0"/>
              </a:spcBef>
              <a:spcAft>
                <a:spcPts val="0"/>
              </a:spcAft>
              <a:buClr>
                <a:schemeClr val="dk1"/>
              </a:buClr>
              <a:buSzPts val="1100"/>
              <a:buChar char="●"/>
            </a:pPr>
            <a:r>
              <a:rPr lang="sv-SE" sz="1100">
                <a:solidFill>
                  <a:schemeClr val="dk1"/>
                </a:solidFill>
                <a:latin typeface="Consolas"/>
                <a:ea typeface="Consolas"/>
                <a:cs typeface="Consolas"/>
                <a:sym typeface="Consolas"/>
              </a:rPr>
              <a:t>lonelyNumbers(33) ➞ 33</a:t>
            </a:r>
            <a:endParaRPr sz="24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Testing</a:t>
            </a:r>
            <a:endParaRPr/>
          </a:p>
        </p:txBody>
      </p:sp>
      <p:sp>
        <p:nvSpPr>
          <p:cNvPr id="434" name="Google Shape;434;p53"/>
          <p:cNvSpPr txBox="1"/>
          <p:nvPr>
            <p:ph idx="1" type="body"/>
          </p:nvPr>
        </p:nvSpPr>
        <p:spPr>
          <a:xfrm>
            <a:off x="321475" y="1282400"/>
            <a:ext cx="44112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sz="1400"/>
              <a:t>Consider the following function:</a:t>
            </a:r>
            <a:endParaRPr sz="1400"/>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public static long lonelyNumbers(int n)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String s = " " + n + "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long a = 0;</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StringBuilder sb = new StringBuilder();</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for(int i = 1; i &lt; s.length() - 1; 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if(s.charAt(i) == s.charAt(i - 1) || s.charAt(i) == </a:t>
            </a:r>
            <a:br>
              <a:rPr lang="sv-SE" sz="1100">
                <a:latin typeface="Consolas"/>
                <a:ea typeface="Consolas"/>
                <a:cs typeface="Consolas"/>
                <a:sym typeface="Consolas"/>
              </a:rPr>
            </a:br>
            <a:r>
              <a:rPr lang="sv-SE" sz="1100">
                <a:latin typeface="Consolas"/>
                <a:ea typeface="Consolas"/>
                <a:cs typeface="Consolas"/>
                <a:sym typeface="Consolas"/>
              </a:rPr>
              <a:t>            s.charAt(i + 1)){</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sb.append(s.charAt(i));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 else</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sb.append("" + s.charAt(i) + s.charAt(i) + s.charAt(i));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a = Long.parseLong(sb.toString().trim());</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return a;</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a:t>
            </a:r>
            <a:endParaRPr b="1" sz="1400"/>
          </a:p>
          <a:p>
            <a:pPr indent="0" lvl="0" marL="0" rtl="0" algn="l">
              <a:lnSpc>
                <a:spcPct val="115000"/>
              </a:lnSpc>
              <a:spcBef>
                <a:spcPts val="0"/>
              </a:spcBef>
              <a:spcAft>
                <a:spcPts val="0"/>
              </a:spcAft>
              <a:buNone/>
            </a:pPr>
            <a:r>
              <a:t/>
            </a:r>
            <a:endParaRPr sz="1400"/>
          </a:p>
        </p:txBody>
      </p:sp>
      <p:sp>
        <p:nvSpPr>
          <p:cNvPr id="435" name="Google Shape;435;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36" name="Google Shape;436;p53"/>
          <p:cNvSpPr txBox="1"/>
          <p:nvPr>
            <p:ph idx="1" type="body"/>
          </p:nvPr>
        </p:nvSpPr>
        <p:spPr>
          <a:xfrm>
            <a:off x="4823850" y="1200150"/>
            <a:ext cx="3862800" cy="372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sv-SE"/>
              <a:t>Relational Operator Replacement (ROR)</a:t>
            </a:r>
            <a:endParaRPr b="1"/>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rPr b="1" lang="sv-SE"/>
              <a:t>Can mutate lines </a:t>
            </a:r>
            <a:r>
              <a:rPr b="1" lang="sv-SE"/>
              <a:t>5, 6</a:t>
            </a:r>
            <a:endParaRPr b="1"/>
          </a:p>
          <a:p>
            <a:pPr indent="0" lvl="0" marL="0" rtl="0" algn="l">
              <a:lnSpc>
                <a:spcPct val="115000"/>
              </a:lnSpc>
              <a:spcBef>
                <a:spcPts val="0"/>
              </a:spcBef>
              <a:spcAft>
                <a:spcPts val="0"/>
              </a:spcAft>
              <a:buNone/>
            </a:pPr>
            <a:br>
              <a:rPr b="1" lang="sv-SE"/>
            </a:br>
            <a:r>
              <a:rPr b="1" lang="sv-SE"/>
              <a:t>Line 6: </a:t>
            </a:r>
            <a:br>
              <a:rPr b="1" lang="sv-SE"/>
            </a:br>
            <a:r>
              <a:rPr b="1" lang="sv-SE">
                <a:latin typeface="Consolas"/>
                <a:ea typeface="Consolas"/>
                <a:cs typeface="Consolas"/>
                <a:sym typeface="Consolas"/>
              </a:rPr>
              <a:t>if(s.charAt(i) </a:t>
            </a:r>
            <a:r>
              <a:rPr b="1" lang="sv-SE">
                <a:solidFill>
                  <a:srgbClr val="FF0000"/>
                </a:solidFill>
                <a:latin typeface="Consolas"/>
                <a:ea typeface="Consolas"/>
                <a:cs typeface="Consolas"/>
                <a:sym typeface="Consolas"/>
              </a:rPr>
              <a:t>!=</a:t>
            </a:r>
            <a:r>
              <a:rPr b="1" lang="sv-SE">
                <a:latin typeface="Consolas"/>
                <a:ea typeface="Consolas"/>
                <a:cs typeface="Consolas"/>
                <a:sym typeface="Consolas"/>
              </a:rPr>
              <a:t> s.charAt(i - 1) …</a:t>
            </a:r>
            <a:endParaRPr b="1">
              <a:latin typeface="Consolas"/>
              <a:ea typeface="Consolas"/>
              <a:cs typeface="Consolas"/>
              <a:sym typeface="Consolas"/>
            </a:endParaRPr>
          </a:p>
          <a:p>
            <a:pPr indent="0" lvl="0" marL="0" rtl="0" algn="l">
              <a:lnSpc>
                <a:spcPct val="115000"/>
              </a:lnSpc>
              <a:spcBef>
                <a:spcPts val="0"/>
              </a:spcBef>
              <a:spcAft>
                <a:spcPts val="0"/>
              </a:spcAft>
              <a:buNone/>
            </a:pPr>
            <a:r>
              <a:t/>
            </a:r>
            <a:endParaRPr>
              <a:latin typeface="Consolas"/>
              <a:ea typeface="Consolas"/>
              <a:cs typeface="Consolas"/>
              <a:sym typeface="Consolas"/>
            </a:endParaRPr>
          </a:p>
          <a:p>
            <a:pPr indent="0" lvl="0" marL="0" rtl="0" algn="l">
              <a:lnSpc>
                <a:spcPct val="115000"/>
              </a:lnSpc>
              <a:spcBef>
                <a:spcPts val="0"/>
              </a:spcBef>
              <a:spcAft>
                <a:spcPts val="0"/>
              </a:spcAft>
              <a:buNone/>
            </a:pPr>
            <a:r>
              <a:rPr b="1" lang="sv-SE">
                <a:latin typeface="Consolas"/>
                <a:ea typeface="Consolas"/>
                <a:cs typeface="Consolas"/>
                <a:sym typeface="Consolas"/>
              </a:rPr>
              <a:t>lonelyNumbers(4666) </a:t>
            </a:r>
            <a:endParaRPr b="1">
              <a:latin typeface="Consolas"/>
              <a:ea typeface="Consolas"/>
              <a:cs typeface="Consolas"/>
              <a:sym typeface="Consolas"/>
            </a:endParaRPr>
          </a:p>
          <a:p>
            <a:pPr indent="0" lvl="0" marL="0" rtl="0" algn="l">
              <a:lnSpc>
                <a:spcPct val="115000"/>
              </a:lnSpc>
              <a:spcBef>
                <a:spcPts val="0"/>
              </a:spcBef>
              <a:spcAft>
                <a:spcPts val="0"/>
              </a:spcAft>
              <a:buNone/>
            </a:pPr>
            <a:r>
              <a:rPr b="1" lang="sv-SE"/>
              <a:t>Original: returns 444666</a:t>
            </a:r>
            <a:endParaRPr b="1"/>
          </a:p>
          <a:p>
            <a:pPr indent="0" lvl="0" marL="0" rtl="0" algn="l">
              <a:lnSpc>
                <a:spcPct val="115000"/>
              </a:lnSpc>
              <a:spcBef>
                <a:spcPts val="0"/>
              </a:spcBef>
              <a:spcAft>
                <a:spcPts val="0"/>
              </a:spcAft>
              <a:buNone/>
            </a:pPr>
            <a:r>
              <a:rPr b="1" lang="sv-SE"/>
              <a:t>Mutant: returns 466666</a:t>
            </a:r>
            <a:endParaRPr b="1"/>
          </a:p>
          <a:p>
            <a:pPr indent="0" lvl="0" marL="0" rtl="0" algn="l">
              <a:lnSpc>
                <a:spcPct val="115000"/>
              </a:lnSpc>
              <a:spcBef>
                <a:spcPts val="0"/>
              </a:spcBef>
              <a:spcAft>
                <a:spcPts val="0"/>
              </a:spcAft>
              <a:buNone/>
            </a:pPr>
            <a:r>
              <a:rPr b="1" lang="sv-SE"/>
              <a:t>Mutation does not add duplicate “4”s, adds additional “6”s at the end.</a:t>
            </a:r>
            <a:endParaRPr b="1"/>
          </a:p>
          <a:p>
            <a:pPr indent="0" lvl="0" marL="0" rtl="0" algn="l">
              <a:lnSpc>
                <a:spcPct val="115000"/>
              </a:lnSpc>
              <a:spcBef>
                <a:spcPts val="0"/>
              </a:spcBef>
              <a:spcAft>
                <a:spcPts val="0"/>
              </a:spcAft>
              <a:buNone/>
            </a:pPr>
            <a:r>
              <a:t/>
            </a:r>
            <a:endParaRPr sz="1100">
              <a:solidFill>
                <a:schemeClr val="dk1"/>
              </a:solidFill>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Testing</a:t>
            </a:r>
            <a:endParaRPr/>
          </a:p>
        </p:txBody>
      </p:sp>
      <p:sp>
        <p:nvSpPr>
          <p:cNvPr id="442" name="Google Shape;442;p54"/>
          <p:cNvSpPr txBox="1"/>
          <p:nvPr>
            <p:ph idx="1" type="body"/>
          </p:nvPr>
        </p:nvSpPr>
        <p:spPr>
          <a:xfrm>
            <a:off x="321475" y="1282400"/>
            <a:ext cx="44112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sz="1400"/>
              <a:t>Consider the following function:</a:t>
            </a:r>
            <a:endParaRPr sz="1400"/>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public static long lonelyNumbers(int n)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String s = " " + n + "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long a = 0;</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StringBuilder sb = new StringBuilder();</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for(int i = 1; i &lt; s.length() - 1; 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if(s.charAt(i) == s.charAt(i - 1) || s.charAt(i) == </a:t>
            </a:r>
            <a:br>
              <a:rPr lang="sv-SE" sz="1100">
                <a:latin typeface="Consolas"/>
                <a:ea typeface="Consolas"/>
                <a:cs typeface="Consolas"/>
                <a:sym typeface="Consolas"/>
              </a:rPr>
            </a:br>
            <a:r>
              <a:rPr lang="sv-SE" sz="1100">
                <a:latin typeface="Consolas"/>
                <a:ea typeface="Consolas"/>
                <a:cs typeface="Consolas"/>
                <a:sym typeface="Consolas"/>
              </a:rPr>
              <a:t>            s.charAt(i + 1)){</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sb.append(s.charAt(i));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 else</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sb.append("" + s.charAt(i) + s.charAt(i) + s.charAt(i));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a = Long.parseLong(sb.toString().trim());</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return a;</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a:t>
            </a:r>
            <a:endParaRPr b="1" sz="1400"/>
          </a:p>
          <a:p>
            <a:pPr indent="0" lvl="0" marL="0" rtl="0" algn="l">
              <a:lnSpc>
                <a:spcPct val="115000"/>
              </a:lnSpc>
              <a:spcBef>
                <a:spcPts val="0"/>
              </a:spcBef>
              <a:spcAft>
                <a:spcPts val="0"/>
              </a:spcAft>
              <a:buNone/>
            </a:pPr>
            <a:r>
              <a:t/>
            </a:r>
            <a:endParaRPr sz="1400"/>
          </a:p>
        </p:txBody>
      </p:sp>
      <p:sp>
        <p:nvSpPr>
          <p:cNvPr id="443" name="Google Shape;443;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44" name="Google Shape;444;p54"/>
          <p:cNvSpPr txBox="1"/>
          <p:nvPr>
            <p:ph idx="1" type="body"/>
          </p:nvPr>
        </p:nvSpPr>
        <p:spPr>
          <a:xfrm>
            <a:off x="4823850" y="1200150"/>
            <a:ext cx="3862800" cy="372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sv-SE"/>
              <a:t>Arithmetic</a:t>
            </a:r>
            <a:r>
              <a:rPr b="1" lang="sv-SE"/>
              <a:t> Operator Replacement (AOR)</a:t>
            </a:r>
            <a:endParaRPr b="1"/>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rPr b="1" lang="sv-SE"/>
              <a:t>Can mutate lines </a:t>
            </a:r>
            <a:r>
              <a:rPr b="1" lang="sv-SE"/>
              <a:t>2, 5, 6, 9</a:t>
            </a:r>
            <a:endParaRPr b="1"/>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rPr b="1" lang="sv-SE"/>
              <a:t>Line 6: </a:t>
            </a:r>
            <a:br>
              <a:rPr b="1" lang="sv-SE"/>
            </a:br>
            <a:r>
              <a:rPr b="1" lang="sv-SE">
                <a:latin typeface="Consolas"/>
                <a:ea typeface="Consolas"/>
                <a:cs typeface="Consolas"/>
                <a:sym typeface="Consolas"/>
              </a:rPr>
              <a:t>if(s.charAt(i) == s.charAt(i </a:t>
            </a:r>
            <a:r>
              <a:rPr b="1" lang="sv-SE">
                <a:solidFill>
                  <a:srgbClr val="FF0000"/>
                </a:solidFill>
                <a:latin typeface="Consolas"/>
                <a:ea typeface="Consolas"/>
                <a:cs typeface="Consolas"/>
                <a:sym typeface="Consolas"/>
              </a:rPr>
              <a:t>+</a:t>
            </a:r>
            <a:r>
              <a:rPr b="1" lang="sv-SE">
                <a:latin typeface="Consolas"/>
                <a:ea typeface="Consolas"/>
                <a:cs typeface="Consolas"/>
                <a:sym typeface="Consolas"/>
              </a:rPr>
              <a:t> 1) … </a:t>
            </a:r>
            <a:endParaRPr b="1">
              <a:latin typeface="Consolas"/>
              <a:ea typeface="Consolas"/>
              <a:cs typeface="Consolas"/>
              <a:sym typeface="Consolas"/>
            </a:endParaRPr>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rPr b="1" lang="sv-SE">
                <a:latin typeface="Consolas"/>
                <a:ea typeface="Consolas"/>
                <a:cs typeface="Consolas"/>
                <a:sym typeface="Consolas"/>
              </a:rPr>
              <a:t>lonelyNumbers(4666) </a:t>
            </a:r>
            <a:endParaRPr b="1">
              <a:latin typeface="Consolas"/>
              <a:ea typeface="Consolas"/>
              <a:cs typeface="Consolas"/>
              <a:sym typeface="Consolas"/>
            </a:endParaRPr>
          </a:p>
          <a:p>
            <a:pPr indent="0" lvl="0" marL="0" rtl="0" algn="l">
              <a:lnSpc>
                <a:spcPct val="115000"/>
              </a:lnSpc>
              <a:spcBef>
                <a:spcPts val="0"/>
              </a:spcBef>
              <a:spcAft>
                <a:spcPts val="0"/>
              </a:spcAft>
              <a:buNone/>
            </a:pPr>
            <a:r>
              <a:rPr b="1" lang="sv-SE"/>
              <a:t>Original: returns 444666</a:t>
            </a:r>
            <a:endParaRPr b="1"/>
          </a:p>
          <a:p>
            <a:pPr indent="0" lvl="0" marL="0" rtl="0" algn="l">
              <a:lnSpc>
                <a:spcPct val="115000"/>
              </a:lnSpc>
              <a:spcBef>
                <a:spcPts val="0"/>
              </a:spcBef>
              <a:spcAft>
                <a:spcPts val="0"/>
              </a:spcAft>
              <a:buNone/>
            </a:pPr>
            <a:r>
              <a:rPr b="1" lang="sv-SE"/>
              <a:t>Mutant: returns 44466666</a:t>
            </a:r>
            <a:endParaRPr b="1"/>
          </a:p>
          <a:p>
            <a:pPr indent="0" lvl="0" marL="0" rtl="0" algn="l">
              <a:lnSpc>
                <a:spcPct val="115000"/>
              </a:lnSpc>
              <a:spcBef>
                <a:spcPts val="0"/>
              </a:spcBef>
              <a:spcAft>
                <a:spcPts val="0"/>
              </a:spcAft>
              <a:buNone/>
            </a:pPr>
            <a:r>
              <a:rPr b="1" lang="sv-SE"/>
              <a:t>Adds additional “6”s at the end.</a:t>
            </a:r>
            <a:endParaRPr>
              <a:latin typeface="Consolas"/>
              <a:ea typeface="Consolas"/>
              <a:cs typeface="Consolas"/>
              <a:sym typeface="Consolas"/>
            </a:endParaRPr>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t/>
            </a:r>
            <a:endParaRPr sz="1100">
              <a:solidFill>
                <a:schemeClr val="dk1"/>
              </a:solidFill>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Testing</a:t>
            </a:r>
            <a:endParaRPr/>
          </a:p>
        </p:txBody>
      </p:sp>
      <p:sp>
        <p:nvSpPr>
          <p:cNvPr id="450" name="Google Shape;450;p55"/>
          <p:cNvSpPr txBox="1"/>
          <p:nvPr>
            <p:ph idx="1" type="body"/>
          </p:nvPr>
        </p:nvSpPr>
        <p:spPr>
          <a:xfrm>
            <a:off x="321475" y="1282400"/>
            <a:ext cx="44112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sz="1400"/>
              <a:t>Consider the following function:</a:t>
            </a:r>
            <a:endParaRPr sz="1400"/>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public static long lonelyNumbers(int n)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String s = " " + n + "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long a = 0;</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StringBuilder sb = new StringBuilder();</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for(int i = 1; i &lt; s.length() - 1; 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if(s.charAt(i) == s.charAt(i - 1) || s.charAt(i) == </a:t>
            </a:r>
            <a:br>
              <a:rPr lang="sv-SE" sz="1100">
                <a:latin typeface="Consolas"/>
                <a:ea typeface="Consolas"/>
                <a:cs typeface="Consolas"/>
                <a:sym typeface="Consolas"/>
              </a:rPr>
            </a:br>
            <a:r>
              <a:rPr lang="sv-SE" sz="1100">
                <a:latin typeface="Consolas"/>
                <a:ea typeface="Consolas"/>
                <a:cs typeface="Consolas"/>
                <a:sym typeface="Consolas"/>
              </a:rPr>
              <a:t>            s.charAt(i + 1)){</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sb.append(s.charAt(i));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 else</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sb.append("" + s.charAt(i) + s.charAt(i) + s.charAt(i));</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a = Long.parseLong(sb.toString().trim());</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  return a;</a:t>
            </a:r>
            <a:endParaRPr sz="1100">
              <a:latin typeface="Consolas"/>
              <a:ea typeface="Consolas"/>
              <a:cs typeface="Consolas"/>
              <a:sym typeface="Consolas"/>
            </a:endParaRPr>
          </a:p>
          <a:p>
            <a:pPr indent="-298450" lvl="0" marL="457200" rtl="0" algn="l">
              <a:lnSpc>
                <a:spcPct val="120000"/>
              </a:lnSpc>
              <a:spcBef>
                <a:spcPts val="0"/>
              </a:spcBef>
              <a:spcAft>
                <a:spcPts val="0"/>
              </a:spcAft>
              <a:buSzPts val="1100"/>
              <a:buFont typeface="Consolas"/>
              <a:buAutoNum type="arabicPeriod"/>
            </a:pPr>
            <a:r>
              <a:rPr lang="sv-SE" sz="1100">
                <a:latin typeface="Consolas"/>
                <a:ea typeface="Consolas"/>
                <a:cs typeface="Consolas"/>
                <a:sym typeface="Consolas"/>
              </a:rPr>
              <a:t>}</a:t>
            </a:r>
            <a:endParaRPr b="1" sz="1400"/>
          </a:p>
          <a:p>
            <a:pPr indent="0" lvl="0" marL="0" rtl="0" algn="l">
              <a:lnSpc>
                <a:spcPct val="115000"/>
              </a:lnSpc>
              <a:spcBef>
                <a:spcPts val="0"/>
              </a:spcBef>
              <a:spcAft>
                <a:spcPts val="0"/>
              </a:spcAft>
              <a:buNone/>
            </a:pPr>
            <a:r>
              <a:t/>
            </a:r>
            <a:endParaRPr sz="1400"/>
          </a:p>
        </p:txBody>
      </p:sp>
      <p:sp>
        <p:nvSpPr>
          <p:cNvPr id="451" name="Google Shape;451;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52" name="Google Shape;452;p55"/>
          <p:cNvSpPr txBox="1"/>
          <p:nvPr>
            <p:ph idx="1" type="body"/>
          </p:nvPr>
        </p:nvSpPr>
        <p:spPr>
          <a:xfrm>
            <a:off x="4823850" y="1200150"/>
            <a:ext cx="3862800" cy="372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sv-SE"/>
              <a:t>Constant-for-Constant Replacement</a:t>
            </a:r>
            <a:r>
              <a:rPr b="1" lang="sv-SE"/>
              <a:t> (CRP)</a:t>
            </a:r>
            <a:endParaRPr b="1"/>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rPr b="1" lang="sv-SE"/>
              <a:t>Can mutate lines </a:t>
            </a:r>
            <a:r>
              <a:rPr b="1" lang="sv-SE"/>
              <a:t>2, 3, 5, 6, 9</a:t>
            </a:r>
            <a:endParaRPr b="1"/>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rPr b="1" lang="sv-SE"/>
              <a:t>Line 6: </a:t>
            </a:r>
            <a:endParaRPr b="1"/>
          </a:p>
          <a:p>
            <a:pPr indent="0" lvl="0" marL="0" rtl="0" algn="l">
              <a:lnSpc>
                <a:spcPct val="115000"/>
              </a:lnSpc>
              <a:spcBef>
                <a:spcPts val="0"/>
              </a:spcBef>
              <a:spcAft>
                <a:spcPts val="0"/>
              </a:spcAft>
              <a:buNone/>
            </a:pPr>
            <a:r>
              <a:rPr b="1" lang="sv-SE">
                <a:latin typeface="Consolas"/>
                <a:ea typeface="Consolas"/>
                <a:cs typeface="Consolas"/>
                <a:sym typeface="Consolas"/>
              </a:rPr>
              <a:t>if(s.charAt(i) == s.charAt(i - </a:t>
            </a:r>
            <a:r>
              <a:rPr b="1" lang="sv-SE">
                <a:solidFill>
                  <a:srgbClr val="FF0000"/>
                </a:solidFill>
                <a:latin typeface="Consolas"/>
                <a:ea typeface="Consolas"/>
                <a:cs typeface="Consolas"/>
                <a:sym typeface="Consolas"/>
              </a:rPr>
              <a:t>0</a:t>
            </a:r>
            <a:r>
              <a:rPr b="1" lang="sv-SE">
                <a:latin typeface="Consolas"/>
                <a:ea typeface="Consolas"/>
                <a:cs typeface="Consolas"/>
                <a:sym typeface="Consolas"/>
              </a:rPr>
              <a:t>) …</a:t>
            </a:r>
            <a:endParaRPr b="1">
              <a:latin typeface="Consolas"/>
              <a:ea typeface="Consolas"/>
              <a:cs typeface="Consolas"/>
              <a:sym typeface="Consolas"/>
            </a:endParaRPr>
          </a:p>
          <a:p>
            <a:pPr indent="0" lvl="0" marL="0" rtl="0" algn="l">
              <a:lnSpc>
                <a:spcPct val="115000"/>
              </a:lnSpc>
              <a:spcBef>
                <a:spcPts val="0"/>
              </a:spcBef>
              <a:spcAft>
                <a:spcPts val="0"/>
              </a:spcAft>
              <a:buNone/>
            </a:pPr>
            <a:r>
              <a:t/>
            </a:r>
            <a:endParaRPr>
              <a:latin typeface="Consolas"/>
              <a:ea typeface="Consolas"/>
              <a:cs typeface="Consolas"/>
              <a:sym typeface="Consolas"/>
            </a:endParaRPr>
          </a:p>
          <a:p>
            <a:pPr indent="0" lvl="0" marL="0" rtl="0" algn="l">
              <a:lnSpc>
                <a:spcPct val="115000"/>
              </a:lnSpc>
              <a:spcBef>
                <a:spcPts val="0"/>
              </a:spcBef>
              <a:spcAft>
                <a:spcPts val="0"/>
              </a:spcAft>
              <a:buNone/>
            </a:pPr>
            <a:r>
              <a:rPr b="1" lang="sv-SE">
                <a:latin typeface="Consolas"/>
                <a:ea typeface="Consolas"/>
                <a:cs typeface="Consolas"/>
                <a:sym typeface="Consolas"/>
              </a:rPr>
              <a:t>lonelyNumbers(4666) </a:t>
            </a:r>
            <a:endParaRPr b="1">
              <a:latin typeface="Consolas"/>
              <a:ea typeface="Consolas"/>
              <a:cs typeface="Consolas"/>
              <a:sym typeface="Consolas"/>
            </a:endParaRPr>
          </a:p>
          <a:p>
            <a:pPr indent="0" lvl="0" marL="0" rtl="0" algn="l">
              <a:lnSpc>
                <a:spcPct val="115000"/>
              </a:lnSpc>
              <a:spcBef>
                <a:spcPts val="0"/>
              </a:spcBef>
              <a:spcAft>
                <a:spcPts val="0"/>
              </a:spcAft>
              <a:buNone/>
            </a:pPr>
            <a:r>
              <a:rPr b="1" lang="sv-SE"/>
              <a:t>Original: returns 444666</a:t>
            </a:r>
            <a:endParaRPr b="1"/>
          </a:p>
          <a:p>
            <a:pPr indent="0" lvl="0" marL="0" rtl="0" algn="l">
              <a:lnSpc>
                <a:spcPct val="115000"/>
              </a:lnSpc>
              <a:spcBef>
                <a:spcPts val="0"/>
              </a:spcBef>
              <a:spcAft>
                <a:spcPts val="0"/>
              </a:spcAft>
              <a:buNone/>
            </a:pPr>
            <a:r>
              <a:rPr b="1" lang="sv-SE"/>
              <a:t>Mutant: returns 4666</a:t>
            </a:r>
            <a:endParaRPr b="1"/>
          </a:p>
          <a:p>
            <a:pPr indent="0" lvl="0" marL="0" rtl="0" algn="l">
              <a:lnSpc>
                <a:spcPct val="115000"/>
              </a:lnSpc>
              <a:spcBef>
                <a:spcPts val="0"/>
              </a:spcBef>
              <a:spcAft>
                <a:spcPts val="0"/>
              </a:spcAft>
              <a:buNone/>
            </a:pPr>
            <a:r>
              <a:rPr b="1" lang="sv-SE"/>
              <a:t>Does not add the duplicate “4”s that should be present.</a:t>
            </a:r>
            <a:endParaRPr b="1"/>
          </a:p>
          <a:p>
            <a:pPr indent="0" lvl="0" marL="0" rtl="0" algn="l">
              <a:lnSpc>
                <a:spcPct val="115000"/>
              </a:lnSpc>
              <a:spcBef>
                <a:spcPts val="0"/>
              </a:spcBef>
              <a:spcAft>
                <a:spcPts val="0"/>
              </a:spcAft>
              <a:buNone/>
            </a:pPr>
            <a:r>
              <a:t/>
            </a:r>
            <a:endParaRPr sz="1100">
              <a:solidFill>
                <a:schemeClr val="dk1"/>
              </a:solidFill>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Verification</a:t>
            </a:r>
            <a:endParaRPr/>
          </a:p>
        </p:txBody>
      </p:sp>
      <p:sp>
        <p:nvSpPr>
          <p:cNvPr id="458" name="Google Shape;458;p5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sz="2400"/>
              <a:t>Temporal Operators: </a:t>
            </a:r>
            <a:endParaRPr sz="2400"/>
          </a:p>
          <a:p>
            <a:pPr indent="-311150" lvl="0" marL="457200" rtl="0" algn="l">
              <a:lnSpc>
                <a:spcPct val="115000"/>
              </a:lnSpc>
              <a:spcBef>
                <a:spcPts val="0"/>
              </a:spcBef>
              <a:spcAft>
                <a:spcPts val="0"/>
              </a:spcAft>
              <a:buSzPts val="1300"/>
              <a:buChar char="●"/>
            </a:pPr>
            <a:r>
              <a:rPr b="1" lang="sv-SE" sz="1900"/>
              <a:t>G p:</a:t>
            </a:r>
            <a:r>
              <a:rPr lang="sv-SE" sz="1900"/>
              <a:t> p holds globally at every state on the path from now until the end</a:t>
            </a:r>
            <a:endParaRPr sz="1900"/>
          </a:p>
          <a:p>
            <a:pPr indent="-311150" lvl="0" marL="457200" rtl="0" algn="l">
              <a:lnSpc>
                <a:spcPct val="115000"/>
              </a:lnSpc>
              <a:spcBef>
                <a:spcPts val="0"/>
              </a:spcBef>
              <a:spcAft>
                <a:spcPts val="0"/>
              </a:spcAft>
              <a:buSzPts val="1300"/>
              <a:buChar char="●"/>
            </a:pPr>
            <a:r>
              <a:rPr b="1" lang="sv-SE" sz="1900"/>
              <a:t>F p:</a:t>
            </a:r>
            <a:r>
              <a:rPr lang="sv-SE" sz="1900"/>
              <a:t> p holds at some future state on the path (but not all future states)</a:t>
            </a:r>
            <a:endParaRPr sz="1900"/>
          </a:p>
          <a:p>
            <a:pPr indent="-311150" lvl="0" marL="457200" rtl="0" algn="l">
              <a:lnSpc>
                <a:spcPct val="115000"/>
              </a:lnSpc>
              <a:spcBef>
                <a:spcPts val="0"/>
              </a:spcBef>
              <a:spcAft>
                <a:spcPts val="0"/>
              </a:spcAft>
              <a:buSzPts val="1300"/>
              <a:buChar char="●"/>
            </a:pPr>
            <a:r>
              <a:rPr b="1" lang="sv-SE" sz="1900"/>
              <a:t>X p:</a:t>
            </a:r>
            <a:r>
              <a:rPr lang="sv-SE" sz="1900"/>
              <a:t> p holds at the next state on the path</a:t>
            </a:r>
            <a:endParaRPr sz="1900"/>
          </a:p>
          <a:p>
            <a:pPr indent="-311150" lvl="0" marL="457200" rtl="0" algn="l">
              <a:lnSpc>
                <a:spcPct val="115000"/>
              </a:lnSpc>
              <a:spcBef>
                <a:spcPts val="0"/>
              </a:spcBef>
              <a:spcAft>
                <a:spcPts val="0"/>
              </a:spcAft>
              <a:buSzPts val="1300"/>
              <a:buChar char="●"/>
            </a:pPr>
            <a:r>
              <a:rPr b="1" lang="sv-SE" sz="1900"/>
              <a:t>p U q:</a:t>
            </a:r>
            <a:r>
              <a:rPr lang="sv-SE" sz="1900"/>
              <a:t> q holds at some state on the path and p holds at every state before the first state at which q holds.</a:t>
            </a:r>
            <a:endParaRPr sz="1900"/>
          </a:p>
          <a:p>
            <a:pPr indent="-311150" lvl="0" marL="457200" rtl="0" algn="l">
              <a:lnSpc>
                <a:spcPct val="115000"/>
              </a:lnSpc>
              <a:spcBef>
                <a:spcPts val="0"/>
              </a:spcBef>
              <a:spcAft>
                <a:spcPts val="0"/>
              </a:spcAft>
              <a:buSzPts val="1300"/>
              <a:buChar char="●"/>
            </a:pPr>
            <a:r>
              <a:rPr b="1" lang="sv-SE" sz="1900"/>
              <a:t>A:</a:t>
            </a:r>
            <a:r>
              <a:rPr lang="sv-SE" sz="1900"/>
              <a:t> for all paths reaching out from a state, used in CTL as a modifier for the above properties (i.e., </a:t>
            </a:r>
            <a:r>
              <a:rPr b="1" lang="sv-SE" sz="1900"/>
              <a:t>AG p</a:t>
            </a:r>
            <a:r>
              <a:rPr lang="sv-SE" sz="1900"/>
              <a:t>)</a:t>
            </a:r>
            <a:endParaRPr sz="1900"/>
          </a:p>
          <a:p>
            <a:pPr indent="-311150" lvl="0" marL="457200" rtl="0" algn="l">
              <a:lnSpc>
                <a:spcPct val="115000"/>
              </a:lnSpc>
              <a:spcBef>
                <a:spcPts val="0"/>
              </a:spcBef>
              <a:spcAft>
                <a:spcPts val="0"/>
              </a:spcAft>
              <a:buSzPts val="1300"/>
              <a:buChar char="●"/>
            </a:pPr>
            <a:r>
              <a:rPr b="1" lang="sv-SE" sz="1900"/>
              <a:t>E: </a:t>
            </a:r>
            <a:r>
              <a:rPr lang="sv-SE" sz="1900"/>
              <a:t>for one or more paths reaching out from a state (but not all), used in CTL as a modifier for the above properties (i.e., </a:t>
            </a:r>
            <a:r>
              <a:rPr b="1" lang="sv-SE" sz="1900"/>
              <a:t>EG p</a:t>
            </a:r>
            <a:r>
              <a:rPr lang="sv-SE" sz="1900"/>
              <a:t>)</a:t>
            </a:r>
            <a:endParaRPr sz="1900"/>
          </a:p>
        </p:txBody>
      </p:sp>
      <p:sp>
        <p:nvSpPr>
          <p:cNvPr id="459" name="Google Shape;459;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7"/>
          <p:cNvSpPr txBox="1"/>
          <p:nvPr>
            <p:ph idx="1" type="body"/>
          </p:nvPr>
        </p:nvSpPr>
        <p:spPr>
          <a:xfrm>
            <a:off x="468895" y="1282400"/>
            <a:ext cx="3829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400"/>
              <a:t>Traffic-light controller, with a pedestrian crossing and a button to request right-of-way to cross the road. </a:t>
            </a:r>
            <a:endParaRPr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sv-SE" sz="1400"/>
              <a:t>State variables:</a:t>
            </a:r>
            <a:endParaRPr sz="1400"/>
          </a:p>
          <a:p>
            <a:pPr indent="-317500" lvl="0" marL="457200" rtl="0" algn="l">
              <a:lnSpc>
                <a:spcPct val="115000"/>
              </a:lnSpc>
              <a:spcBef>
                <a:spcPts val="0"/>
              </a:spcBef>
              <a:spcAft>
                <a:spcPts val="0"/>
              </a:spcAft>
              <a:buSzPts val="1400"/>
              <a:buChar char="●"/>
            </a:pPr>
            <a:r>
              <a:rPr b="1" lang="sv-SE" sz="1400"/>
              <a:t>traffic_light: {RED, YELLOW, GREEN}</a:t>
            </a:r>
            <a:endParaRPr b="1" sz="1400"/>
          </a:p>
          <a:p>
            <a:pPr indent="-317500" lvl="0" marL="457200" rtl="0" algn="l">
              <a:lnSpc>
                <a:spcPct val="115000"/>
              </a:lnSpc>
              <a:spcBef>
                <a:spcPts val="0"/>
              </a:spcBef>
              <a:spcAft>
                <a:spcPts val="0"/>
              </a:spcAft>
              <a:buSzPts val="1400"/>
              <a:buChar char="●"/>
            </a:pPr>
            <a:r>
              <a:rPr b="1" lang="sv-SE" sz="1400"/>
              <a:t>pedestrian_light: {WAIT, WALK, FLASH}</a:t>
            </a:r>
            <a:endParaRPr b="1" sz="1400"/>
          </a:p>
          <a:p>
            <a:pPr indent="-317500" lvl="0" marL="457200" rtl="0" algn="l">
              <a:lnSpc>
                <a:spcPct val="115000"/>
              </a:lnSpc>
              <a:spcBef>
                <a:spcPts val="0"/>
              </a:spcBef>
              <a:spcAft>
                <a:spcPts val="0"/>
              </a:spcAft>
              <a:buSzPts val="1400"/>
              <a:buChar char="●"/>
            </a:pPr>
            <a:r>
              <a:rPr b="1" lang="sv-SE" sz="1400"/>
              <a:t>button: {RESET, SET}</a:t>
            </a:r>
            <a:endParaRPr b="1"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None/>
            </a:pPr>
            <a:r>
              <a:rPr lang="sv-SE" sz="1400"/>
              <a:t>Initially: </a:t>
            </a:r>
            <a:r>
              <a:rPr b="1" lang="sv-SE" sz="1400"/>
              <a:t>traffic_light = RED, pedestrian_light = WAIT, button = RESET</a:t>
            </a:r>
            <a:endParaRPr sz="1400"/>
          </a:p>
        </p:txBody>
      </p:sp>
      <p:sp>
        <p:nvSpPr>
          <p:cNvPr id="465" name="Google Shape;465;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66" name="Google Shape;466;p57"/>
          <p:cNvSpPr txBox="1"/>
          <p:nvPr>
            <p:ph idx="1" type="body"/>
          </p:nvPr>
        </p:nvSpPr>
        <p:spPr>
          <a:xfrm>
            <a:off x="4298450" y="712700"/>
            <a:ext cx="4719600" cy="421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sv-SE">
                <a:solidFill>
                  <a:schemeClr val="dk1"/>
                </a:solidFill>
              </a:rPr>
              <a:t>Transitions: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pedestrian_light: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WAIT → WALK if traffic_light = RED</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WAIT → WAIT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WALK → {WALK, FLASH}</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FLASH → {FLASH, WAIT}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traffic_light: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RED → GREEN if button = RESET</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RED → RED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GREEN → {GREEN, YELLOW} if button = SET</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GREEN → GREEN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YELLOW→ {YELLOW, RED}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button: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SET → RESET if pedestrian_light = WALK</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SET → SET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RESET → {RESET, SET} if traffic_light = GREEN</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RESET → RESET otherwise</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467" name="Google Shape;467;p57"/>
          <p:cNvSpPr/>
          <p:nvPr/>
        </p:nvSpPr>
        <p:spPr>
          <a:xfrm>
            <a:off x="468900" y="474413"/>
            <a:ext cx="3673200" cy="181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3000"/>
              <a:t>Formulate a safety property in CTL.</a:t>
            </a:r>
            <a:endParaRPr b="1" sz="3000"/>
          </a:p>
        </p:txBody>
      </p:sp>
      <p:sp>
        <p:nvSpPr>
          <p:cNvPr id="468" name="Google Shape;468;p57"/>
          <p:cNvSpPr/>
          <p:nvPr/>
        </p:nvSpPr>
        <p:spPr>
          <a:xfrm>
            <a:off x="468900" y="474425"/>
            <a:ext cx="3673200" cy="181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sv-SE" sz="2400"/>
              <a:t>AG (pedestrian_light = walk -&gt; traffic_light != green)</a:t>
            </a:r>
            <a:endParaRPr b="1"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
                                        <p:tgtEl>
                                          <p:spTgt spid="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8"/>
          <p:cNvSpPr txBox="1"/>
          <p:nvPr>
            <p:ph idx="1" type="body"/>
          </p:nvPr>
        </p:nvSpPr>
        <p:spPr>
          <a:xfrm>
            <a:off x="468895" y="1282400"/>
            <a:ext cx="3829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400"/>
              <a:t>Traffic-light controller, with a pedestrian crossing and a button to request right-of-way to cross the road. </a:t>
            </a:r>
            <a:endParaRPr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sv-SE" sz="1400"/>
              <a:t>State variables:</a:t>
            </a:r>
            <a:endParaRPr sz="1400"/>
          </a:p>
          <a:p>
            <a:pPr indent="-317500" lvl="0" marL="457200" rtl="0" algn="l">
              <a:lnSpc>
                <a:spcPct val="115000"/>
              </a:lnSpc>
              <a:spcBef>
                <a:spcPts val="0"/>
              </a:spcBef>
              <a:spcAft>
                <a:spcPts val="0"/>
              </a:spcAft>
              <a:buSzPts val="1400"/>
              <a:buChar char="●"/>
            </a:pPr>
            <a:r>
              <a:rPr b="1" lang="sv-SE" sz="1400"/>
              <a:t>traffic_light: {RED, YELLOW, GREEN}</a:t>
            </a:r>
            <a:endParaRPr b="1" sz="1400"/>
          </a:p>
          <a:p>
            <a:pPr indent="-317500" lvl="0" marL="457200" rtl="0" algn="l">
              <a:lnSpc>
                <a:spcPct val="115000"/>
              </a:lnSpc>
              <a:spcBef>
                <a:spcPts val="0"/>
              </a:spcBef>
              <a:spcAft>
                <a:spcPts val="0"/>
              </a:spcAft>
              <a:buSzPts val="1400"/>
              <a:buChar char="●"/>
            </a:pPr>
            <a:r>
              <a:rPr b="1" lang="sv-SE" sz="1400"/>
              <a:t>pedestrian_light: {WAIT, WALK, FLASH}</a:t>
            </a:r>
            <a:endParaRPr b="1" sz="1400"/>
          </a:p>
          <a:p>
            <a:pPr indent="-317500" lvl="0" marL="457200" rtl="0" algn="l">
              <a:lnSpc>
                <a:spcPct val="115000"/>
              </a:lnSpc>
              <a:spcBef>
                <a:spcPts val="0"/>
              </a:spcBef>
              <a:spcAft>
                <a:spcPts val="0"/>
              </a:spcAft>
              <a:buSzPts val="1400"/>
              <a:buChar char="●"/>
            </a:pPr>
            <a:r>
              <a:rPr b="1" lang="sv-SE" sz="1400"/>
              <a:t>button: {RESET, SET}</a:t>
            </a:r>
            <a:endParaRPr b="1"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None/>
            </a:pPr>
            <a:r>
              <a:rPr lang="sv-SE" sz="1400"/>
              <a:t>Initially: </a:t>
            </a:r>
            <a:r>
              <a:rPr b="1" lang="sv-SE" sz="1400"/>
              <a:t>traffic_light = RED, pedestrian_light = WAIT, button = RESET</a:t>
            </a:r>
            <a:endParaRPr sz="1400"/>
          </a:p>
        </p:txBody>
      </p:sp>
      <p:sp>
        <p:nvSpPr>
          <p:cNvPr id="474" name="Google Shape;474;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475" name="Google Shape;475;p58"/>
          <p:cNvSpPr txBox="1"/>
          <p:nvPr>
            <p:ph idx="1" type="body"/>
          </p:nvPr>
        </p:nvSpPr>
        <p:spPr>
          <a:xfrm>
            <a:off x="4298450" y="712700"/>
            <a:ext cx="4719600" cy="421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sv-SE">
                <a:solidFill>
                  <a:schemeClr val="dk1"/>
                </a:solidFill>
              </a:rPr>
              <a:t>Transitions: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pedestrian_light: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WAIT → WALK if traffic_light = RED</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WAIT → WAIT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WALK → {WALK, FLASH}</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FLASH → {FLASH, WAIT}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traffic_light: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RED → GREEN if button = RESET</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RED → RED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GREEN → {GREEN, YELLOW} if button = SET</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GREEN → GREEN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YELLOW→ {YELLOW, RED}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button: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SET → RESET if pedestrian_light = WALK</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SET → SET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RESET → {RESET, SET} if traffic_light = GREEN</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RESET → RESET otherwise</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476" name="Google Shape;476;p58"/>
          <p:cNvSpPr/>
          <p:nvPr/>
        </p:nvSpPr>
        <p:spPr>
          <a:xfrm>
            <a:off x="350100" y="478525"/>
            <a:ext cx="3673200" cy="181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3000"/>
              <a:t>Formulate a liveness property in LTL.</a:t>
            </a:r>
            <a:endParaRPr b="1" sz="3000"/>
          </a:p>
        </p:txBody>
      </p:sp>
      <p:sp>
        <p:nvSpPr>
          <p:cNvPr id="477" name="Google Shape;477;p58"/>
          <p:cNvSpPr/>
          <p:nvPr/>
        </p:nvSpPr>
        <p:spPr>
          <a:xfrm>
            <a:off x="350100" y="478525"/>
            <a:ext cx="3673200" cy="181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sv-SE" sz="2400"/>
              <a:t>G (traffic_light = RED &amp; button = RESET -&gt; F (traffic_light = green))</a:t>
            </a:r>
            <a:endParaRPr b="1"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9"/>
          <p:cNvSpPr txBox="1"/>
          <p:nvPr>
            <p:ph idx="1" type="body"/>
          </p:nvPr>
        </p:nvSpPr>
        <p:spPr>
          <a:xfrm>
            <a:off x="468895" y="1282400"/>
            <a:ext cx="3829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400"/>
              <a:t>Traffic-light controller, with a pedestrian crossing and a button to request right-of-way to cross the road. </a:t>
            </a:r>
            <a:endParaRPr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sv-SE" sz="1400"/>
              <a:t>State variables:</a:t>
            </a:r>
            <a:endParaRPr sz="1400"/>
          </a:p>
          <a:p>
            <a:pPr indent="-317500" lvl="0" marL="457200" rtl="0" algn="l">
              <a:lnSpc>
                <a:spcPct val="115000"/>
              </a:lnSpc>
              <a:spcBef>
                <a:spcPts val="0"/>
              </a:spcBef>
              <a:spcAft>
                <a:spcPts val="0"/>
              </a:spcAft>
              <a:buSzPts val="1400"/>
              <a:buChar char="●"/>
            </a:pPr>
            <a:r>
              <a:rPr b="1" lang="sv-SE" sz="1400"/>
              <a:t>traffic_light: {RED, YELLOW, GREEN}</a:t>
            </a:r>
            <a:endParaRPr b="1" sz="1400"/>
          </a:p>
          <a:p>
            <a:pPr indent="-317500" lvl="0" marL="457200" rtl="0" algn="l">
              <a:lnSpc>
                <a:spcPct val="115000"/>
              </a:lnSpc>
              <a:spcBef>
                <a:spcPts val="0"/>
              </a:spcBef>
              <a:spcAft>
                <a:spcPts val="0"/>
              </a:spcAft>
              <a:buSzPts val="1400"/>
              <a:buChar char="●"/>
            </a:pPr>
            <a:r>
              <a:rPr b="1" lang="sv-SE" sz="1400"/>
              <a:t>pedestrian_light: {WAIT, WALK, FLASH}</a:t>
            </a:r>
            <a:endParaRPr b="1" sz="1400"/>
          </a:p>
          <a:p>
            <a:pPr indent="-317500" lvl="0" marL="457200" rtl="0" algn="l">
              <a:lnSpc>
                <a:spcPct val="115000"/>
              </a:lnSpc>
              <a:spcBef>
                <a:spcPts val="0"/>
              </a:spcBef>
              <a:spcAft>
                <a:spcPts val="0"/>
              </a:spcAft>
              <a:buSzPts val="1400"/>
              <a:buChar char="●"/>
            </a:pPr>
            <a:r>
              <a:rPr b="1" lang="sv-SE" sz="1400"/>
              <a:t>button: {RESET, SET}</a:t>
            </a:r>
            <a:endParaRPr b="1"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None/>
            </a:pPr>
            <a:r>
              <a:rPr lang="sv-SE" sz="1400"/>
              <a:t>Initially: </a:t>
            </a:r>
            <a:r>
              <a:rPr b="1" lang="sv-SE" sz="1400"/>
              <a:t>traffic_light = RED, pedestrian_light = WAIT, button = RESET</a:t>
            </a:r>
            <a:endParaRPr sz="1400"/>
          </a:p>
        </p:txBody>
      </p:sp>
      <p:sp>
        <p:nvSpPr>
          <p:cNvPr id="483" name="Google Shape;483;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484" name="Google Shape;484;p59"/>
          <p:cNvSpPr txBox="1"/>
          <p:nvPr>
            <p:ph idx="1" type="body"/>
          </p:nvPr>
        </p:nvSpPr>
        <p:spPr>
          <a:xfrm>
            <a:off x="4298450" y="712700"/>
            <a:ext cx="4719600" cy="421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sv-SE">
                <a:solidFill>
                  <a:schemeClr val="dk1"/>
                </a:solidFill>
              </a:rPr>
              <a:t>Transitions: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pedestrian_light: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WAIT → WALK if traffic_light = RED</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WAIT → WAIT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WALK → {WALK, FLASH}</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FLASH → {FLASH, WAIT}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traffic_light: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RED → GREEN if button = RESET</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RED → RED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GREEN → {GREEN, YELLOW} if button = SET</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GREEN → GREEN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YELLOW→ {YELLOW, RED}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sv-SE">
                <a:solidFill>
                  <a:schemeClr val="dk1"/>
                </a:solidFill>
              </a:rPr>
              <a:t>button: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SET → RESET if pedestrian_light = WALK</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SET → SET otherwise</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RESET → {RESET, SET} if traffic_light = GREEN</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b="1" lang="sv-SE">
                <a:solidFill>
                  <a:schemeClr val="dk1"/>
                </a:solidFill>
              </a:rPr>
              <a:t>RESET → RESET otherwise</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485" name="Google Shape;485;p59"/>
          <p:cNvSpPr/>
          <p:nvPr/>
        </p:nvSpPr>
        <p:spPr>
          <a:xfrm>
            <a:off x="334600" y="501575"/>
            <a:ext cx="3774000" cy="181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sv-SE" sz="1800"/>
              <a:t>Write a trap-property that can be used to derive a test case to exercise the scenario “pedestrian obtains right-of-way to cross the road after pressing the button”.</a:t>
            </a:r>
            <a:endParaRPr b="1" sz="1800"/>
          </a:p>
        </p:txBody>
      </p:sp>
      <p:sp>
        <p:nvSpPr>
          <p:cNvPr id="486" name="Google Shape;486;p59"/>
          <p:cNvSpPr/>
          <p:nvPr/>
        </p:nvSpPr>
        <p:spPr>
          <a:xfrm>
            <a:off x="334600" y="501575"/>
            <a:ext cx="3774000" cy="181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sv-SE" sz="1800"/>
              <a:t>Property in temporal logic: </a:t>
            </a:r>
            <a:endParaRPr b="1" sz="1800"/>
          </a:p>
          <a:p>
            <a:pPr indent="0" lvl="0" marL="0" rtl="0" algn="l">
              <a:lnSpc>
                <a:spcPct val="115000"/>
              </a:lnSpc>
              <a:spcBef>
                <a:spcPts val="0"/>
              </a:spcBef>
              <a:spcAft>
                <a:spcPts val="0"/>
              </a:spcAft>
              <a:buNone/>
            </a:pPr>
            <a:r>
              <a:rPr b="1" lang="sv-SE" sz="1800"/>
              <a:t>G (button = SET -&gt; F (pedestrian_light = WALK))</a:t>
            </a:r>
            <a:br>
              <a:rPr b="1" lang="sv-SE" sz="1800"/>
            </a:br>
            <a:endParaRPr b="1" sz="1800"/>
          </a:p>
        </p:txBody>
      </p:sp>
      <p:sp>
        <p:nvSpPr>
          <p:cNvPr id="487" name="Google Shape;487;p59"/>
          <p:cNvSpPr/>
          <p:nvPr/>
        </p:nvSpPr>
        <p:spPr>
          <a:xfrm>
            <a:off x="334600" y="501575"/>
            <a:ext cx="3774000" cy="181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sv-SE" sz="1800"/>
              <a:t>Negate to get trap property: </a:t>
            </a:r>
            <a:endParaRPr b="1" sz="1800"/>
          </a:p>
          <a:p>
            <a:pPr indent="0" lvl="0" marL="0" rtl="0" algn="l">
              <a:lnSpc>
                <a:spcPct val="115000"/>
              </a:lnSpc>
              <a:spcBef>
                <a:spcPts val="0"/>
              </a:spcBef>
              <a:spcAft>
                <a:spcPts val="0"/>
              </a:spcAft>
              <a:buNone/>
            </a:pPr>
            <a:r>
              <a:rPr b="1" lang="sv-SE" sz="1800"/>
              <a:t>G !(button = SET -&gt; F (pedestrian_light = WALK))</a:t>
            </a:r>
            <a:br>
              <a:rPr b="1" lang="sv-SE" sz="1800"/>
            </a:br>
            <a:endParaRPr b="1"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
                                        <p:tgtEl>
                                          <p:spTgt spid="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
                                        <p:tgtEl>
                                          <p:spTgt spid="4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Verification</a:t>
            </a:r>
            <a:endParaRPr/>
          </a:p>
        </p:txBody>
      </p:sp>
      <p:sp>
        <p:nvSpPr>
          <p:cNvPr id="493" name="Google Shape;493;p60"/>
          <p:cNvSpPr txBox="1"/>
          <p:nvPr>
            <p:ph idx="1" type="body"/>
          </p:nvPr>
        </p:nvSpPr>
        <p:spPr>
          <a:xfrm>
            <a:off x="468895" y="1282400"/>
            <a:ext cx="4180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800"/>
              <a:t>Microwave controller </a:t>
            </a:r>
            <a:endParaRPr sz="1800"/>
          </a:p>
          <a:p>
            <a:pPr indent="-342900" lvl="0" marL="457200" rtl="0" algn="l">
              <a:lnSpc>
                <a:spcPct val="115000"/>
              </a:lnSpc>
              <a:spcBef>
                <a:spcPts val="0"/>
              </a:spcBef>
              <a:spcAft>
                <a:spcPts val="0"/>
              </a:spcAft>
              <a:buSzPts val="1800"/>
              <a:buChar char="●"/>
            </a:pPr>
            <a:r>
              <a:rPr lang="sv-SE" sz="1800"/>
              <a:t>Door: {Open, Closed} -- sensor input indicating state of the door</a:t>
            </a:r>
            <a:endParaRPr sz="1800"/>
          </a:p>
          <a:p>
            <a:pPr indent="-342900" lvl="0" marL="457200" rtl="0" algn="l">
              <a:lnSpc>
                <a:spcPct val="115000"/>
              </a:lnSpc>
              <a:spcBef>
                <a:spcPts val="0"/>
              </a:spcBef>
              <a:spcAft>
                <a:spcPts val="0"/>
              </a:spcAft>
              <a:buSzPts val="1800"/>
              <a:buChar char="●"/>
            </a:pPr>
            <a:r>
              <a:rPr lang="sv-SE" sz="1800"/>
              <a:t>Button: {None, Start, Stop} -- button press</a:t>
            </a:r>
            <a:endParaRPr sz="1800"/>
          </a:p>
          <a:p>
            <a:pPr indent="-342900" lvl="0" marL="457200" rtl="0" algn="l">
              <a:lnSpc>
                <a:spcPct val="115000"/>
              </a:lnSpc>
              <a:spcBef>
                <a:spcPts val="0"/>
              </a:spcBef>
              <a:spcAft>
                <a:spcPts val="0"/>
              </a:spcAft>
              <a:buSzPts val="1800"/>
              <a:buChar char="●"/>
            </a:pPr>
            <a:r>
              <a:rPr lang="sv-SE" sz="1800"/>
              <a:t>Timer: 0...999 -- (remaining) seconds to cook</a:t>
            </a:r>
            <a:endParaRPr sz="1800"/>
          </a:p>
          <a:p>
            <a:pPr indent="-342900" lvl="0" marL="457200" rtl="0" algn="l">
              <a:lnSpc>
                <a:spcPct val="115000"/>
              </a:lnSpc>
              <a:spcBef>
                <a:spcPts val="0"/>
              </a:spcBef>
              <a:spcAft>
                <a:spcPts val="0"/>
              </a:spcAft>
              <a:buSzPts val="1800"/>
              <a:buChar char="●"/>
            </a:pPr>
            <a:r>
              <a:rPr lang="sv-SE" sz="1800"/>
              <a:t>Cooking: Boolean -- state of the heating element</a:t>
            </a:r>
            <a:endParaRPr sz="1800">
              <a:solidFill>
                <a:srgbClr val="000000"/>
              </a:solidFill>
            </a:endParaRPr>
          </a:p>
        </p:txBody>
      </p:sp>
      <p:sp>
        <p:nvSpPr>
          <p:cNvPr id="494" name="Google Shape;494;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95" name="Google Shape;495;p60"/>
          <p:cNvSpPr txBox="1"/>
          <p:nvPr>
            <p:ph idx="1" type="body"/>
          </p:nvPr>
        </p:nvSpPr>
        <p:spPr>
          <a:xfrm>
            <a:off x="4750374" y="861125"/>
            <a:ext cx="39945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solidFill>
                  <a:schemeClr val="dk1"/>
                </a:solidFill>
              </a:rPr>
              <a:t>In CTL: </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The microwave shall never cook when the door is open.</a:t>
            </a:r>
            <a:endParaRPr sz="2400">
              <a:solidFill>
                <a:schemeClr val="dk1"/>
              </a:solidFill>
            </a:endParaRPr>
          </a:p>
          <a:p>
            <a:pPr indent="-381000" lvl="0" marL="457200" rtl="0" algn="l">
              <a:lnSpc>
                <a:spcPct val="115000"/>
              </a:lnSpc>
              <a:spcBef>
                <a:spcPts val="0"/>
              </a:spcBef>
              <a:spcAft>
                <a:spcPts val="0"/>
              </a:spcAft>
              <a:buSzPts val="2400"/>
              <a:buChar char="●"/>
            </a:pPr>
            <a:r>
              <a:rPr b="1" lang="sv-SE" sz="2400"/>
              <a:t>AG (Door = Open -&gt; !Cooking)</a:t>
            </a:r>
            <a:endParaRPr sz="2400"/>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xEl>
                                              <p:pRg end="0" st="0"/>
                                            </p:txEl>
                                          </p:spTgt>
                                        </p:tgtEl>
                                        <p:attrNameLst>
                                          <p:attrName>style.visibility</p:attrName>
                                        </p:attrNameLst>
                                      </p:cBhvr>
                                      <p:to>
                                        <p:strVal val="visible"/>
                                      </p:to>
                                    </p:set>
                                    <p:animEffect filter="fade" transition="in">
                                      <p:cBhvr>
                                        <p:cTn dur="1"/>
                                        <p:tgtEl>
                                          <p:spTgt spid="4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xEl>
                                              <p:pRg end="1" st="1"/>
                                            </p:txEl>
                                          </p:spTgt>
                                        </p:tgtEl>
                                        <p:attrNameLst>
                                          <p:attrName>style.visibility</p:attrName>
                                        </p:attrNameLst>
                                      </p:cBhvr>
                                      <p:to>
                                        <p:strVal val="visible"/>
                                      </p:to>
                                    </p:set>
                                    <p:animEffect filter="fade" transition="in">
                                      <p:cBhvr>
                                        <p:cTn dur="1"/>
                                        <p:tgtEl>
                                          <p:spTgt spid="4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xEl>
                                              <p:pRg end="2" st="2"/>
                                            </p:txEl>
                                          </p:spTgt>
                                        </p:tgtEl>
                                        <p:attrNameLst>
                                          <p:attrName>style.visibility</p:attrName>
                                        </p:attrNameLst>
                                      </p:cBhvr>
                                      <p:to>
                                        <p:strVal val="visible"/>
                                      </p:to>
                                    </p:set>
                                    <p:animEffect filter="fade" transition="in">
                                      <p:cBhvr>
                                        <p:cTn dur="1"/>
                                        <p:tgtEl>
                                          <p:spTgt spid="4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xEl>
                                              <p:pRg end="3" st="3"/>
                                            </p:txEl>
                                          </p:spTgt>
                                        </p:tgtEl>
                                        <p:attrNameLst>
                                          <p:attrName>style.visibility</p:attrName>
                                        </p:attrNameLst>
                                      </p:cBhvr>
                                      <p:to>
                                        <p:strVal val="visible"/>
                                      </p:to>
                                    </p:set>
                                    <p:animEffect filter="fade" transition="in">
                                      <p:cBhvr>
                                        <p:cTn dur="1"/>
                                        <p:tgtEl>
                                          <p:spTgt spid="49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Verification</a:t>
            </a:r>
            <a:endParaRPr/>
          </a:p>
        </p:txBody>
      </p:sp>
      <p:sp>
        <p:nvSpPr>
          <p:cNvPr id="501" name="Google Shape;501;p61"/>
          <p:cNvSpPr txBox="1"/>
          <p:nvPr>
            <p:ph idx="1" type="body"/>
          </p:nvPr>
        </p:nvSpPr>
        <p:spPr>
          <a:xfrm>
            <a:off x="468895" y="1282400"/>
            <a:ext cx="4180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800"/>
              <a:t>Microwave controller </a:t>
            </a:r>
            <a:endParaRPr sz="1800"/>
          </a:p>
          <a:p>
            <a:pPr indent="-342900" lvl="0" marL="457200" rtl="0" algn="l">
              <a:lnSpc>
                <a:spcPct val="115000"/>
              </a:lnSpc>
              <a:spcBef>
                <a:spcPts val="0"/>
              </a:spcBef>
              <a:spcAft>
                <a:spcPts val="0"/>
              </a:spcAft>
              <a:buSzPts val="1800"/>
              <a:buChar char="●"/>
            </a:pPr>
            <a:r>
              <a:rPr lang="sv-SE" sz="1800"/>
              <a:t>Door: {Open, Closed} -- sensor input indicating state of the door</a:t>
            </a:r>
            <a:endParaRPr sz="1800"/>
          </a:p>
          <a:p>
            <a:pPr indent="-342900" lvl="0" marL="457200" rtl="0" algn="l">
              <a:lnSpc>
                <a:spcPct val="115000"/>
              </a:lnSpc>
              <a:spcBef>
                <a:spcPts val="0"/>
              </a:spcBef>
              <a:spcAft>
                <a:spcPts val="0"/>
              </a:spcAft>
              <a:buSzPts val="1800"/>
              <a:buChar char="●"/>
            </a:pPr>
            <a:r>
              <a:rPr lang="sv-SE" sz="1800"/>
              <a:t>Button: {None, Start, Stop} -- button press</a:t>
            </a:r>
            <a:endParaRPr sz="1800"/>
          </a:p>
          <a:p>
            <a:pPr indent="-342900" lvl="0" marL="457200" rtl="0" algn="l">
              <a:lnSpc>
                <a:spcPct val="115000"/>
              </a:lnSpc>
              <a:spcBef>
                <a:spcPts val="0"/>
              </a:spcBef>
              <a:spcAft>
                <a:spcPts val="0"/>
              </a:spcAft>
              <a:buSzPts val="1800"/>
              <a:buChar char="●"/>
            </a:pPr>
            <a:r>
              <a:rPr lang="sv-SE" sz="1800"/>
              <a:t>Timer: 0...999 -- (remaining) seconds to cook</a:t>
            </a:r>
            <a:endParaRPr sz="1800"/>
          </a:p>
          <a:p>
            <a:pPr indent="-342900" lvl="0" marL="457200" rtl="0" algn="l">
              <a:lnSpc>
                <a:spcPct val="115000"/>
              </a:lnSpc>
              <a:spcBef>
                <a:spcPts val="0"/>
              </a:spcBef>
              <a:spcAft>
                <a:spcPts val="0"/>
              </a:spcAft>
              <a:buSzPts val="1800"/>
              <a:buChar char="●"/>
            </a:pPr>
            <a:r>
              <a:rPr lang="sv-SE" sz="1800"/>
              <a:t>Cooking: Boolean -- state of the heating element</a:t>
            </a:r>
            <a:endParaRPr sz="1800">
              <a:solidFill>
                <a:srgbClr val="000000"/>
              </a:solidFill>
            </a:endParaRPr>
          </a:p>
        </p:txBody>
      </p:sp>
      <p:sp>
        <p:nvSpPr>
          <p:cNvPr id="502" name="Google Shape;502;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503" name="Google Shape;503;p61"/>
          <p:cNvSpPr txBox="1"/>
          <p:nvPr>
            <p:ph idx="1" type="body"/>
          </p:nvPr>
        </p:nvSpPr>
        <p:spPr>
          <a:xfrm>
            <a:off x="4750374" y="861125"/>
            <a:ext cx="39945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solidFill>
                  <a:schemeClr val="dk1"/>
                </a:solidFill>
              </a:rPr>
              <a:t>In CTL: </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The microwave shall cook only as long as there is remaining cook time.</a:t>
            </a:r>
            <a:endParaRPr sz="2400">
              <a:solidFill>
                <a:schemeClr val="dk1"/>
              </a:solidFill>
            </a:endParaRPr>
          </a:p>
          <a:p>
            <a:pPr indent="-381000" lvl="0" marL="457200" rtl="0" algn="l">
              <a:lnSpc>
                <a:spcPct val="115000"/>
              </a:lnSpc>
              <a:spcBef>
                <a:spcPts val="0"/>
              </a:spcBef>
              <a:spcAft>
                <a:spcPts val="0"/>
              </a:spcAft>
              <a:buSzPts val="2400"/>
              <a:buChar char="●"/>
            </a:pPr>
            <a:r>
              <a:rPr b="1" lang="sv-SE" sz="2400"/>
              <a:t>AG (Cooking -&gt; </a:t>
            </a:r>
            <a:br>
              <a:rPr b="1" lang="sv-SE" sz="2400"/>
            </a:br>
            <a:r>
              <a:rPr b="1" lang="sv-SE" sz="2400"/>
              <a:t>Timer &gt; 0)</a:t>
            </a:r>
            <a:endParaRPr b="1" sz="2400"/>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0" st="0"/>
                                            </p:txEl>
                                          </p:spTgt>
                                        </p:tgtEl>
                                        <p:attrNameLst>
                                          <p:attrName>style.visibility</p:attrName>
                                        </p:attrNameLst>
                                      </p:cBhvr>
                                      <p:to>
                                        <p:strVal val="visible"/>
                                      </p:to>
                                    </p:set>
                                    <p:animEffect filter="fade" transition="in">
                                      <p:cBhvr>
                                        <p:cTn dur="1"/>
                                        <p:tgtEl>
                                          <p:spTgt spid="5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1" st="1"/>
                                            </p:txEl>
                                          </p:spTgt>
                                        </p:tgtEl>
                                        <p:attrNameLst>
                                          <p:attrName>style.visibility</p:attrName>
                                        </p:attrNameLst>
                                      </p:cBhvr>
                                      <p:to>
                                        <p:strVal val="visible"/>
                                      </p:to>
                                    </p:set>
                                    <p:animEffect filter="fade" transition="in">
                                      <p:cBhvr>
                                        <p:cTn dur="1"/>
                                        <p:tgtEl>
                                          <p:spTgt spid="5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2" st="2"/>
                                            </p:txEl>
                                          </p:spTgt>
                                        </p:tgtEl>
                                        <p:attrNameLst>
                                          <p:attrName>style.visibility</p:attrName>
                                        </p:attrNameLst>
                                      </p:cBhvr>
                                      <p:to>
                                        <p:strVal val="visible"/>
                                      </p:to>
                                    </p:set>
                                    <p:animEffect filter="fade" transition="in">
                                      <p:cBhvr>
                                        <p:cTn dur="1"/>
                                        <p:tgtEl>
                                          <p:spTgt spid="5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3" st="3"/>
                                            </p:txEl>
                                          </p:spTgt>
                                        </p:tgtEl>
                                        <p:attrNameLst>
                                          <p:attrName>style.visibility</p:attrName>
                                        </p:attrNameLst>
                                      </p:cBhvr>
                                      <p:to>
                                        <p:strVal val="visible"/>
                                      </p:to>
                                    </p:set>
                                    <p:animEffect filter="fade" transition="in">
                                      <p:cBhvr>
                                        <p:cTn dur="1"/>
                                        <p:tgtEl>
                                          <p:spTgt spid="50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Verification</a:t>
            </a:r>
            <a:endParaRPr/>
          </a:p>
        </p:txBody>
      </p:sp>
      <p:sp>
        <p:nvSpPr>
          <p:cNvPr id="509" name="Google Shape;509;p62"/>
          <p:cNvSpPr txBox="1"/>
          <p:nvPr>
            <p:ph idx="1" type="body"/>
          </p:nvPr>
        </p:nvSpPr>
        <p:spPr>
          <a:xfrm>
            <a:off x="468895" y="1282400"/>
            <a:ext cx="4180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800"/>
              <a:t>Microwave controller </a:t>
            </a:r>
            <a:endParaRPr sz="1800"/>
          </a:p>
          <a:p>
            <a:pPr indent="-342900" lvl="0" marL="457200" rtl="0" algn="l">
              <a:lnSpc>
                <a:spcPct val="115000"/>
              </a:lnSpc>
              <a:spcBef>
                <a:spcPts val="0"/>
              </a:spcBef>
              <a:spcAft>
                <a:spcPts val="0"/>
              </a:spcAft>
              <a:buSzPts val="1800"/>
              <a:buChar char="●"/>
            </a:pPr>
            <a:r>
              <a:rPr lang="sv-SE" sz="1800"/>
              <a:t>Door: {Open, Closed} -- sensor input indicating state of the door</a:t>
            </a:r>
            <a:endParaRPr sz="1800"/>
          </a:p>
          <a:p>
            <a:pPr indent="-342900" lvl="0" marL="457200" rtl="0" algn="l">
              <a:lnSpc>
                <a:spcPct val="115000"/>
              </a:lnSpc>
              <a:spcBef>
                <a:spcPts val="0"/>
              </a:spcBef>
              <a:spcAft>
                <a:spcPts val="0"/>
              </a:spcAft>
              <a:buSzPts val="1800"/>
              <a:buChar char="●"/>
            </a:pPr>
            <a:r>
              <a:rPr lang="sv-SE" sz="1800"/>
              <a:t>Button: {None, Start, Stop} -- button press</a:t>
            </a:r>
            <a:endParaRPr sz="1800"/>
          </a:p>
          <a:p>
            <a:pPr indent="-342900" lvl="0" marL="457200" rtl="0" algn="l">
              <a:lnSpc>
                <a:spcPct val="115000"/>
              </a:lnSpc>
              <a:spcBef>
                <a:spcPts val="0"/>
              </a:spcBef>
              <a:spcAft>
                <a:spcPts val="0"/>
              </a:spcAft>
              <a:buSzPts val="1800"/>
              <a:buChar char="●"/>
            </a:pPr>
            <a:r>
              <a:rPr lang="sv-SE" sz="1800"/>
              <a:t>Timer: 0...999 -- (remaining) seconds to cook</a:t>
            </a:r>
            <a:endParaRPr sz="1800"/>
          </a:p>
          <a:p>
            <a:pPr indent="-342900" lvl="0" marL="457200" rtl="0" algn="l">
              <a:lnSpc>
                <a:spcPct val="115000"/>
              </a:lnSpc>
              <a:spcBef>
                <a:spcPts val="0"/>
              </a:spcBef>
              <a:spcAft>
                <a:spcPts val="0"/>
              </a:spcAft>
              <a:buSzPts val="1800"/>
              <a:buChar char="●"/>
            </a:pPr>
            <a:r>
              <a:rPr lang="sv-SE" sz="1800"/>
              <a:t>Cooking: Boolean -- state of the heating element</a:t>
            </a:r>
            <a:endParaRPr sz="1800">
              <a:solidFill>
                <a:srgbClr val="000000"/>
              </a:solidFill>
            </a:endParaRPr>
          </a:p>
        </p:txBody>
      </p:sp>
      <p:sp>
        <p:nvSpPr>
          <p:cNvPr id="510" name="Google Shape;510;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511" name="Google Shape;511;p62"/>
          <p:cNvSpPr txBox="1"/>
          <p:nvPr>
            <p:ph idx="1" type="body"/>
          </p:nvPr>
        </p:nvSpPr>
        <p:spPr>
          <a:xfrm>
            <a:off x="4750374" y="861125"/>
            <a:ext cx="39945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solidFill>
                  <a:schemeClr val="dk1"/>
                </a:solidFill>
              </a:rPr>
              <a:t>In CTL: </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If the stop button is pressed when the microwave is not cooking, the remaining cook time shall be cleared.</a:t>
            </a:r>
            <a:endParaRPr sz="2400">
              <a:solidFill>
                <a:schemeClr val="dk1"/>
              </a:solidFill>
            </a:endParaRPr>
          </a:p>
          <a:p>
            <a:pPr indent="-381000" lvl="0" marL="457200" rtl="0" algn="l">
              <a:lnSpc>
                <a:spcPct val="115000"/>
              </a:lnSpc>
              <a:spcBef>
                <a:spcPts val="0"/>
              </a:spcBef>
              <a:spcAft>
                <a:spcPts val="0"/>
              </a:spcAft>
              <a:buSzPts val="2400"/>
              <a:buChar char="●"/>
            </a:pPr>
            <a:r>
              <a:rPr b="1" lang="sv-SE" sz="2400"/>
              <a:t>AG (Button = Stop &amp; !Cooking -&gt; </a:t>
            </a:r>
            <a:br>
              <a:rPr b="1" lang="sv-SE" sz="2400"/>
            </a:br>
            <a:r>
              <a:rPr b="1" lang="sv-SE" sz="2400"/>
              <a:t>AX (Timer = 0))</a:t>
            </a:r>
            <a:endParaRPr b="1" sz="2400"/>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0" st="0"/>
                                            </p:txEl>
                                          </p:spTgt>
                                        </p:tgtEl>
                                        <p:attrNameLst>
                                          <p:attrName>style.visibility</p:attrName>
                                        </p:attrNameLst>
                                      </p:cBhvr>
                                      <p:to>
                                        <p:strVal val="visible"/>
                                      </p:to>
                                    </p:set>
                                    <p:animEffect filter="fade" transition="in">
                                      <p:cBhvr>
                                        <p:cTn dur="1"/>
                                        <p:tgtEl>
                                          <p:spTgt spid="5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1" st="1"/>
                                            </p:txEl>
                                          </p:spTgt>
                                        </p:tgtEl>
                                        <p:attrNameLst>
                                          <p:attrName>style.visibility</p:attrName>
                                        </p:attrNameLst>
                                      </p:cBhvr>
                                      <p:to>
                                        <p:strVal val="visible"/>
                                      </p:to>
                                    </p:set>
                                    <p:animEffect filter="fade" transition="in">
                                      <p:cBhvr>
                                        <p:cTn dur="1"/>
                                        <p:tgtEl>
                                          <p:spTgt spid="5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2" st="2"/>
                                            </p:txEl>
                                          </p:spTgt>
                                        </p:tgtEl>
                                        <p:attrNameLst>
                                          <p:attrName>style.visibility</p:attrName>
                                        </p:attrNameLst>
                                      </p:cBhvr>
                                      <p:to>
                                        <p:strVal val="visible"/>
                                      </p:to>
                                    </p:set>
                                    <p:animEffect filter="fade" transition="in">
                                      <p:cBhvr>
                                        <p:cTn dur="1"/>
                                        <p:tgtEl>
                                          <p:spTgt spid="5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3" st="3"/>
                                            </p:txEl>
                                          </p:spTgt>
                                        </p:tgtEl>
                                        <p:attrNameLst>
                                          <p:attrName>style.visibility</p:attrName>
                                        </p:attrNameLst>
                                      </p:cBhvr>
                                      <p:to>
                                        <p:strVal val="visible"/>
                                      </p:to>
                                    </p:set>
                                    <p:animEffect filter="fade" transition="in">
                                      <p:cBhvr>
                                        <p:cTn dur="1"/>
                                        <p:tgtEl>
                                          <p:spTgt spid="51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Verification</a:t>
            </a:r>
            <a:endParaRPr/>
          </a:p>
        </p:txBody>
      </p:sp>
      <p:sp>
        <p:nvSpPr>
          <p:cNvPr id="517" name="Google Shape;517;p63"/>
          <p:cNvSpPr txBox="1"/>
          <p:nvPr>
            <p:ph idx="1" type="body"/>
          </p:nvPr>
        </p:nvSpPr>
        <p:spPr>
          <a:xfrm>
            <a:off x="468895" y="1282400"/>
            <a:ext cx="4180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800"/>
              <a:t>Microwave controller </a:t>
            </a:r>
            <a:endParaRPr sz="1800"/>
          </a:p>
          <a:p>
            <a:pPr indent="-342900" lvl="0" marL="457200" rtl="0" algn="l">
              <a:lnSpc>
                <a:spcPct val="115000"/>
              </a:lnSpc>
              <a:spcBef>
                <a:spcPts val="0"/>
              </a:spcBef>
              <a:spcAft>
                <a:spcPts val="0"/>
              </a:spcAft>
              <a:buSzPts val="1800"/>
              <a:buChar char="●"/>
            </a:pPr>
            <a:r>
              <a:rPr lang="sv-SE" sz="1800"/>
              <a:t>Door: {Open, Closed} -- sensor input indicating state of the door</a:t>
            </a:r>
            <a:endParaRPr sz="1800"/>
          </a:p>
          <a:p>
            <a:pPr indent="-342900" lvl="0" marL="457200" rtl="0" algn="l">
              <a:lnSpc>
                <a:spcPct val="115000"/>
              </a:lnSpc>
              <a:spcBef>
                <a:spcPts val="0"/>
              </a:spcBef>
              <a:spcAft>
                <a:spcPts val="0"/>
              </a:spcAft>
              <a:buSzPts val="1800"/>
              <a:buChar char="●"/>
            </a:pPr>
            <a:r>
              <a:rPr lang="sv-SE" sz="1800"/>
              <a:t>Button: {None, Start, Stop} -- button press</a:t>
            </a:r>
            <a:endParaRPr sz="1800"/>
          </a:p>
          <a:p>
            <a:pPr indent="-342900" lvl="0" marL="457200" rtl="0" algn="l">
              <a:lnSpc>
                <a:spcPct val="115000"/>
              </a:lnSpc>
              <a:spcBef>
                <a:spcPts val="0"/>
              </a:spcBef>
              <a:spcAft>
                <a:spcPts val="0"/>
              </a:spcAft>
              <a:buSzPts val="1800"/>
              <a:buChar char="●"/>
            </a:pPr>
            <a:r>
              <a:rPr lang="sv-SE" sz="1800"/>
              <a:t>Timer: 0...999 -- (remaining) seconds to cook</a:t>
            </a:r>
            <a:endParaRPr sz="1800"/>
          </a:p>
          <a:p>
            <a:pPr indent="-342900" lvl="0" marL="457200" rtl="0" algn="l">
              <a:lnSpc>
                <a:spcPct val="115000"/>
              </a:lnSpc>
              <a:spcBef>
                <a:spcPts val="0"/>
              </a:spcBef>
              <a:spcAft>
                <a:spcPts val="0"/>
              </a:spcAft>
              <a:buSzPts val="1800"/>
              <a:buChar char="●"/>
            </a:pPr>
            <a:r>
              <a:rPr lang="sv-SE" sz="1800"/>
              <a:t>Cooking: Boolean -- state of the heating element</a:t>
            </a:r>
            <a:endParaRPr sz="1800">
              <a:solidFill>
                <a:srgbClr val="000000"/>
              </a:solidFill>
            </a:endParaRPr>
          </a:p>
        </p:txBody>
      </p:sp>
      <p:sp>
        <p:nvSpPr>
          <p:cNvPr id="518" name="Google Shape;518;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519" name="Google Shape;519;p63"/>
          <p:cNvSpPr txBox="1"/>
          <p:nvPr>
            <p:ph idx="1" type="body"/>
          </p:nvPr>
        </p:nvSpPr>
        <p:spPr>
          <a:xfrm>
            <a:off x="4750374" y="861125"/>
            <a:ext cx="39945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solidFill>
                  <a:schemeClr val="dk1"/>
                </a:solidFill>
              </a:rPr>
              <a:t>In LTL: </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It shall never be the case that the microwave can continue cooking indefinitely.</a:t>
            </a:r>
            <a:endParaRPr sz="2400">
              <a:solidFill>
                <a:schemeClr val="dk1"/>
              </a:solidFill>
            </a:endParaRPr>
          </a:p>
          <a:p>
            <a:pPr indent="-381000" lvl="0" marL="457200" rtl="0" algn="l">
              <a:lnSpc>
                <a:spcPct val="115000"/>
              </a:lnSpc>
              <a:spcBef>
                <a:spcPts val="0"/>
              </a:spcBef>
              <a:spcAft>
                <a:spcPts val="0"/>
              </a:spcAft>
              <a:buSzPts val="2400"/>
              <a:buChar char="●"/>
            </a:pPr>
            <a:r>
              <a:rPr b="1" lang="sv-SE" sz="2400"/>
              <a:t>G (Cooking -&gt; </a:t>
            </a:r>
            <a:br>
              <a:rPr b="1" lang="sv-SE" sz="2400"/>
            </a:br>
            <a:r>
              <a:rPr b="1" lang="sv-SE" sz="2400"/>
              <a:t>F (!Cooking))</a:t>
            </a:r>
            <a:endParaRPr b="1" sz="2400"/>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0" st="0"/>
                                            </p:txEl>
                                          </p:spTgt>
                                        </p:tgtEl>
                                        <p:attrNameLst>
                                          <p:attrName>style.visibility</p:attrName>
                                        </p:attrNameLst>
                                      </p:cBhvr>
                                      <p:to>
                                        <p:strVal val="visible"/>
                                      </p:to>
                                    </p:set>
                                    <p:animEffect filter="fade" transition="in">
                                      <p:cBhvr>
                                        <p:cTn dur="1"/>
                                        <p:tgtEl>
                                          <p:spTgt spid="5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1" st="1"/>
                                            </p:txEl>
                                          </p:spTgt>
                                        </p:tgtEl>
                                        <p:attrNameLst>
                                          <p:attrName>style.visibility</p:attrName>
                                        </p:attrNameLst>
                                      </p:cBhvr>
                                      <p:to>
                                        <p:strVal val="visible"/>
                                      </p:to>
                                    </p:set>
                                    <p:animEffect filter="fade" transition="in">
                                      <p:cBhvr>
                                        <p:cTn dur="1"/>
                                        <p:tgtEl>
                                          <p:spTgt spid="5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2" st="2"/>
                                            </p:txEl>
                                          </p:spTgt>
                                        </p:tgtEl>
                                        <p:attrNameLst>
                                          <p:attrName>style.visibility</p:attrName>
                                        </p:attrNameLst>
                                      </p:cBhvr>
                                      <p:to>
                                        <p:strVal val="visible"/>
                                      </p:to>
                                    </p:set>
                                    <p:animEffect filter="fade" transition="in">
                                      <p:cBhvr>
                                        <p:cTn dur="1"/>
                                        <p:tgtEl>
                                          <p:spTgt spid="5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xEl>
                                              <p:pRg end="3" st="3"/>
                                            </p:txEl>
                                          </p:spTgt>
                                        </p:tgtEl>
                                        <p:attrNameLst>
                                          <p:attrName>style.visibility</p:attrName>
                                        </p:attrNameLst>
                                      </p:cBhvr>
                                      <p:to>
                                        <p:strVal val="visible"/>
                                      </p:to>
                                    </p:set>
                                    <p:animEffect filter="fade" transition="in">
                                      <p:cBhvr>
                                        <p:cTn dur="1"/>
                                        <p:tgtEl>
                                          <p:spTgt spid="51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Veri.</a:t>
            </a:r>
            <a:endParaRPr/>
          </a:p>
        </p:txBody>
      </p:sp>
      <p:sp>
        <p:nvSpPr>
          <p:cNvPr id="525" name="Google Shape;525;p64"/>
          <p:cNvSpPr txBox="1"/>
          <p:nvPr>
            <p:ph idx="1" type="body"/>
          </p:nvPr>
        </p:nvSpPr>
        <p:spPr>
          <a:xfrm>
            <a:off x="468895" y="1282400"/>
            <a:ext cx="4180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800"/>
              <a:t>Microwave controller </a:t>
            </a:r>
            <a:endParaRPr sz="1800"/>
          </a:p>
          <a:p>
            <a:pPr indent="-342900" lvl="0" marL="457200" rtl="0" algn="l">
              <a:lnSpc>
                <a:spcPct val="115000"/>
              </a:lnSpc>
              <a:spcBef>
                <a:spcPts val="0"/>
              </a:spcBef>
              <a:spcAft>
                <a:spcPts val="0"/>
              </a:spcAft>
              <a:buSzPts val="1800"/>
              <a:buChar char="●"/>
            </a:pPr>
            <a:r>
              <a:rPr lang="sv-SE" sz="1800"/>
              <a:t>Door: {Open, Closed} -- sensor input indicating state of the door</a:t>
            </a:r>
            <a:endParaRPr sz="1800"/>
          </a:p>
          <a:p>
            <a:pPr indent="-342900" lvl="0" marL="457200" rtl="0" algn="l">
              <a:lnSpc>
                <a:spcPct val="115000"/>
              </a:lnSpc>
              <a:spcBef>
                <a:spcPts val="0"/>
              </a:spcBef>
              <a:spcAft>
                <a:spcPts val="0"/>
              </a:spcAft>
              <a:buSzPts val="1800"/>
              <a:buChar char="●"/>
            </a:pPr>
            <a:r>
              <a:rPr lang="sv-SE" sz="1800"/>
              <a:t>Button: {None, Start, Stop} -- button press</a:t>
            </a:r>
            <a:endParaRPr sz="1800"/>
          </a:p>
          <a:p>
            <a:pPr indent="-342900" lvl="0" marL="457200" rtl="0" algn="l">
              <a:lnSpc>
                <a:spcPct val="115000"/>
              </a:lnSpc>
              <a:spcBef>
                <a:spcPts val="0"/>
              </a:spcBef>
              <a:spcAft>
                <a:spcPts val="0"/>
              </a:spcAft>
              <a:buSzPts val="1800"/>
              <a:buChar char="●"/>
            </a:pPr>
            <a:r>
              <a:rPr lang="sv-SE" sz="1800"/>
              <a:t>Timer: 0...999 -- (remaining) seconds to cook</a:t>
            </a:r>
            <a:endParaRPr sz="1800"/>
          </a:p>
          <a:p>
            <a:pPr indent="-342900" lvl="0" marL="457200" rtl="0" algn="l">
              <a:lnSpc>
                <a:spcPct val="115000"/>
              </a:lnSpc>
              <a:spcBef>
                <a:spcPts val="0"/>
              </a:spcBef>
              <a:spcAft>
                <a:spcPts val="0"/>
              </a:spcAft>
              <a:buSzPts val="1800"/>
              <a:buChar char="●"/>
            </a:pPr>
            <a:r>
              <a:rPr lang="sv-SE" sz="1800"/>
              <a:t>Cooking: Boolean -- state of the heating element</a:t>
            </a:r>
            <a:endParaRPr sz="1800">
              <a:solidFill>
                <a:srgbClr val="000000"/>
              </a:solidFill>
            </a:endParaRPr>
          </a:p>
        </p:txBody>
      </p:sp>
      <p:sp>
        <p:nvSpPr>
          <p:cNvPr id="526" name="Google Shape;526;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527" name="Google Shape;527;p64"/>
          <p:cNvSpPr txBox="1"/>
          <p:nvPr>
            <p:ph idx="1" type="body"/>
          </p:nvPr>
        </p:nvSpPr>
        <p:spPr>
          <a:xfrm>
            <a:off x="4750374" y="861125"/>
            <a:ext cx="39945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solidFill>
                  <a:schemeClr val="dk1"/>
                </a:solidFill>
              </a:rPr>
              <a:t>In LTL: </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The only way to initiate cooking shall be pressing the start button when the door is closed and the remaining cook time is not zero.</a:t>
            </a:r>
            <a:endParaRPr sz="2400">
              <a:solidFill>
                <a:schemeClr val="dk1"/>
              </a:solidFill>
            </a:endParaRPr>
          </a:p>
          <a:p>
            <a:pPr indent="-381000" lvl="0" marL="457200" rtl="0" algn="l">
              <a:lnSpc>
                <a:spcPct val="115000"/>
              </a:lnSpc>
              <a:spcBef>
                <a:spcPts val="0"/>
              </a:spcBef>
              <a:spcAft>
                <a:spcPts val="0"/>
              </a:spcAft>
              <a:buSzPts val="2400"/>
              <a:buChar char="●"/>
            </a:pPr>
            <a:r>
              <a:rPr b="1" lang="sv-SE" sz="2400"/>
              <a:t>G (!Cooking U </a:t>
            </a:r>
            <a:br>
              <a:rPr b="1" lang="sv-SE" sz="2400"/>
            </a:br>
            <a:r>
              <a:rPr b="1" lang="sv-SE" sz="2400"/>
              <a:t>((Button = Start &amp; </a:t>
            </a:r>
            <a:br>
              <a:rPr b="1" lang="sv-SE" sz="2400"/>
            </a:br>
            <a:r>
              <a:rPr b="1" lang="sv-SE" sz="2400"/>
              <a:t>Door = Closed) </a:t>
            </a:r>
            <a:br>
              <a:rPr b="1" lang="sv-SE" sz="2400"/>
            </a:br>
            <a:r>
              <a:rPr b="1" lang="sv-SE" sz="2400"/>
              <a:t>&amp; (Timer &gt; 0)))</a:t>
            </a:r>
            <a:endParaRPr b="1" sz="2400"/>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xEl>
                                              <p:pRg end="0" st="0"/>
                                            </p:txEl>
                                          </p:spTgt>
                                        </p:tgtEl>
                                        <p:attrNameLst>
                                          <p:attrName>style.visibility</p:attrName>
                                        </p:attrNameLst>
                                      </p:cBhvr>
                                      <p:to>
                                        <p:strVal val="visible"/>
                                      </p:to>
                                    </p:set>
                                    <p:animEffect filter="fade" transition="in">
                                      <p:cBhvr>
                                        <p:cTn dur="1"/>
                                        <p:tgtEl>
                                          <p:spTgt spid="5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xEl>
                                              <p:pRg end="1" st="1"/>
                                            </p:txEl>
                                          </p:spTgt>
                                        </p:tgtEl>
                                        <p:attrNameLst>
                                          <p:attrName>style.visibility</p:attrName>
                                        </p:attrNameLst>
                                      </p:cBhvr>
                                      <p:to>
                                        <p:strVal val="visible"/>
                                      </p:to>
                                    </p:set>
                                    <p:animEffect filter="fade" transition="in">
                                      <p:cBhvr>
                                        <p:cTn dur="1"/>
                                        <p:tgtEl>
                                          <p:spTgt spid="5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xEl>
                                              <p:pRg end="2" st="2"/>
                                            </p:txEl>
                                          </p:spTgt>
                                        </p:tgtEl>
                                        <p:attrNameLst>
                                          <p:attrName>style.visibility</p:attrName>
                                        </p:attrNameLst>
                                      </p:cBhvr>
                                      <p:to>
                                        <p:strVal val="visible"/>
                                      </p:to>
                                    </p:set>
                                    <p:animEffect filter="fade" transition="in">
                                      <p:cBhvr>
                                        <p:cTn dur="1"/>
                                        <p:tgtEl>
                                          <p:spTgt spid="5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xEl>
                                              <p:pRg end="3" st="3"/>
                                            </p:txEl>
                                          </p:spTgt>
                                        </p:tgtEl>
                                        <p:attrNameLst>
                                          <p:attrName>style.visibility</p:attrName>
                                        </p:attrNameLst>
                                      </p:cBhvr>
                                      <p:to>
                                        <p:strVal val="visible"/>
                                      </p:to>
                                    </p:set>
                                    <p:animEffect filter="fade" transition="in">
                                      <p:cBhvr>
                                        <p:cTn dur="1"/>
                                        <p:tgtEl>
                                          <p:spTgt spid="52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Verification</a:t>
            </a:r>
            <a:endParaRPr/>
          </a:p>
        </p:txBody>
      </p:sp>
      <p:sp>
        <p:nvSpPr>
          <p:cNvPr id="533" name="Google Shape;533;p65"/>
          <p:cNvSpPr txBox="1"/>
          <p:nvPr>
            <p:ph idx="1" type="body"/>
          </p:nvPr>
        </p:nvSpPr>
        <p:spPr>
          <a:xfrm>
            <a:off x="468895" y="1282400"/>
            <a:ext cx="41805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800"/>
              <a:t>Microwave controller </a:t>
            </a:r>
            <a:endParaRPr sz="1800"/>
          </a:p>
          <a:p>
            <a:pPr indent="-342900" lvl="0" marL="457200" rtl="0" algn="l">
              <a:lnSpc>
                <a:spcPct val="115000"/>
              </a:lnSpc>
              <a:spcBef>
                <a:spcPts val="0"/>
              </a:spcBef>
              <a:spcAft>
                <a:spcPts val="0"/>
              </a:spcAft>
              <a:buSzPts val="1800"/>
              <a:buChar char="●"/>
            </a:pPr>
            <a:r>
              <a:rPr lang="sv-SE" sz="1800"/>
              <a:t>Door: {Open, Closed} -- sensor input indicating state of the door</a:t>
            </a:r>
            <a:endParaRPr sz="1800"/>
          </a:p>
          <a:p>
            <a:pPr indent="-342900" lvl="0" marL="457200" rtl="0" algn="l">
              <a:lnSpc>
                <a:spcPct val="115000"/>
              </a:lnSpc>
              <a:spcBef>
                <a:spcPts val="0"/>
              </a:spcBef>
              <a:spcAft>
                <a:spcPts val="0"/>
              </a:spcAft>
              <a:buSzPts val="1800"/>
              <a:buChar char="●"/>
            </a:pPr>
            <a:r>
              <a:rPr lang="sv-SE" sz="1800"/>
              <a:t>Button: {None, Start, Stop} -- button press</a:t>
            </a:r>
            <a:endParaRPr sz="1800"/>
          </a:p>
          <a:p>
            <a:pPr indent="-342900" lvl="0" marL="457200" rtl="0" algn="l">
              <a:lnSpc>
                <a:spcPct val="115000"/>
              </a:lnSpc>
              <a:spcBef>
                <a:spcPts val="0"/>
              </a:spcBef>
              <a:spcAft>
                <a:spcPts val="0"/>
              </a:spcAft>
              <a:buSzPts val="1800"/>
              <a:buChar char="●"/>
            </a:pPr>
            <a:r>
              <a:rPr lang="sv-SE" sz="1800"/>
              <a:t>Timer: 0...999 -- (remaining) seconds to cook</a:t>
            </a:r>
            <a:endParaRPr sz="1800"/>
          </a:p>
          <a:p>
            <a:pPr indent="-342900" lvl="0" marL="457200" rtl="0" algn="l">
              <a:lnSpc>
                <a:spcPct val="115000"/>
              </a:lnSpc>
              <a:spcBef>
                <a:spcPts val="0"/>
              </a:spcBef>
              <a:spcAft>
                <a:spcPts val="0"/>
              </a:spcAft>
              <a:buSzPts val="1800"/>
              <a:buChar char="●"/>
            </a:pPr>
            <a:r>
              <a:rPr lang="sv-SE" sz="1800"/>
              <a:t>Cooking: Boolean -- state of the heating element</a:t>
            </a:r>
            <a:endParaRPr sz="1800">
              <a:solidFill>
                <a:srgbClr val="000000"/>
              </a:solidFill>
            </a:endParaRPr>
          </a:p>
        </p:txBody>
      </p:sp>
      <p:sp>
        <p:nvSpPr>
          <p:cNvPr id="534" name="Google Shape;534;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
        <p:nvSpPr>
          <p:cNvPr id="535" name="Google Shape;535;p65"/>
          <p:cNvSpPr txBox="1"/>
          <p:nvPr>
            <p:ph idx="1" type="body"/>
          </p:nvPr>
        </p:nvSpPr>
        <p:spPr>
          <a:xfrm>
            <a:off x="4750375" y="1181925"/>
            <a:ext cx="3994500" cy="3405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200">
                <a:solidFill>
                  <a:schemeClr val="dk1"/>
                </a:solidFill>
              </a:rPr>
              <a:t>In LTL: </a:t>
            </a:r>
            <a:endParaRPr sz="2200">
              <a:solidFill>
                <a:schemeClr val="dk1"/>
              </a:solidFill>
            </a:endParaRPr>
          </a:p>
          <a:p>
            <a:pPr indent="-355600" lvl="0" marL="457200" rtl="0" algn="l">
              <a:spcBef>
                <a:spcPts val="0"/>
              </a:spcBef>
              <a:spcAft>
                <a:spcPts val="0"/>
              </a:spcAft>
              <a:buClr>
                <a:schemeClr val="dk1"/>
              </a:buClr>
              <a:buSzPts val="2000"/>
              <a:buChar char="●"/>
            </a:pPr>
            <a:r>
              <a:rPr lang="sv-SE" sz="2000">
                <a:solidFill>
                  <a:schemeClr val="dk1"/>
                </a:solidFill>
              </a:rPr>
              <a:t>The microwave shall continue cooking when there is remaining cook time unless the stop button is pressed or the door is opened.</a:t>
            </a:r>
            <a:endParaRPr sz="2000">
              <a:solidFill>
                <a:schemeClr val="dk1"/>
              </a:solidFill>
            </a:endParaRPr>
          </a:p>
          <a:p>
            <a:pPr indent="-342900" lvl="0" marL="457200" rtl="0" algn="l">
              <a:lnSpc>
                <a:spcPct val="115000"/>
              </a:lnSpc>
              <a:spcBef>
                <a:spcPts val="0"/>
              </a:spcBef>
              <a:spcAft>
                <a:spcPts val="0"/>
              </a:spcAft>
              <a:buSzPts val="1800"/>
              <a:buChar char="●"/>
            </a:pPr>
            <a:r>
              <a:rPr b="1" lang="sv-SE" sz="1800"/>
              <a:t>G ((Cooking &amp; Timer &gt; 0) -&gt; </a:t>
            </a:r>
            <a:br>
              <a:rPr b="1" lang="sv-SE" sz="1800"/>
            </a:br>
            <a:r>
              <a:rPr b="1" lang="sv-SE" sz="1800"/>
              <a:t>X (((Cooking | </a:t>
            </a:r>
            <a:br>
              <a:rPr b="1" lang="sv-SE" sz="1800"/>
            </a:br>
            <a:r>
              <a:rPr b="1" lang="sv-SE" sz="1800"/>
              <a:t>(!Cooking &amp; Button = Stop)) | (!Cooking &amp; Door = Open)))</a:t>
            </a:r>
            <a:endParaRPr b="1" sz="1800"/>
          </a:p>
          <a:p>
            <a:pPr indent="0" lvl="0" marL="0" rtl="0" algn="l">
              <a:spcBef>
                <a:spcPts val="0"/>
              </a:spcBef>
              <a:spcAft>
                <a:spcPts val="0"/>
              </a:spcAft>
              <a:buNone/>
            </a:pPr>
            <a: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0" st="0"/>
                                            </p:txEl>
                                          </p:spTgt>
                                        </p:tgtEl>
                                        <p:attrNameLst>
                                          <p:attrName>style.visibility</p:attrName>
                                        </p:attrNameLst>
                                      </p:cBhvr>
                                      <p:to>
                                        <p:strVal val="visible"/>
                                      </p:to>
                                    </p:set>
                                    <p:animEffect filter="fade" transition="in">
                                      <p:cBhvr>
                                        <p:cTn dur="1"/>
                                        <p:tgtEl>
                                          <p:spTgt spid="5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1" st="1"/>
                                            </p:txEl>
                                          </p:spTgt>
                                        </p:tgtEl>
                                        <p:attrNameLst>
                                          <p:attrName>style.visibility</p:attrName>
                                        </p:attrNameLst>
                                      </p:cBhvr>
                                      <p:to>
                                        <p:strVal val="visible"/>
                                      </p:to>
                                    </p:set>
                                    <p:animEffect filter="fade" transition="in">
                                      <p:cBhvr>
                                        <p:cTn dur="1"/>
                                        <p:tgtEl>
                                          <p:spTgt spid="5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2" st="2"/>
                                            </p:txEl>
                                          </p:spTgt>
                                        </p:tgtEl>
                                        <p:attrNameLst>
                                          <p:attrName>style.visibility</p:attrName>
                                        </p:attrNameLst>
                                      </p:cBhvr>
                                      <p:to>
                                        <p:strVal val="visible"/>
                                      </p:to>
                                    </p:set>
                                    <p:animEffect filter="fade" transition="in">
                                      <p:cBhvr>
                                        <p:cTn dur="1"/>
                                        <p:tgtEl>
                                          <p:spTgt spid="5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3" st="3"/>
                                            </p:txEl>
                                          </p:spTgt>
                                        </p:tgtEl>
                                        <p:attrNameLst>
                                          <p:attrName>style.visibility</p:attrName>
                                        </p:attrNameLst>
                                      </p:cBhvr>
                                      <p:to>
                                        <p:strVal val="visible"/>
                                      </p:to>
                                    </p:set>
                                    <p:animEffect filter="fade" transition="in">
                                      <p:cBhvr>
                                        <p:cTn dur="1"/>
                                        <p:tgtEl>
                                          <p:spTgt spid="53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6"/>
          <p:cNvSpPr txBox="1"/>
          <p:nvPr/>
        </p:nvSpPr>
        <p:spPr>
          <a:xfrm>
            <a:off x="533800" y="570000"/>
            <a:ext cx="7961700" cy="3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3000">
                <a:solidFill>
                  <a:srgbClr val="FFFFFF"/>
                </a:solidFill>
              </a:rPr>
              <a:t>Any other questions?</a:t>
            </a:r>
            <a:endParaRPr b="1" sz="3000">
              <a:solidFill>
                <a:srgbClr val="FFFFFF"/>
              </a:solidFill>
            </a:endParaRPr>
          </a:p>
          <a:p>
            <a:pPr indent="0" lvl="0" marL="0" rtl="0" algn="l">
              <a:spcBef>
                <a:spcPts val="0"/>
              </a:spcBef>
              <a:spcAft>
                <a:spcPts val="0"/>
              </a:spcAft>
              <a:buNone/>
            </a:pPr>
            <a:r>
              <a:t/>
            </a:r>
            <a:endParaRPr b="1" sz="3000">
              <a:solidFill>
                <a:srgbClr val="FFFFFF"/>
              </a:solidFill>
            </a:endParaRPr>
          </a:p>
          <a:p>
            <a:pPr indent="0" lvl="0" marL="0" rtl="0" algn="l">
              <a:spcBef>
                <a:spcPts val="0"/>
              </a:spcBef>
              <a:spcAft>
                <a:spcPts val="0"/>
              </a:spcAft>
              <a:buNone/>
            </a:pPr>
            <a:r>
              <a:rPr b="1" lang="sv-SE" sz="4800">
                <a:solidFill>
                  <a:srgbClr val="FFFFFF"/>
                </a:solidFill>
              </a:rPr>
              <a:t>Thank you for being a great class!</a:t>
            </a:r>
            <a:endParaRPr b="1" sz="4800">
              <a:solidFill>
                <a:srgbClr val="FFFF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