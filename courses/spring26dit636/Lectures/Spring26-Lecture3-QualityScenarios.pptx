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4"/>
    <p:sldMasterId id="2147483669" r:id="rId5"/>
    <p:sldMasterId id="2147483670" r:id="rId6"/>
    <p:sldMasterId id="214748367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5ca1d314b_0_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5ca1d314b_0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Last time I posed a question </a:t>
            </a:r>
            <a:r>
              <a:rPr lang="sv-SE">
                <a:solidFill>
                  <a:schemeClr val="dk1"/>
                </a:solidFill>
              </a:rPr>
              <a:t>is (title)</a:t>
            </a:r>
            <a:r>
              <a:rPr lang="sv-SE"/>
              <a:t>. And the basic, but not really simple answer, is </a:t>
            </a:r>
            <a:r>
              <a:rPr lang="sv-SE">
                <a:solidFill>
                  <a:schemeClr val="dk1"/>
                </a:solidFill>
              </a:rPr>
              <a:t>that (</a:t>
            </a:r>
            <a:r>
              <a:rPr lang="sv-SE"/>
              <a:t>go over)</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267d3cbb60_0_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267d3cbb60_0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 a reminder, these are the four attributes we have focused on. (go over)</a:t>
            </a:r>
            <a:endParaRPr/>
          </a:p>
          <a:p>
            <a:pPr indent="0" lvl="0" marL="0" rtl="0" algn="l">
              <a:spcBef>
                <a:spcPts val="0"/>
              </a:spcBef>
              <a:spcAft>
                <a:spcPts val="0"/>
              </a:spcAft>
              <a:buNone/>
            </a:pPr>
            <a:r>
              <a:rPr lang="sv-SE"/>
              <a:t>availability, related to dependability, how systems recover</a:t>
            </a:r>
            <a:endParaRPr/>
          </a:p>
          <a:p>
            <a:pPr indent="0" lvl="0" marL="0" rtl="0" algn="l">
              <a:spcBef>
                <a:spcPts val="0"/>
              </a:spcBef>
              <a:spcAft>
                <a:spcPts val="0"/>
              </a:spcAft>
              <a:buNone/>
            </a:pPr>
            <a:r>
              <a:rPr lang="sv-SE"/>
              <a:t>scalability, related to performance, how the system is designed to scale its resource usage to maointan performance at a consistent level as the userbase increases</a:t>
            </a:r>
            <a:endParaRPr/>
          </a:p>
          <a:p>
            <a:pPr indent="0" lvl="0" marL="0" rtl="0" algn="l">
              <a:spcBef>
                <a:spcPts val="0"/>
              </a:spcBef>
              <a:spcAft>
                <a:spcPts val="0"/>
              </a:spcAft>
              <a:buNone/>
            </a:pPr>
            <a:r>
              <a:rPr lang="sv-SE"/>
              <a:t>there are others, but these are the four we will focus on - dependability, availability, performance, scalability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67d3cbb60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267d3cbb60_0_1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how do we assess quality? There are </a:t>
            </a:r>
            <a:r>
              <a:rPr lang="sv-SE"/>
              <a:t>different ways, but the most basic - the root of most dynamic verification techniques - is to run the system, and to measure the level of attainment of the quality of interest when we run it. Couple of caveats there. As we said last time, you can’t derive one single quality value for the whole system. Different aspects of the system may have different potential levels of quality and different quality goals. Some functions or code elements may need to be more reliable than others, or may have different needed performance levels. Further, even those goals may differ for the same aspect of the system under different operating conditions or for different groups of users. So, we first need to establish different execution scenarios - different ways ot executing the functionality or code element of interest.</a:t>
            </a:r>
            <a:endParaRPr/>
          </a:p>
        </p:txBody>
      </p:sp>
      <p:sp>
        <p:nvSpPr>
          <p:cNvPr id="173" name="Google Shape;173;g3267d3cbb60_0_1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67d3cbb60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267d3cbb60_0_1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these </a:t>
            </a:r>
            <a:r>
              <a:rPr lang="sv-SE"/>
              <a:t>scenarios</a:t>
            </a:r>
            <a:r>
              <a:rPr lang="sv-SE"/>
              <a:t> now. For each, we then can set thresholds on the required level of quality under that scenario. That gives us a target. Now, we can run the system in that scenario, take measurements, compare to the threshold. If it’s met, good. If not, there is a problem we need to fix. Is that enough? (discuss)</a:t>
            </a:r>
            <a:endParaRPr/>
          </a:p>
        </p:txBody>
      </p:sp>
      <p:sp>
        <p:nvSpPr>
          <p:cNvPr id="181" name="Google Shape;181;g3267d3cbb60_0_1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67d3cbb60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67d3cbb60_0_1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is often non-deterministic. For example, performance will always vary. Hopefully, it only varies a little, but sometimes, it might vary quite a lot - for example, if you have a weak network connection, you may lose packets, or if other programs are using CPU cycles, you might lose some speed in the program under test. So, one run doesn’t give the complete picture of quality. Similarly, the project evolves. We will make many code changes. Those may affect quality in good or bad ways. So, again, one run is not enough. Quality needs to be assessed over time, and scenarios need to be re-executed many times. The result of this is that when we set quality </a:t>
            </a:r>
            <a:r>
              <a:rPr lang="sv-SE"/>
              <a:t>thresholds</a:t>
            </a:r>
            <a:r>
              <a:rPr lang="sv-SE"/>
              <a:t>, we set them in terms of either average or probabilities - on average, the function runs in 10 seconds, 99% of the time, it runs in 12 seconds or less - or we set absolute limits that must never be broken. However, we only do that in severe cases, where the safety of the user is at stake. </a:t>
            </a:r>
            <a:endParaRPr/>
          </a:p>
        </p:txBody>
      </p:sp>
      <p:sp>
        <p:nvSpPr>
          <p:cNvPr id="189" name="Google Shape;189;g3267d3cbb60_0_1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267d3cbb60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267d3cbb60_0_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How do we assess quality? One popular way is to use what we call scenarios.</a:t>
            </a:r>
            <a:endParaRPr/>
          </a:p>
        </p:txBody>
      </p:sp>
      <p:sp>
        <p:nvSpPr>
          <p:cNvPr id="197" name="Google Shape;197;g3267d3cbb60_0_1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4f9f9bc3d_0_2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4f9f9bc3d_0_2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scenario is a well-defined description of an interaction between an external entity (e.g., a user) and the system.  It defines the event that triggers the scenario, the interaction initiated by the external entity, and the response required of the system, defined in terms of a measurement based on an appropriate quality attribute - for instance, if we are interested in performance, we might define a task and the current load, and measure the performance of the system against a threshold - number of jobs completed in a time frame, average speed of a job, and so on. Similar to use cases or user stories, but examines both quality and functionality.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b4f9f9bc3d_0_2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b4f9f9bc3d_0_2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S</a:t>
            </a:r>
            <a:r>
              <a:rPr lang="sv-SE"/>
              <a:t>cenarios can be used to capture a wide range of requirements, such as: • A particular set of interactions with its users to which the system must be</a:t>
            </a:r>
            <a:endParaRPr/>
          </a:p>
          <a:p>
            <a:pPr indent="0" lvl="0" marL="0" rtl="0" algn="l">
              <a:spcBef>
                <a:spcPts val="0"/>
              </a:spcBef>
              <a:spcAft>
                <a:spcPts val="0"/>
              </a:spcAft>
              <a:buClr>
                <a:schemeClr val="dk1"/>
              </a:buClr>
              <a:buSzPts val="1100"/>
              <a:buFont typeface="Arial"/>
              <a:buNone/>
            </a:pPr>
            <a:r>
              <a:rPr lang="sv-SE"/>
              <a:t>able to respond • The processing that must happen automatically at a particular point in time,</a:t>
            </a:r>
            <a:endParaRPr/>
          </a:p>
          <a:p>
            <a:pPr indent="0" lvl="0" marL="0" rtl="0" algn="l">
              <a:spcBef>
                <a:spcPts val="0"/>
              </a:spcBef>
              <a:spcAft>
                <a:spcPts val="0"/>
              </a:spcAft>
              <a:buClr>
                <a:schemeClr val="dk1"/>
              </a:buClr>
              <a:buSzPts val="1100"/>
              <a:buFont typeface="Arial"/>
              <a:buNone/>
            </a:pPr>
            <a:r>
              <a:rPr lang="sv-SE"/>
              <a:t>such as month end • A particular peak load situation that could occur • A demand that an external regulator might make of a system • How the system must respond to a particular type of failure • A change that a maintainer might need to be made to the system • Any other situation with which the design of the system must be able to cope</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b4f9f9bc3d_0_2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b4f9f9bc3d_0_2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There are different formats for writing scenarios. I know you used one in the architecture class, but we are going to use a </a:t>
            </a:r>
            <a:r>
              <a:rPr lang="sv-SE"/>
              <a:t>slightly</a:t>
            </a:r>
            <a:r>
              <a:rPr lang="sv-SE"/>
              <a:t> different one here that prepares us nicely for writing test cases. </a:t>
            </a:r>
            <a:r>
              <a:rPr lang="sv-SE"/>
              <a:t>When creating a scenario, you define six pieces of information. (click) First, you give a brief overview, desribing the goal of the scenario. What do you hope to show about the system using a scenario? What are the execution conditions you want to highlight for that part of the system? </a:t>
            </a:r>
            <a:r>
              <a:rPr lang="sv-SE"/>
              <a:t>(click) Then, we set pre-considitions. What is the the internal state of the system when the stimulus occurs (if significant). This may revolve around information stored in the system that will affect the execution, current number of concurrent users, number of waiting tasks in a queue, that could influence the resulting quality with regard to the attribute we care about. (click) we then look at the relevant factors in the system’s external environment - any significant observations about the environment that the system is running in, related to other pieces of software, infrastructure, even the physical world - such as the unavailability of external systems, current network conditions, particular infrastructure behavior, whether we can access a piece of hardware, if there is a fire in a room, and so on. Is there any special external factor that might influence system quality beyond the direct stimulus.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abdecb4597_0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abdecb4597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rgbClr val="4F4F4F"/>
                </a:solidFill>
              </a:rPr>
              <a:t>then, we define the stimulus. All scenarios start with a stimulus. This is some kind of event that forces the systme to act. This can be a request made to the system by a user or exernal system, or some change in the system’s environment that forces it to act, like a timer going off or a sensor getting a reading. It could be a failure of the system that triggers a sequence of events. This is some kind of trigger that makes the system act. This could be a user request, infrastructure changes or failures, changes in external system behavior, security attacks, required modifications, or any of the other factor that requires the system to act and to possess a particular quality property in order to deal with the stimulus successfully.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abdecb4597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abdecb4597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rgbClr val="4F4F4F"/>
                </a:solidFill>
              </a:rPr>
              <a:t>Finally, the last two items. (click) The required system response is a definition of how the system must behave in response to the stimulus. This is the functional response - what does it do when faced with this stimulus in this environment and state? This should include specifically how the system meets the quality goal -  for instance, how does the system respond, from a functional point of view, to a defined increase in the number of requests arriving per minute (click) the response measure - this is how we judge whether the sysgtem met the quality goal. This should include a measurement - throuhput, timing, availability, mean time to repair, time to detect an intruder, etc - and a threshold that must be met. This is how we prove the system met our quality goal successfullly.</a:t>
            </a:r>
            <a:endParaRPr/>
          </a:p>
          <a:p>
            <a:pPr indent="0" lvl="0" marL="0" rtl="0" algn="l">
              <a:spcBef>
                <a:spcPts val="0"/>
              </a:spcBef>
              <a:spcAft>
                <a:spcPts val="0"/>
              </a:spcAft>
              <a:buNone/>
            </a:pPr>
            <a:r>
              <a:t/>
            </a:r>
            <a:endParaRPr>
              <a:solidFill>
                <a:srgbClr val="4F4F4F"/>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b4f9f9bc3d_0_3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b4f9f9bc3d_0_3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 Performance, availability, scalability especially-</a:t>
            </a:r>
            <a:r>
              <a:rPr lang="sv-SE"/>
              <a:t> Due to a variety of factors, you won’t always get the same exact measurement back. This is especially true with time bounds, like those you see in performance measurements. (2) If your </a:t>
            </a:r>
            <a:r>
              <a:rPr lang="sv-SE"/>
              <a:t>performance</a:t>
            </a:r>
            <a:r>
              <a:rPr lang="sv-SE"/>
              <a:t> goals aren’t met in 1% of cases, that might be acceptable. </a:t>
            </a:r>
            <a:r>
              <a:rPr lang="sv-SE"/>
              <a:t>Therefore</a:t>
            </a:r>
            <a:r>
              <a:rPr lang="sv-SE"/>
              <a:t> in most cases, you should present the response measure probabilistically. Give a standard case, then give one or two worst-case scenario - (4-5). </a:t>
            </a:r>
            <a:r>
              <a:rPr lang="sv-SE"/>
              <a:t>Reliability measures like POFOD or ROCOF, those you can give as absolute. I will accept a ROCOF of 2 per hour. That still reflects the fact that the system will fail occasionally, but the measurement itself is not non-deterministic.  </a:t>
            </a:r>
            <a:r>
              <a:rPr lang="sv-SE"/>
              <a:t>Now, if you have strict time requirements, if user </a:t>
            </a:r>
            <a:r>
              <a:rPr lang="sv-SE"/>
              <a:t>safety</a:t>
            </a:r>
            <a:r>
              <a:rPr lang="sv-SE"/>
              <a:t> is at risk, should also present present absolute deadlines - the worst case you will possibly accept.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5ca1d314b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b5ca1d314b_0_1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b5ca1d314b_0_1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b4f9f9bc3d_0_3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b4f9f9bc3d_0_3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do a couple of examples so you can see what </a:t>
            </a:r>
            <a:r>
              <a:rPr lang="sv-SE"/>
              <a:t>these look like, then we can break down by quality attrbitute a bit later. Here is a basic reliability scenario</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b4f9f9bc3d_0_3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b4f9f9bc3d_0_3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go over an example. We’ll talk more about availability specifically later, but as a quick example. (go over)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267d3cbb60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267d3cbb60_0_1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major focus of this class is software testing. And a question that might be </a:t>
            </a:r>
            <a:r>
              <a:rPr lang="sv-SE"/>
              <a:t>occurring</a:t>
            </a:r>
            <a:r>
              <a:rPr lang="sv-SE"/>
              <a:t> to you is </a:t>
            </a:r>
            <a:r>
              <a:rPr lang="sv-SE"/>
              <a:t>whether</a:t>
            </a:r>
            <a:r>
              <a:rPr lang="sv-SE"/>
              <a:t> a scenario is a test case. The answer is that it’s not quite, it’s more like a recipe for many similar test cases. A scenario outlines general execution conditions and general goals under those conditions, but it does not prescribe the exact input that </a:t>
            </a:r>
            <a:r>
              <a:rPr lang="sv-SE"/>
              <a:t>occurred</a:t>
            </a:r>
            <a:r>
              <a:rPr lang="sv-SE"/>
              <a:t>. The scenario doesn’t say that the user pressed a particular equation into the calculator, just that the put in a valid equation or an invalid one. A test case is concrete and repeatable. From a scenario, we can create many individual concrete test cases. Therefore, scenarios are typically used to guide the creation of actual test cases that we can execute later on.</a:t>
            </a:r>
            <a:endParaRPr/>
          </a:p>
        </p:txBody>
      </p:sp>
      <p:sp>
        <p:nvSpPr>
          <p:cNvPr id="275" name="Google Shape;275;g3267d3cbb60_0_1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b4f9f9bc3d_0_3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b4f9f9bc3d_0_3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What Makes a Good Scenario? Key ones are Credible: A scenario should describe a realistic situation that could occur, and it should include enough detail for the reader to accept the scenario as a valid situation. • Valuable: a scenario should be of direct use somewhere in the development process, whether that is explaining the architecture to a stakeholder, ensuring the architecture is sound, or illustrating how the system works to a development team. It should then be useful during the testing process to help verify the requirements, as a source of potentially many </a:t>
            </a:r>
            <a:r>
              <a:rPr lang="sv-SE"/>
              <a:t>concrete test cases. </a:t>
            </a:r>
            <a:r>
              <a:rPr lang="sv-SE"/>
              <a:t>• Specific: A good scenario describes a particular situation accurately, rather than trying to generalize the system’s behavior over a whole class of situations. it becomes difficult to describe many situations  succinctly. • Precise: The definition of the scenario should be precise enough for the intended user of the scenario to be quite clear about what situation the scenario is describing and the required response of the system. • Comprehensible: scenarios should be comprehensible by those stakeholders who need to use them. This means writing them clearly, using widely understood terms, and avoiding acronyms and jargon.</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b4f9f9bc3d_0_3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b4f9f9bc3d_0_3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Scenarios are a straightforward technique. However, here are a few general practices that are helpful in applying scenarios effectively. (1) it isn’t often useful to end up with dozens and dozens of them. the net result is a lack of focus that prevents them from providing guidance. It is difficult to be prescriptive about the precise number of scenarios. However, more than 15 or 20 important scenarios across ALL quality attributes, not just one, is likely to be too many to use effectively for most systems, so work with your stakeholders to prioritize the set you end up with and focus on the riskiest and most important ones to guide decision making. (4) It is easy to create a number of scenarios that, although they seem different initially, are really very similar in terms of the requirements they place on the system. to avoid this situation, revisit the scenarios you identify and consider what demands each places on the system. (7) scenarios can be used throughout the software development lifecycle, but they have the most impact when applied early, when the design of the system is taking shape. If you don’t consider scenarios at an early stage but leave them until, say, they are needed for system testing, much of their potential benefit is likely to be lost. Of course, you may identify additional scenarios as development progresses ( for testing purposes). Still, the biggest role these have to play is to help you focus design activities on the most important aspects of the system. Later, we can use these as the basis for creating test cases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abdecb4597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abdecb4597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(title). They are used at multiple stages of development. Often, these are used as a design brainstorming tool. We design them when we design the system architecture and perform mental exercises to see if we think the designed the system will meet our goals. This often leads to architecture redesign and additional requirements - both functional and non-functional. They are also used to communicate and negotiate with stakeholders. We can persent them and see if the stakeholders have feedback - do they agree with your views on quality? will they accept a system behavior that reduces attainment of one quality for gains in another - for example, performance and security are often at odds with each other. Third, we can assess them during exploratory testing - when human users interact with the system - either internal or an alpha/beta test. We can execute these scenarios in multiple ways and see if the quality goals are met. Foruth, we can translate these into one or more formal test cases by assigning specific input and including calculations of the response measure.</a:t>
            </a:r>
            <a:endParaRPr/>
          </a:p>
        </p:txBody>
      </p:sp>
      <p:sp>
        <p:nvSpPr>
          <p:cNvPr id="297" name="Google Shape;297;gabdecb4597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768786388c_0_7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768786388c_0_7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How do we assess quality? One popular way is to use what we call scenarios.</a:t>
            </a:r>
            <a:endParaRPr/>
          </a:p>
        </p:txBody>
      </p:sp>
      <p:sp>
        <p:nvSpPr>
          <p:cNvPr id="309" name="Google Shape;309;g768786388c_0_7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b549c681d9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b549c681d9_0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is a statistical approximation of correctness. Over an observed period, how likely is the system to fail in an observable manner. As a quality, reliability is the ability of the system to function correctly. Scenarios show that it operated in the correct manner. Reliability  is something again that cannot be stated universally, but is instead dependent on the functionality accessed or the type of user, and that context must be given when we write scenarios. We must specify a specific user-level function of the system or small set of functions, and if we can, may even want to give context about the type of user - what frequency and ordering of functions do they use - or on the gorup of users - the load on the system. Functionlity is accessede by an user or external system through a defined interface.</a:t>
            </a:r>
            <a:endParaRPr/>
          </a:p>
        </p:txBody>
      </p:sp>
      <p:sp>
        <p:nvSpPr>
          <p:cNvPr id="317" name="Google Shape;317;gb549c681d9_0_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549c681d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549c681d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b549c681d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768786388c_0_5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768786388c_0_5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(1-2). You might want to examine reliability in specific scenarios, like following a specific type of failure, and the impact that leaves on reliability after the face. Same for environment state (3) - available disc space, memory, CPU capacity, networking environment - all of these can have a major impact on the reliability. If the network connection is flaky, requests to certain services might fail, leading to a visible system failure. Likewise, if the disc can’t be written to, we might see additional failures. These factors can be examined when we write scenarios, noting the expected outcome in resource-restricted environments.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b549c681d9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b549c681d9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through a system interface. The user or external system wants to use your system to perform some functionality. (2)  In general, we do NOT state reliability universally, but focus on a specific functionality of the system we are examining. When we use this function in this scenario, we expect this reliability. Not availability is 99.999999% no matter what we do. This is because we have to actually be able to run a scenario, and for that, we need to look at specific situation and not state some universal truth. (3)</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b549c681d9_1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b549c681d9_1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 all). By that, I mean that, the scenario might say “add an item to your cart”. That is a single request, but your </a:t>
            </a:r>
            <a:r>
              <a:rPr lang="sv-SE"/>
              <a:t>measurement</a:t>
            </a:r>
            <a:r>
              <a:rPr lang="sv-SE"/>
              <a:t> might say &lt;1 /1000 requests should fail. So, you might run this many times and then compare to the threshold.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5ca1d314b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5ca1d314b_0_1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typically we start with a requirement. (go over). Now, let’s craft a scenario together that verifies the requirement (go to doc)</a:t>
            </a:r>
            <a:endParaRPr/>
          </a:p>
        </p:txBody>
      </p:sp>
      <p:sp>
        <p:nvSpPr>
          <p:cNvPr id="360" name="Google Shape;360;g3b5ca1d314b_0_1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b549c681d9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b549c681d9_1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fairly basic, we’ll do more complicated, but gives you a good starting place.</a:t>
            </a:r>
            <a:endParaRPr/>
          </a:p>
        </p:txBody>
      </p:sp>
      <p:sp>
        <p:nvSpPr>
          <p:cNvPr id="368" name="Google Shape;368;gb549c681d9_1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b5ca1d314b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b5ca1d314b_0_1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fairly basic, we’ll do more complicated, but gives you a good starting place.</a:t>
            </a:r>
            <a:endParaRPr/>
          </a:p>
        </p:txBody>
      </p:sp>
      <p:sp>
        <p:nvSpPr>
          <p:cNvPr id="376" name="Google Shape;376;g3b5ca1d314b_0_1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768786388c_0_1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768786388c_0_12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8 min break</a:t>
            </a:r>
            <a:endParaRPr/>
          </a:p>
        </p:txBody>
      </p:sp>
      <p:sp>
        <p:nvSpPr>
          <p:cNvPr id="384" name="Google Shape;384;g768786388c_0_12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768786388c_0_1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768786388c_0_12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How do we assess quality? One popular way is to use what we call scenarios.</a:t>
            </a:r>
            <a:endParaRPr/>
          </a:p>
        </p:txBody>
      </p:sp>
      <p:sp>
        <p:nvSpPr>
          <p:cNvPr id="391" name="Google Shape;391;g768786388c_0_12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768786388c_0_5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768786388c_0_5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 a reminder, availability is (1). Availability scenarios (rest)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f6966575a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f6966575a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scenarios show how the system should operate under normal usage. In a normal situation, what does this function do? As a result, </a:t>
            </a:r>
            <a:r>
              <a:rPr lang="sv-SE"/>
              <a:t>the r</a:t>
            </a:r>
            <a:r>
              <a:rPr lang="sv-SE"/>
              <a:t>esponse measures show how often it is allowed to fail. Availability scenarios focus on what happens when it fails. The scenarios show how the failure is avoided, or how the system recovers when it does fail. As a result, the response measures are based on how the system handles the failure. (last point)</a:t>
            </a:r>
            <a:endParaRPr/>
          </a:p>
        </p:txBody>
      </p:sp>
      <p:sp>
        <p:nvSpPr>
          <p:cNvPr id="406" name="Google Shape;406;g1f6966575a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768786388c_0_5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768786388c_0_5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(1). This can be failures internally in the software or in the environment. For example, given a network connection failure, if there is no traffic from the system over the link, then the software may not perceive the network failure until it attempts to use the network. Do not assume the software is omniscient, that is, all-knowing; there must be a mechanism in the architecture to perceive failures before the system can respond to them. The kinds of scenarios that are managed by availability fall into three types: failure of a component of the software itself (code or hardware) or </a:t>
            </a:r>
            <a:r>
              <a:rPr lang="sv-SE"/>
              <a:t>failure</a:t>
            </a:r>
            <a:r>
              <a:rPr lang="sv-SE"/>
              <a:t> in an external system that is used by the software, reconfiguration of the physical system (e.g., adding or removing additional hardware resources), or maintenance or reconfiguration of the software: for example, patching the running software, especially if it requires restarting different processes that are part of the system, or entering a “maintenance mode” that requires that the software is offline or functions in a reduced capacity.</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b549c681d9_0_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b549c681d9_0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 We need to specify the resource or element of the system that is required to be highly available, such as a subsystem, a processor, acommunication channel, process, or storage.</a:t>
            </a:r>
            <a:endParaRPr/>
          </a:p>
          <a:p>
            <a:pPr indent="0" lvl="0" marL="0" rtl="0" algn="l">
              <a:spcBef>
                <a:spcPts val="0"/>
              </a:spcBef>
              <a:spcAft>
                <a:spcPts val="0"/>
              </a:spcAft>
              <a:buNone/>
            </a:pPr>
            <a:r>
              <a:rPr lang="sv-SE"/>
              <a:t> ■ State and Environment. The state of the system when the fault or failure occurs may also affect the desired system response. For example, if the system has already seen some faults and is operating in other than normal mode, it may be desirable to shut it down totally. However, if this is the first fault observed, some degradation of response time or function may be preferred. </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768786388c_0_13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768786388c_0_13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Source of stimulus. We differentiate between internal and external origins of faults or failure because the desired system response may be different. </a:t>
            </a:r>
            <a:endParaRPr/>
          </a:p>
          <a:p>
            <a:pPr indent="0" lvl="0" marL="0" rtl="0" algn="l">
              <a:spcBef>
                <a:spcPts val="0"/>
              </a:spcBef>
              <a:spcAft>
                <a:spcPts val="0"/>
              </a:spcAft>
              <a:buNone/>
            </a:pPr>
            <a:r>
              <a:rPr lang="sv-SE"/>
              <a:t>■ Stimulus. A fault of one of the following classes occurs: ■ Omission. A component fails to respond to an input. ■ Crash. The component repeatedly suffers omission faults. ■ Timing. A component responds but the response is early or late. ■ Response. A component responds with an incorrect value.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768786388c_0_5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768786388c_0_5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 Response. There are a number of possible reactions to a system fault. First, the failure must be detected and isolated (correlated) before any other response is possible. (One exception to this is when the failure is prevented before it occurs.) After the failureis detected, the system must recover from it. Actions associated with these possibilities include logging the failure, notifying selected users or other systems, taking actions to limit the damage caused by the failure, switching to a degraded mode with either less capacity or less function, shutting down external systems, or becoming unavailable during repair. </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768786388c_0_13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768786388c_0_13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 Response measure. The response measure can specify an availability percentage, or it can specify a time to detect the fault, time to repair the fault, times or time intervals during which the system must be available, or the duration for which the system must be available.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5ca1d314b_0_1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b5ca1d314b_0_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 Response measure. The response measure can specify an availability percentage, or it can specify a time to detect the fault, time to repair the fault, times or time intervals during which the system must be available, or the duration for which the system must be available.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b5ca1d314b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b5ca1d314b_0_1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to doc and do together)</a:t>
            </a:r>
            <a:endParaRPr/>
          </a:p>
        </p:txBody>
      </p:sp>
      <p:sp>
        <p:nvSpPr>
          <p:cNvPr id="466" name="Google Shape;466;g3b5ca1d314b_0_1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768786388c_0_5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768786388c_0_5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how we stay available, when an external dependency goes down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b5ca1d314b_0_1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b5ca1d314b_0_1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(point out in response measure that the worst case is intended to still meet the requirement and the normal case is safely in the bounds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abdecb459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abdecb4597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How do we assess quality? One popular way is to use what we call scenarios.</a:t>
            </a:r>
            <a:endParaRPr/>
          </a:p>
        </p:txBody>
      </p:sp>
      <p:sp>
        <p:nvSpPr>
          <p:cNvPr id="488" name="Google Shape;488;gabdecb4597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b50594d30b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b50594d30b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performance scenario begins with one or more events arriving that the system must respond to. Responding correctly to the event requires resources (including time) to be consumed. While this is happening, the system may be simultaneously servicing other events. When characterizing performance, we need to understand how those events arrive at the system. Events can arrive in predictable patterns or mathematical distributions, or be unpredictable. An arrival pattern for events is characterized as periodic, stochastic, or sporadic: Periodic events arrive predictably at regular time intervals. For instance, an event may arrive every 10 milliseconds. Periodic event arrival is most often seen in real-time systems. Stochastic arrival means that events arrive according to some probabilistic distribution. Sporadic events arrive according to a pattern that is neither periodic nor stochastic. Even these can be characterized, however, in certain circumstances. For example, we might know that at most 600 events will occur in a minute, or that there will be at least 200 milliseconds between the arrival of any two events. (This might describe a system in which events correspond to keyboard strokes from a human user.) These are helpful characterizations for understanding perfor,ance, even though we don’t know when any single event will arrive.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b50594d30b_0_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b50594d30b_0_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response of the system to a stimulus can be measured by the following - we went over these last class, but to reiterate: (go over)</a:t>
            </a:r>
            <a:endParaRPr/>
          </a:p>
          <a:p>
            <a:pPr indent="0" lvl="0" marL="0" rtl="0" algn="l">
              <a:spcBef>
                <a:spcPts val="0"/>
              </a:spcBef>
              <a:spcAft>
                <a:spcPts val="0"/>
              </a:spcAft>
              <a:buNone/>
            </a:pPr>
            <a:r>
              <a:rPr lang="sv-SE"/>
              <a:t>(6) In the engine controller, for example, the fuel should ignite when the cylinder is in a particular position, thus introducing a processing deadline.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768786388c_0_1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768786388c_0_1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Response time targets are meaningful only in the context of a defined load. It may be easy for a computer system to process a single transaction in 3 seconds but much harder to achieve this target when it is receiving 500 transactions a second. This means that response time requirements need to specify the context as well as a clearly defined response time goal (which also defines when a transaction starts and ends). In most systems, response time under constant load will vary according to some sort of distribution curve. Most transactions will complete at or near the average response time, but some will take longer, and a few will complete more quickly. In most cases, it isn’t reasonable to expect every transaction to complete within the target response time. It is more realistic to require a certain proportion (such as 90% or 95%) of transactions to meet the target. This is why it is so important to specify these probabilitiies - 95% 99% etc.</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768786388c_0_1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768786388c_0_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be clear about what aspect of performance you care about and what elements of the system you are focusing on</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abdecb4597_0_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abdecb4597_0_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768786388c_0_7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768786388c_0_7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abdecb4597_0_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abdecb4597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b5ca1d314b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b5ca1d314b_0_2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do together</a:t>
            </a:r>
            <a:endParaRPr/>
          </a:p>
        </p:txBody>
      </p:sp>
      <p:sp>
        <p:nvSpPr>
          <p:cNvPr id="553" name="Google Shape;553;g3b5ca1d314b_0_2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768786388c_0_1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768786388c_0_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 - discuss. Why good?)</a:t>
            </a:r>
            <a:endParaRPr/>
          </a:p>
          <a:p>
            <a:pPr indent="0" lvl="0" marL="0" rtl="0" algn="l">
              <a:spcBef>
                <a:spcPts val="0"/>
              </a:spcBef>
              <a:spcAft>
                <a:spcPts val="0"/>
              </a:spcAft>
              <a:buNone/>
            </a:pPr>
            <a:r>
              <a:rPr lang="sv-SE"/>
              <a:t>It is specific; it talks about response under a specific user action. It gives enough context</a:t>
            </a:r>
            <a:endParaRPr/>
          </a:p>
          <a:p>
            <a:pPr indent="0" lvl="0" marL="0" rtl="0" algn="l">
              <a:spcBef>
                <a:spcPts val="0"/>
              </a:spcBef>
              <a:spcAft>
                <a:spcPts val="0"/>
              </a:spcAft>
              <a:buNone/>
            </a:pPr>
            <a:r>
              <a:rPr lang="sv-SE"/>
              <a:t>information to be reasonable (granted, some of it is defined elsewhere in a glossary). Also, it gives a</a:t>
            </a:r>
            <a:endParaRPr/>
          </a:p>
          <a:p>
            <a:pPr indent="0" lvl="0" marL="0" rtl="0" algn="l">
              <a:spcBef>
                <a:spcPts val="0"/>
              </a:spcBef>
              <a:spcAft>
                <a:spcPts val="0"/>
              </a:spcAft>
              <a:buNone/>
            </a:pPr>
            <a:r>
              <a:rPr lang="sv-SE"/>
              <a:t>probabilistic guarantee, which is usually the correct way to talk about performance for non-real-</a:t>
            </a:r>
            <a:endParaRPr/>
          </a:p>
          <a:p>
            <a:pPr indent="0" lvl="0" marL="0" rtl="0" algn="l">
              <a:spcBef>
                <a:spcPts val="0"/>
              </a:spcBef>
              <a:spcAft>
                <a:spcPts val="0"/>
              </a:spcAft>
              <a:buNone/>
            </a:pPr>
            <a:r>
              <a:rPr lang="sv-SE"/>
              <a:t>time systems, and provides a testable bound for the scenario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b5ca1d314b_0_2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b5ca1d314b_0_2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 - discuss. Why good?)</a:t>
            </a:r>
            <a:endParaRPr/>
          </a:p>
          <a:p>
            <a:pPr indent="0" lvl="0" marL="0" rtl="0" algn="l">
              <a:spcBef>
                <a:spcPts val="0"/>
              </a:spcBef>
              <a:spcAft>
                <a:spcPts val="0"/>
              </a:spcAft>
              <a:buNone/>
            </a:pPr>
            <a:r>
              <a:rPr lang="sv-SE"/>
              <a:t>It is specific; it talks about response under a specific user action. It gives enough context</a:t>
            </a:r>
            <a:endParaRPr/>
          </a:p>
          <a:p>
            <a:pPr indent="0" lvl="0" marL="0" rtl="0" algn="l">
              <a:spcBef>
                <a:spcPts val="0"/>
              </a:spcBef>
              <a:spcAft>
                <a:spcPts val="0"/>
              </a:spcAft>
              <a:buNone/>
            </a:pPr>
            <a:r>
              <a:rPr lang="sv-SE"/>
              <a:t>information to be reasonable (granted, some of it is defined elsewhere in a glossary). Also, it gives a</a:t>
            </a:r>
            <a:endParaRPr/>
          </a:p>
          <a:p>
            <a:pPr indent="0" lvl="0" marL="0" rtl="0" algn="l">
              <a:spcBef>
                <a:spcPts val="0"/>
              </a:spcBef>
              <a:spcAft>
                <a:spcPts val="0"/>
              </a:spcAft>
              <a:buNone/>
            </a:pPr>
            <a:r>
              <a:rPr lang="sv-SE"/>
              <a:t>probabilistic guarantee, which is usually the correct way to talk about performance for non-real-</a:t>
            </a:r>
            <a:endParaRPr/>
          </a:p>
          <a:p>
            <a:pPr indent="0" lvl="0" marL="0" rtl="0" algn="l">
              <a:spcBef>
                <a:spcPts val="0"/>
              </a:spcBef>
              <a:spcAft>
                <a:spcPts val="0"/>
              </a:spcAft>
              <a:buNone/>
            </a:pPr>
            <a:r>
              <a:rPr lang="sv-SE"/>
              <a:t>time systems, and provides a testable bound for the scenario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abdecb4597_0_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abdecb4597_0_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thnroughput focus, under heavy load, we may care less about individual users response time and more about completing a lot of users’ requests</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abdecb4597_0_1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abdecb4597_0_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thnroughput focus - all requests, not a single request. Ideally, each single request also completes in the initial requirtements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768786388c_0_1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768786388c_0_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Ability to address more and more requests are often part of performance scenarios. Scenarios assessing scalability directly (the ability to adjust available resources to the system) deal with the impact of adding or removing resources and what that does to the system. Response measures reflect: Changes to performance after you add more resources to one unit or add more logical units to a pool - more servers to a server pool. Look at performance before and after and either quantify the improvement that should happen from adding resources or the worst allowable decrease in performance as you remove resources. Changes to availability after adding or removing resources. Look at availablility before and after. Load assigned to existing and new resources - look at how evenly load is spread among units.</a:t>
            </a:r>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768786388c_0_1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768786388c_0_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note that change in resources is part of environment state.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768786388c_0_8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768786388c_0_8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this is looking at change in performance</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b4f9f9bc3d_0_5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b4f9f9bc3d_0_5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 It can also help reveal omissions and errors in the requirements and is useful when it comes to testing the system. We defined two classes of scenarios: functional scenarios, which are nearly</a:t>
            </a:r>
            <a:endParaRPr sz="1100">
              <a:solidFill>
                <a:srgbClr val="000000"/>
              </a:solidFill>
              <a:latin typeface="Arial"/>
              <a:ea typeface="Arial"/>
              <a:cs typeface="Arial"/>
              <a:sym typeface="Arial"/>
            </a:endParaRPr>
          </a:p>
          <a:p>
            <a:pPr indent="0" lvl="0" marL="0" rtl="0" algn="l">
              <a:spcBef>
                <a:spcPts val="0"/>
              </a:spcBef>
              <a:spcAft>
                <a:spcPts val="0"/>
              </a:spcAft>
              <a:buNone/>
            </a:pPr>
            <a:r>
              <a:rPr lang="sv-SE" sz="1100">
                <a:solidFill>
                  <a:srgbClr val="000000"/>
                </a:solidFill>
                <a:latin typeface="Arial"/>
                <a:ea typeface="Arial"/>
                <a:cs typeface="Arial"/>
                <a:sym typeface="Arial"/>
              </a:rPr>
              <a:t>always defined in terms of a sequence of external events the system must respond to in a particular way; and system quality scenarios, which are defined in terms of how the system should react to a change in its environment, as a</a:t>
            </a:r>
            <a:endParaRPr sz="1100">
              <a:solidFill>
                <a:srgbClr val="000000"/>
              </a:solidFill>
              <a:latin typeface="Arial"/>
              <a:ea typeface="Arial"/>
              <a:cs typeface="Arial"/>
              <a:sym typeface="Arial"/>
            </a:endParaRPr>
          </a:p>
          <a:p>
            <a:pPr indent="0" lvl="0" marL="0" rtl="0" algn="l">
              <a:spcBef>
                <a:spcPts val="0"/>
              </a:spcBef>
              <a:spcAft>
                <a:spcPts val="0"/>
              </a:spcAft>
              <a:buNone/>
            </a:pPr>
            <a:r>
              <a:rPr lang="sv-SE" sz="1100">
                <a:solidFill>
                  <a:srgbClr val="000000"/>
                </a:solidFill>
                <a:latin typeface="Arial"/>
                <a:ea typeface="Arial"/>
                <a:cs typeface="Arial"/>
                <a:sym typeface="Arial"/>
              </a:rPr>
              <a:t>consequence of one of the quality properties it is meant to exhibit. (4)</a:t>
            </a:r>
            <a:endParaRPr/>
          </a:p>
        </p:txBody>
      </p:sp>
      <p:sp>
        <p:nvSpPr>
          <p:cNvPr id="610" name="Google Shape;610;gb4f9f9bc3d_0_5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768786388c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768786388c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g768786388c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69" name="Shape 69"/>
        <p:cNvGrpSpPr/>
        <p:nvPr/>
      </p:nvGrpSpPr>
      <p:grpSpPr>
        <a:xfrm>
          <a:off x="0" y="0"/>
          <a:ext cx="0" cy="0"/>
          <a:chOff x="0" y="0"/>
          <a:chExt cx="0" cy="0"/>
        </a:xfrm>
      </p:grpSpPr>
      <p:sp>
        <p:nvSpPr>
          <p:cNvPr id="70" name="Google Shape;70;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2"/>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3" name="Google Shape;73;p1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4" name="Google Shape;74;p1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5" name="Google Shape;75;p12"/>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2"/>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85" name="Shape 85"/>
        <p:cNvGrpSpPr/>
        <p:nvPr/>
      </p:nvGrpSpPr>
      <p:grpSpPr>
        <a:xfrm>
          <a:off x="0" y="0"/>
          <a:ext cx="0" cy="0"/>
          <a:chOff x="0" y="0"/>
          <a:chExt cx="0" cy="0"/>
        </a:xfrm>
      </p:grpSpPr>
      <p:sp>
        <p:nvSpPr>
          <p:cNvPr id="86" name="Google Shape;86;p16"/>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87" name="Google Shape;87;p16"/>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8" name="Google Shape;88;p16"/>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9" name="Google Shape;89;p16"/>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0" name="Google Shape;90;p16"/>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1" name="Google Shape;91;p16"/>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92" name="Shape 92"/>
        <p:cNvGrpSpPr/>
        <p:nvPr/>
      </p:nvGrpSpPr>
      <p:grpSpPr>
        <a:xfrm>
          <a:off x="0" y="0"/>
          <a:ext cx="0" cy="0"/>
          <a:chOff x="0" y="0"/>
          <a:chExt cx="0" cy="0"/>
        </a:xfrm>
      </p:grpSpPr>
      <p:sp>
        <p:nvSpPr>
          <p:cNvPr id="93" name="Google Shape;93;p17"/>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94" name="Google Shape;94;p17"/>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5" name="Google Shape;95;p17"/>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6" name="Google Shape;96;p17"/>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7" name="Google Shape;97;p17"/>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8" name="Google Shape;98;p17"/>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99" name="Shape 99"/>
        <p:cNvGrpSpPr/>
        <p:nvPr/>
      </p:nvGrpSpPr>
      <p:grpSpPr>
        <a:xfrm>
          <a:off x="0" y="0"/>
          <a:ext cx="0" cy="0"/>
          <a:chOff x="0" y="0"/>
          <a:chExt cx="0" cy="0"/>
        </a:xfrm>
      </p:grpSpPr>
      <p:sp>
        <p:nvSpPr>
          <p:cNvPr id="100" name="Google Shape;100;p18"/>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1" name="Google Shape;101;p18"/>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 name="Google Shape;102;p18"/>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3" name="Google Shape;103;p18"/>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4" name="Google Shape;104;p18"/>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5" name="Google Shape;105;p18"/>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106" name="Shape 106"/>
        <p:cNvGrpSpPr/>
        <p:nvPr/>
      </p:nvGrpSpPr>
      <p:grpSpPr>
        <a:xfrm>
          <a:off x="0" y="0"/>
          <a:ext cx="0" cy="0"/>
          <a:chOff x="0" y="0"/>
          <a:chExt cx="0" cy="0"/>
        </a:xfrm>
      </p:grpSpPr>
      <p:sp>
        <p:nvSpPr>
          <p:cNvPr id="107" name="Google Shape;107;p19"/>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8" name="Google Shape;108;p19"/>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9" name="Google Shape;109;p19"/>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0" name="Google Shape;110;p19"/>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1" name="Google Shape;111;p19"/>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2" name="Google Shape;112;p19"/>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113" name="Shape 113"/>
        <p:cNvGrpSpPr/>
        <p:nvPr/>
      </p:nvGrpSpPr>
      <p:grpSpPr>
        <a:xfrm>
          <a:off x="0" y="0"/>
          <a:ext cx="0" cy="0"/>
          <a:chOff x="0" y="0"/>
          <a:chExt cx="0" cy="0"/>
        </a:xfrm>
      </p:grpSpPr>
      <p:sp>
        <p:nvSpPr>
          <p:cNvPr id="114" name="Google Shape;114;p20"/>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5" name="Google Shape;115;p20"/>
          <p:cNvSpPr txBox="1"/>
          <p:nvPr>
            <p:ph type="title"/>
          </p:nvPr>
        </p:nvSpPr>
        <p:spPr>
          <a:xfrm>
            <a:off x="468890" y="614003"/>
            <a:ext cx="8217900" cy="7521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6" name="Google Shape;116;p20"/>
          <p:cNvSpPr txBox="1"/>
          <p:nvPr>
            <p:ph idx="1" type="body"/>
          </p:nvPr>
        </p:nvSpPr>
        <p:spPr>
          <a:xfrm>
            <a:off x="468890" y="1366024"/>
            <a:ext cx="8217900" cy="309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7" name="Google Shape;117;p20"/>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8" name="Google Shape;118;p20"/>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9" name="Google Shape;119;p20"/>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120" name="Shape 120"/>
        <p:cNvGrpSpPr/>
        <p:nvPr/>
      </p:nvGrpSpPr>
      <p:grpSpPr>
        <a:xfrm>
          <a:off x="0" y="0"/>
          <a:ext cx="0" cy="0"/>
          <a:chOff x="0" y="0"/>
          <a:chExt cx="0" cy="0"/>
        </a:xfrm>
      </p:grpSpPr>
      <p:sp>
        <p:nvSpPr>
          <p:cNvPr id="121" name="Google Shape;121;p21"/>
          <p:cNvSpPr/>
          <p:nvPr>
            <p:ph idx="2" type="pic"/>
          </p:nvPr>
        </p:nvSpPr>
        <p:spPr>
          <a:xfrm>
            <a:off x="6553200" y="418169"/>
            <a:ext cx="2590800" cy="4512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22" name="Google Shape;122;p21"/>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23" name="Google Shape;123;p21"/>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4" name="Google Shape;124;p21"/>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5" name="Google Shape;125;p21"/>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126" name="Google Shape;126;p21"/>
          <p:cNvSpPr txBox="1"/>
          <p:nvPr>
            <p:ph type="title"/>
          </p:nvPr>
        </p:nvSpPr>
        <p:spPr>
          <a:xfrm>
            <a:off x="468890" y="614004"/>
            <a:ext cx="5875200" cy="9138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7" name="Google Shape;127;p21"/>
          <p:cNvSpPr txBox="1"/>
          <p:nvPr>
            <p:ph idx="1" type="body"/>
          </p:nvPr>
        </p:nvSpPr>
        <p:spPr>
          <a:xfrm>
            <a:off x="468890" y="1709378"/>
            <a:ext cx="5875200" cy="31548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128" name="Shape 128"/>
        <p:cNvGrpSpPr/>
        <p:nvPr/>
      </p:nvGrpSpPr>
      <p:grpSpPr>
        <a:xfrm>
          <a:off x="0" y="0"/>
          <a:ext cx="0" cy="0"/>
          <a:chOff x="0" y="0"/>
          <a:chExt cx="0" cy="0"/>
        </a:xfrm>
      </p:grpSpPr>
      <p:sp>
        <p:nvSpPr>
          <p:cNvPr id="129" name="Google Shape;129;p2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3"/>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2" name="Google Shape;132;p23"/>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3" name="Google Shape;133;p23"/>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34" name="Google Shape;134;p23"/>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5" name="Google Shape;135;p23"/>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6" name="Shape 136"/>
        <p:cNvGrpSpPr/>
        <p:nvPr/>
      </p:nvGrpSpPr>
      <p:grpSpPr>
        <a:xfrm>
          <a:off x="0" y="0"/>
          <a:ext cx="0" cy="0"/>
          <a:chOff x="0" y="0"/>
          <a:chExt cx="0" cy="0"/>
        </a:xfrm>
      </p:grpSpPr>
      <p:sp>
        <p:nvSpPr>
          <p:cNvPr id="137" name="Google Shape;137;p24"/>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8" name="Google Shape;138;p24"/>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9" name="Google Shape;139;p24"/>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40" name="Google Shape;140;p24"/>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1" name="Google Shape;141;p24"/>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2" name="Google Shape;142;p24"/>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1.xml"/><Relationship Id="rId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4.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5"/>
          <p:cNvSpPr/>
          <p:nvPr/>
        </p:nvSpPr>
        <p:spPr>
          <a:xfrm>
            <a:off x="0" y="0"/>
            <a:ext cx="9144000" cy="420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83" name="Google Shape;83;p15"/>
          <p:cNvPicPr preferRelativeResize="0"/>
          <p:nvPr/>
        </p:nvPicPr>
        <p:blipFill rotWithShape="1">
          <a:blip r:embed="rId1">
            <a:alphaModFix/>
          </a:blip>
          <a:srcRect b="0" l="0" r="0" t="0"/>
          <a:stretch/>
        </p:blipFill>
        <p:spPr>
          <a:xfrm>
            <a:off x="391885" y="-70325"/>
            <a:ext cx="3846288" cy="587433"/>
          </a:xfrm>
          <a:prstGeom prst="rect">
            <a:avLst/>
          </a:prstGeom>
          <a:noFill/>
          <a:ln>
            <a:noFill/>
          </a:ln>
        </p:spPr>
      </p:pic>
      <p:pic>
        <p:nvPicPr>
          <p:cNvPr id="84" name="Google Shape;84;p15"/>
          <p:cNvPicPr preferRelativeResize="0"/>
          <p:nvPr/>
        </p:nvPicPr>
        <p:blipFill rotWithShape="1">
          <a:blip r:embed="rId2">
            <a:alphaModFix/>
          </a:blip>
          <a:srcRect b="0" l="50634" r="0" t="0"/>
          <a:stretch/>
        </p:blipFill>
        <p:spPr>
          <a:xfrm>
            <a:off x="4630056" y="5297"/>
            <a:ext cx="4513940"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5.jpg"/><Relationship Id="rId4" Type="http://schemas.openxmlformats.org/officeDocument/2006/relationships/image" Target="../media/image11.jpg"/><Relationship Id="rId5" Type="http://schemas.openxmlformats.org/officeDocument/2006/relationships/image" Target="../media/image6.jpg"/><Relationship Id="rId6"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0.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0.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3: Quality Scenarios</a:t>
            </a:r>
            <a:endParaRPr/>
          </a:p>
        </p:txBody>
      </p:sp>
      <p:sp>
        <p:nvSpPr>
          <p:cNvPr id="148" name="Google Shape;148;p25"/>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January 26,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468900" y="614000"/>
            <a:ext cx="84420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When is Software Ready for Release?</a:t>
            </a:r>
            <a:endParaRPr/>
          </a:p>
        </p:txBody>
      </p:sp>
      <p:sp>
        <p:nvSpPr>
          <p:cNvPr id="154" name="Google Shape;154;p2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When you can argue that it shows </a:t>
            </a:r>
            <a:r>
              <a:rPr i="1" lang="sv-SE"/>
              <a:t>sufficient</a:t>
            </a:r>
            <a:r>
              <a:rPr lang="sv-SE"/>
              <a:t> </a:t>
            </a:r>
            <a:r>
              <a:rPr i="1" lang="sv-SE"/>
              <a:t>quality</a:t>
            </a:r>
            <a:r>
              <a:rPr lang="sv-SE"/>
              <a:t>. </a:t>
            </a:r>
            <a:endParaRPr/>
          </a:p>
          <a:p>
            <a:pPr indent="-393700" lvl="0" marL="457200" rtl="0" algn="l">
              <a:spcBef>
                <a:spcPts val="1000"/>
              </a:spcBef>
              <a:spcAft>
                <a:spcPts val="0"/>
              </a:spcAft>
              <a:buSzPts val="2600"/>
              <a:buChar char="•"/>
            </a:pPr>
            <a:r>
              <a:rPr lang="sv-SE"/>
              <a:t>Requires choosing </a:t>
            </a:r>
            <a:r>
              <a:rPr b="1" lang="sv-SE">
                <a:solidFill>
                  <a:schemeClr val="accent3"/>
                </a:solidFill>
              </a:rPr>
              <a:t>quality attributes</a:t>
            </a:r>
            <a:r>
              <a:rPr lang="sv-SE"/>
              <a:t>.</a:t>
            </a:r>
            <a:endParaRPr/>
          </a:p>
          <a:p>
            <a:pPr indent="-368300" lvl="1" marL="914400" rtl="0" algn="l">
              <a:spcBef>
                <a:spcPts val="500"/>
              </a:spcBef>
              <a:spcAft>
                <a:spcPts val="0"/>
              </a:spcAft>
              <a:buSzPts val="2200"/>
              <a:buChar char="•"/>
            </a:pPr>
            <a:r>
              <a:rPr lang="sv-SE"/>
              <a:t>… specifying </a:t>
            </a:r>
            <a:r>
              <a:rPr b="1" lang="sv-SE">
                <a:solidFill>
                  <a:schemeClr val="accent3"/>
                </a:solidFill>
              </a:rPr>
              <a:t>measurements</a:t>
            </a:r>
            <a:r>
              <a:rPr lang="sv-SE"/>
              <a:t> and </a:t>
            </a:r>
            <a:r>
              <a:rPr b="1" lang="sv-SE">
                <a:solidFill>
                  <a:schemeClr val="accent3"/>
                </a:solidFill>
              </a:rPr>
              <a:t>thresholds</a:t>
            </a:r>
            <a:r>
              <a:rPr lang="sv-SE"/>
              <a:t>.</a:t>
            </a:r>
            <a:endParaRPr/>
          </a:p>
          <a:p>
            <a:pPr indent="-368300" lvl="1" marL="914400" rtl="0" algn="l">
              <a:spcBef>
                <a:spcPts val="500"/>
              </a:spcBef>
              <a:spcAft>
                <a:spcPts val="0"/>
              </a:spcAft>
              <a:buSzPts val="2200"/>
              <a:buChar char="•"/>
            </a:pPr>
            <a:r>
              <a:rPr lang="sv-SE"/>
              <a:t>… different measurements and thresholds for </a:t>
            </a:r>
            <a:r>
              <a:rPr b="1" lang="sv-SE">
                <a:solidFill>
                  <a:schemeClr val="accent3"/>
                </a:solidFill>
              </a:rPr>
              <a:t>different functionality and execution scenarios</a:t>
            </a:r>
            <a:r>
              <a:rPr lang="sv-SE"/>
              <a:t>.</a:t>
            </a:r>
            <a:endParaRPr/>
          </a:p>
          <a:p>
            <a:pPr indent="-393700" lvl="0" marL="457200" rtl="0" algn="l">
              <a:spcBef>
                <a:spcPts val="1000"/>
              </a:spcBef>
              <a:spcAft>
                <a:spcPts val="0"/>
              </a:spcAft>
              <a:buSzPts val="2600"/>
              <a:buChar char="•"/>
            </a:pPr>
            <a:r>
              <a:rPr lang="sv-SE"/>
              <a:t>Assessed through </a:t>
            </a:r>
            <a:r>
              <a:rPr b="1" lang="sv-SE">
                <a:solidFill>
                  <a:schemeClr val="accent3"/>
                </a:solidFill>
              </a:rPr>
              <a:t>Verification and Validation</a:t>
            </a:r>
            <a:r>
              <a:rPr lang="sv-SE"/>
              <a:t>.</a:t>
            </a:r>
            <a:endParaRPr/>
          </a:p>
          <a:p>
            <a:pPr indent="0" lvl="0" marL="0" rtl="0" algn="l">
              <a:spcBef>
                <a:spcPts val="1000"/>
              </a:spcBef>
              <a:spcAft>
                <a:spcPts val="0"/>
              </a:spcAft>
              <a:buNone/>
            </a:pPr>
            <a:r>
              <a:t/>
            </a:r>
            <a:endParaRPr/>
          </a:p>
        </p:txBody>
      </p:sp>
      <p:sp>
        <p:nvSpPr>
          <p:cNvPr id="155" name="Google Shape;155;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Attributes</a:t>
            </a:r>
            <a:endParaRPr/>
          </a:p>
        </p:txBody>
      </p:sp>
      <p:sp>
        <p:nvSpPr>
          <p:cNvPr id="161" name="Google Shape;161;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Char char="•"/>
            </a:pPr>
            <a:r>
              <a:rPr b="1" lang="sv-SE" sz="2100">
                <a:solidFill>
                  <a:schemeClr val="accent3"/>
                </a:solidFill>
              </a:rPr>
              <a:t>D</a:t>
            </a:r>
            <a:r>
              <a:rPr b="1" lang="sv-SE" sz="2100">
                <a:solidFill>
                  <a:schemeClr val="accent3"/>
                </a:solidFill>
              </a:rPr>
              <a:t>ependability</a:t>
            </a:r>
            <a:endParaRPr b="1" sz="2100">
              <a:solidFill>
                <a:schemeClr val="accent3"/>
              </a:solidFill>
            </a:endParaRPr>
          </a:p>
          <a:p>
            <a:pPr indent="-336550" lvl="1" marL="914400" rtl="0" algn="l">
              <a:spcBef>
                <a:spcPts val="500"/>
              </a:spcBef>
              <a:spcAft>
                <a:spcPts val="0"/>
              </a:spcAft>
              <a:buSzPts val="1700"/>
              <a:buChar char="•"/>
            </a:pPr>
            <a:r>
              <a:rPr lang="sv-SE" sz="1700"/>
              <a:t>Ability to offer correct functionality, even under unforeseen or unsafe conditions. Encompasses correctness, </a:t>
            </a:r>
            <a:r>
              <a:rPr b="1" lang="sv-SE" sz="1700">
                <a:solidFill>
                  <a:schemeClr val="accent3"/>
                </a:solidFill>
              </a:rPr>
              <a:t>reliability</a:t>
            </a:r>
            <a:r>
              <a:rPr lang="sv-SE" sz="1700"/>
              <a:t>, safety, robustness</a:t>
            </a:r>
            <a:endParaRPr sz="1700"/>
          </a:p>
          <a:p>
            <a:pPr indent="-361950" lvl="0" marL="457200" rtl="0" algn="l">
              <a:lnSpc>
                <a:spcPct val="100000"/>
              </a:lnSpc>
              <a:spcBef>
                <a:spcPts val="0"/>
              </a:spcBef>
              <a:spcAft>
                <a:spcPts val="0"/>
              </a:spcAft>
              <a:buClr>
                <a:schemeClr val="accent3"/>
              </a:buClr>
              <a:buSzPts val="2100"/>
              <a:buChar char="•"/>
            </a:pPr>
            <a:r>
              <a:rPr b="1" lang="sv-SE" sz="2100">
                <a:solidFill>
                  <a:schemeClr val="accent3"/>
                </a:solidFill>
              </a:rPr>
              <a:t>Availability</a:t>
            </a:r>
            <a:endParaRPr b="1" sz="2100">
              <a:solidFill>
                <a:schemeClr val="accent3"/>
              </a:solidFill>
            </a:endParaRPr>
          </a:p>
          <a:p>
            <a:pPr indent="-336550" lvl="1" marL="914400" rtl="0" algn="l">
              <a:lnSpc>
                <a:spcPct val="100000"/>
              </a:lnSpc>
              <a:spcBef>
                <a:spcPts val="0"/>
              </a:spcBef>
              <a:spcAft>
                <a:spcPts val="0"/>
              </a:spcAft>
              <a:buSzPts val="1700"/>
              <a:buChar char="•"/>
            </a:pPr>
            <a:r>
              <a:rPr lang="sv-SE" sz="1700"/>
              <a:t>Ability to avoid, ignore, and to recover from failures.</a:t>
            </a:r>
            <a:endParaRPr b="1" sz="1700">
              <a:solidFill>
                <a:schemeClr val="accent3"/>
              </a:solidFill>
            </a:endParaRPr>
          </a:p>
          <a:p>
            <a:pPr indent="-361950" lvl="0" marL="457200" marR="0" rtl="0" algn="l">
              <a:lnSpc>
                <a:spcPct val="100000"/>
              </a:lnSpc>
              <a:spcBef>
                <a:spcPts val="0"/>
              </a:spcBef>
              <a:spcAft>
                <a:spcPts val="0"/>
              </a:spcAft>
              <a:buClr>
                <a:schemeClr val="accent3"/>
              </a:buClr>
              <a:buSzPts val="2100"/>
              <a:buChar char="•"/>
            </a:pPr>
            <a:r>
              <a:rPr b="1" lang="sv-SE" sz="2100">
                <a:solidFill>
                  <a:schemeClr val="accent3"/>
                </a:solidFill>
              </a:rPr>
              <a:t>Performance</a:t>
            </a:r>
            <a:endParaRPr b="1" sz="2100">
              <a:solidFill>
                <a:schemeClr val="accent3"/>
              </a:solidFill>
            </a:endParaRPr>
          </a:p>
          <a:p>
            <a:pPr indent="-336550" lvl="1" marL="914400" marR="0" rtl="0" algn="l">
              <a:lnSpc>
                <a:spcPct val="100000"/>
              </a:lnSpc>
              <a:spcBef>
                <a:spcPts val="0"/>
              </a:spcBef>
              <a:spcAft>
                <a:spcPts val="0"/>
              </a:spcAft>
              <a:buSzPts val="1700"/>
              <a:buChar char="•"/>
            </a:pPr>
            <a:r>
              <a:rPr lang="sv-SE" sz="1700"/>
              <a:t>Ability to meet timing requirements. </a:t>
            </a:r>
            <a:endParaRPr sz="1700"/>
          </a:p>
          <a:p>
            <a:pPr indent="-361950" lvl="0" marL="457200" rtl="0" algn="l">
              <a:lnSpc>
                <a:spcPct val="100000"/>
              </a:lnSpc>
              <a:spcBef>
                <a:spcPts val="0"/>
              </a:spcBef>
              <a:spcAft>
                <a:spcPts val="0"/>
              </a:spcAft>
              <a:buClr>
                <a:schemeClr val="accent3"/>
              </a:buClr>
              <a:buSzPts val="2100"/>
              <a:buChar char="•"/>
            </a:pPr>
            <a:r>
              <a:rPr b="1" lang="sv-SE" sz="2100">
                <a:solidFill>
                  <a:schemeClr val="accent3"/>
                </a:solidFill>
              </a:rPr>
              <a:t>Scalability</a:t>
            </a:r>
            <a:endParaRPr b="1" sz="2100">
              <a:solidFill>
                <a:schemeClr val="accent3"/>
              </a:solidFill>
            </a:endParaRPr>
          </a:p>
          <a:p>
            <a:pPr indent="-336550" lvl="1" marL="914400" rtl="0" algn="l">
              <a:lnSpc>
                <a:spcPct val="100000"/>
              </a:lnSpc>
              <a:spcBef>
                <a:spcPts val="0"/>
              </a:spcBef>
              <a:spcAft>
                <a:spcPts val="0"/>
              </a:spcAft>
              <a:buSzPts val="1700"/>
              <a:buChar char="•"/>
            </a:pPr>
            <a:r>
              <a:rPr lang="sv-SE" sz="1700"/>
              <a:t>Ability to maintain reliability and performance as the available resources grow or shrink.</a:t>
            </a:r>
            <a:endParaRPr sz="1700"/>
          </a:p>
        </p:txBody>
      </p:sp>
      <p:sp>
        <p:nvSpPr>
          <p:cNvPr id="162" name="Google Shape;162;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68" name="Google Shape;168;p28"/>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Today’s Goals</a:t>
            </a:r>
            <a:endParaRPr/>
          </a:p>
        </p:txBody>
      </p:sp>
      <p:sp>
        <p:nvSpPr>
          <p:cNvPr id="169" name="Google Shape;169;p28"/>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have discussed what “quality” can mean (attributes).</a:t>
            </a:r>
            <a:endParaRPr/>
          </a:p>
          <a:p>
            <a:pPr indent="-393700" lvl="0" marL="457200" rtl="0" algn="l">
              <a:spcBef>
                <a:spcPts val="1000"/>
              </a:spcBef>
              <a:spcAft>
                <a:spcPts val="0"/>
              </a:spcAft>
              <a:buSzPts val="2600"/>
              <a:buChar char="•"/>
            </a:pPr>
            <a:r>
              <a:rPr lang="sv-SE"/>
              <a:t>We have discussed how to measure </a:t>
            </a:r>
            <a:r>
              <a:rPr b="1" lang="sv-SE">
                <a:solidFill>
                  <a:schemeClr val="accent3"/>
                </a:solidFill>
              </a:rPr>
              <a:t>reliability</a:t>
            </a:r>
            <a:r>
              <a:rPr lang="sv-SE"/>
              <a:t>, </a:t>
            </a:r>
            <a:r>
              <a:rPr b="1" lang="sv-SE">
                <a:solidFill>
                  <a:schemeClr val="accent3"/>
                </a:solidFill>
              </a:rPr>
              <a:t>availability</a:t>
            </a:r>
            <a:r>
              <a:rPr lang="sv-SE"/>
              <a:t>, </a:t>
            </a:r>
            <a:r>
              <a:rPr b="1" lang="sv-SE">
                <a:solidFill>
                  <a:schemeClr val="accent3"/>
                </a:solidFill>
              </a:rPr>
              <a:t>performance</a:t>
            </a:r>
            <a:r>
              <a:rPr lang="sv-SE"/>
              <a:t>, and </a:t>
            </a:r>
            <a:r>
              <a:rPr b="1" lang="sv-SE">
                <a:solidFill>
                  <a:schemeClr val="accent3"/>
                </a:solidFill>
              </a:rPr>
              <a:t>scalability</a:t>
            </a:r>
            <a:r>
              <a:rPr lang="sv-SE"/>
              <a:t>.</a:t>
            </a:r>
            <a:endParaRPr/>
          </a:p>
          <a:p>
            <a:pPr indent="-393700" lvl="0" marL="457200" rtl="0" algn="l">
              <a:spcBef>
                <a:spcPts val="1000"/>
              </a:spcBef>
              <a:spcAft>
                <a:spcPts val="0"/>
              </a:spcAft>
              <a:buSzPts val="2600"/>
              <a:buChar char="•"/>
            </a:pPr>
            <a:r>
              <a:rPr lang="sv-SE"/>
              <a:t>Today: How to assess each using </a:t>
            </a:r>
            <a:r>
              <a:rPr b="1" lang="sv-SE">
                <a:solidFill>
                  <a:schemeClr val="accent3"/>
                </a:solidFill>
              </a:rPr>
              <a:t>scenarios</a:t>
            </a:r>
            <a:r>
              <a:rPr lang="sv-SE"/>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76" name="Google Shape;176;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Assessing Quality</a:t>
            </a:r>
            <a:endParaRPr/>
          </a:p>
        </p:txBody>
      </p:sp>
      <p:sp>
        <p:nvSpPr>
          <p:cNvPr id="177" name="Google Shape;177;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Quality goals</a:t>
            </a:r>
            <a:r>
              <a:rPr lang="sv-SE"/>
              <a:t> differ between parts of the system.</a:t>
            </a:r>
            <a:endParaRPr/>
          </a:p>
          <a:p>
            <a:pPr indent="-368300" lvl="1" marL="914400" rtl="0" algn="l">
              <a:spcBef>
                <a:spcPts val="500"/>
              </a:spcBef>
              <a:spcAft>
                <a:spcPts val="0"/>
              </a:spcAft>
              <a:buSzPts val="2200"/>
              <a:buChar char="•"/>
            </a:pPr>
            <a:r>
              <a:rPr lang="sv-SE"/>
              <a:t>(e.g., user-facing functionality, code components).</a:t>
            </a:r>
            <a:endParaRPr/>
          </a:p>
          <a:p>
            <a:pPr indent="-393700" lvl="0" marL="457200" rtl="0" algn="l">
              <a:spcBef>
                <a:spcPts val="1000"/>
              </a:spcBef>
              <a:spcAft>
                <a:spcPts val="0"/>
              </a:spcAft>
              <a:buSzPts val="2600"/>
              <a:buChar char="•"/>
            </a:pPr>
            <a:r>
              <a:rPr lang="sv-SE"/>
              <a:t>For those parts, required quality may differ:</a:t>
            </a:r>
            <a:endParaRPr/>
          </a:p>
          <a:p>
            <a:pPr indent="-368300" lvl="1" marL="914400" rtl="0" algn="l">
              <a:spcBef>
                <a:spcPts val="500"/>
              </a:spcBef>
              <a:spcAft>
                <a:spcPts val="0"/>
              </a:spcAft>
              <a:buSzPts val="2200"/>
              <a:buChar char="•"/>
            </a:pPr>
            <a:r>
              <a:rPr lang="sv-SE"/>
              <a:t>Between situations.</a:t>
            </a:r>
            <a:endParaRPr/>
          </a:p>
          <a:p>
            <a:pPr indent="-342900" lvl="2" marL="1371600" rtl="0" algn="l">
              <a:spcBef>
                <a:spcPts val="500"/>
              </a:spcBef>
              <a:spcAft>
                <a:spcPts val="0"/>
              </a:spcAft>
              <a:buSzPts val="1800"/>
              <a:buChar char="•"/>
            </a:pPr>
            <a:r>
              <a:rPr lang="sv-SE"/>
              <a:t>(e.g., system under normal use, heavy load, partially down)</a:t>
            </a:r>
            <a:endParaRPr/>
          </a:p>
          <a:p>
            <a:pPr indent="-368300" lvl="1" marL="914400" rtl="0" algn="l">
              <a:spcBef>
                <a:spcPts val="500"/>
              </a:spcBef>
              <a:spcAft>
                <a:spcPts val="0"/>
              </a:spcAft>
              <a:buSzPts val="2200"/>
              <a:buChar char="•"/>
            </a:pPr>
            <a:r>
              <a:rPr lang="sv-SE"/>
              <a:t>Between different groups of users. </a:t>
            </a:r>
            <a:endParaRPr/>
          </a:p>
          <a:p>
            <a:pPr indent="-342900" lvl="2" marL="1371600" rtl="0" algn="l">
              <a:spcBef>
                <a:spcPts val="500"/>
              </a:spcBef>
              <a:spcAft>
                <a:spcPts val="0"/>
              </a:spcAft>
              <a:buSzPts val="1800"/>
              <a:buChar char="•"/>
            </a:pPr>
            <a:r>
              <a:rPr lang="sv-SE"/>
              <a:t>(e.g., new versus experienced users)</a:t>
            </a:r>
            <a:endParaRPr/>
          </a:p>
          <a:p>
            <a:pPr indent="-393700" lvl="0" marL="457200" rtl="0" algn="l">
              <a:spcBef>
                <a:spcPts val="1000"/>
              </a:spcBef>
              <a:spcAft>
                <a:spcPts val="0"/>
              </a:spcAft>
              <a:buSzPts val="2600"/>
              <a:buChar char="•"/>
            </a:pPr>
            <a:r>
              <a:rPr b="1" lang="sv-SE">
                <a:solidFill>
                  <a:schemeClr val="accent3"/>
                </a:solidFill>
              </a:rPr>
              <a:t>Scenarios</a:t>
            </a:r>
            <a:r>
              <a:rPr lang="sv-SE"/>
              <a:t> describe different execution conditions.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84" name="Google Shape;184;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Assessing Quality</a:t>
            </a:r>
            <a:endParaRPr/>
          </a:p>
        </p:txBody>
      </p:sp>
      <p:sp>
        <p:nvSpPr>
          <p:cNvPr id="185" name="Google Shape;185;p3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For each scenario, set quality </a:t>
            </a:r>
            <a:r>
              <a:rPr b="1" lang="sv-SE">
                <a:solidFill>
                  <a:schemeClr val="accent3"/>
                </a:solidFill>
              </a:rPr>
              <a:t>thresholds</a:t>
            </a:r>
            <a:r>
              <a:rPr lang="sv-SE"/>
              <a:t> (targets).</a:t>
            </a:r>
            <a:endParaRPr/>
          </a:p>
          <a:p>
            <a:pPr indent="-393700" lvl="0" marL="457200" rtl="0" algn="l">
              <a:spcBef>
                <a:spcPts val="1000"/>
              </a:spcBef>
              <a:spcAft>
                <a:spcPts val="0"/>
              </a:spcAft>
              <a:buSzPts val="2600"/>
              <a:buChar char="•"/>
            </a:pPr>
            <a:r>
              <a:rPr lang="sv-SE"/>
              <a:t>Execute the </a:t>
            </a:r>
            <a:r>
              <a:rPr lang="sv-SE"/>
              <a:t>scenario</a:t>
            </a:r>
            <a:r>
              <a:rPr lang="sv-SE"/>
              <a:t>, measure quality, compare to the threshold.</a:t>
            </a:r>
            <a:endParaRPr/>
          </a:p>
          <a:p>
            <a:pPr indent="-368300" lvl="1" marL="914400" rtl="0" algn="l">
              <a:spcBef>
                <a:spcPts val="500"/>
              </a:spcBef>
              <a:spcAft>
                <a:spcPts val="0"/>
              </a:spcAft>
              <a:buSzPts val="2200"/>
              <a:buChar char="•"/>
            </a:pPr>
            <a:r>
              <a:rPr lang="sv-SE"/>
              <a:t>If the </a:t>
            </a:r>
            <a:r>
              <a:rPr lang="sv-SE"/>
              <a:t>threshold</a:t>
            </a:r>
            <a:r>
              <a:rPr lang="sv-SE"/>
              <a:t> is met, good!</a:t>
            </a:r>
            <a:endParaRPr/>
          </a:p>
          <a:p>
            <a:pPr indent="-368300" lvl="1" marL="914400" rtl="0" algn="l">
              <a:spcBef>
                <a:spcPts val="500"/>
              </a:spcBef>
              <a:spcAft>
                <a:spcPts val="0"/>
              </a:spcAft>
              <a:buSzPts val="2200"/>
              <a:buChar char="•"/>
            </a:pPr>
            <a:r>
              <a:rPr lang="sv-SE"/>
              <a:t>If not, there is a fault in the system. </a:t>
            </a:r>
            <a:endParaRPr/>
          </a:p>
          <a:p>
            <a:pPr indent="-393700" lvl="0" marL="457200" rtl="0" algn="l">
              <a:spcBef>
                <a:spcPts val="1000"/>
              </a:spcBef>
              <a:spcAft>
                <a:spcPts val="0"/>
              </a:spcAft>
              <a:buSzPts val="2600"/>
              <a:buChar char="•"/>
            </a:pPr>
            <a:r>
              <a:rPr lang="sv-SE"/>
              <a:t>Is that enough?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92" name="Google Shape;192;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Assessing Quality</a:t>
            </a:r>
            <a:endParaRPr/>
          </a:p>
        </p:txBody>
      </p:sp>
      <p:sp>
        <p:nvSpPr>
          <p:cNvPr id="193" name="Google Shape;193;p31"/>
          <p:cNvSpPr txBox="1"/>
          <p:nvPr>
            <p:ph idx="1" type="body"/>
          </p:nvPr>
        </p:nvSpPr>
        <p:spPr>
          <a:xfrm>
            <a:off x="468900" y="1282400"/>
            <a:ext cx="83085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Quality is often non-deterministic.</a:t>
            </a:r>
            <a:endParaRPr/>
          </a:p>
          <a:p>
            <a:pPr indent="-368300" lvl="1" marL="914400" rtl="0" algn="l">
              <a:spcBef>
                <a:spcPts val="500"/>
              </a:spcBef>
              <a:spcAft>
                <a:spcPts val="0"/>
              </a:spcAft>
              <a:buSzPts val="2200"/>
              <a:buChar char="•"/>
            </a:pPr>
            <a:r>
              <a:rPr lang="sv-SE"/>
              <a:t>Performance differs every time code is run.</a:t>
            </a:r>
            <a:endParaRPr/>
          </a:p>
          <a:p>
            <a:pPr indent="-393700" lvl="0" marL="457200" rtl="0" algn="l">
              <a:spcBef>
                <a:spcPts val="1000"/>
              </a:spcBef>
              <a:spcAft>
                <a:spcPts val="0"/>
              </a:spcAft>
              <a:buSzPts val="2600"/>
              <a:buChar char="•"/>
            </a:pPr>
            <a:r>
              <a:rPr lang="sv-SE"/>
              <a:t>Quality evolves with the code.</a:t>
            </a:r>
            <a:endParaRPr/>
          </a:p>
          <a:p>
            <a:pPr indent="-393700" lvl="0" marL="457200" rtl="0" algn="l">
              <a:spcBef>
                <a:spcPts val="1000"/>
              </a:spcBef>
              <a:spcAft>
                <a:spcPts val="0"/>
              </a:spcAft>
              <a:buSzPts val="2600"/>
              <a:buChar char="•"/>
            </a:pPr>
            <a:r>
              <a:rPr lang="sv-SE"/>
              <a:t>Scenarios must be executed many times.</a:t>
            </a:r>
            <a:endParaRPr/>
          </a:p>
          <a:p>
            <a:pPr indent="-368300" lvl="1" marL="914400" rtl="0" algn="l">
              <a:spcBef>
                <a:spcPts val="500"/>
              </a:spcBef>
              <a:spcAft>
                <a:spcPts val="0"/>
              </a:spcAft>
              <a:buSzPts val="2200"/>
              <a:buChar char="•"/>
            </a:pPr>
            <a:r>
              <a:rPr lang="sv-SE"/>
              <a:t>Thresholds usually set based on averages or probabilities (“95% of the time…”).</a:t>
            </a:r>
            <a:endParaRPr/>
          </a:p>
          <a:p>
            <a:pPr indent="-368300" lvl="1" marL="914400" rtl="0" algn="l">
              <a:spcBef>
                <a:spcPts val="500"/>
              </a:spcBef>
              <a:spcAft>
                <a:spcPts val="0"/>
              </a:spcAft>
              <a:buSzPts val="2200"/>
              <a:buChar char="•"/>
            </a:pPr>
            <a:r>
              <a:rPr lang="sv-SE"/>
              <a:t>Absolute thresholds when there must never be a violation.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00" name="Google Shape;200;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Writing Scenarios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Scenarios</a:t>
            </a:r>
            <a:endParaRPr/>
          </a:p>
        </p:txBody>
      </p:sp>
      <p:sp>
        <p:nvSpPr>
          <p:cNvPr id="206" name="Google Shape;206;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a:t>
            </a:r>
            <a:r>
              <a:rPr lang="sv-SE"/>
              <a:t>escription of interaction between external entity and system. Defines:</a:t>
            </a:r>
            <a:endParaRPr/>
          </a:p>
          <a:p>
            <a:pPr indent="-368300" lvl="1" marL="914400" rtl="0" algn="l">
              <a:spcBef>
                <a:spcPts val="500"/>
              </a:spcBef>
              <a:spcAft>
                <a:spcPts val="0"/>
              </a:spcAft>
              <a:buSzPts val="2200"/>
              <a:buChar char="•"/>
            </a:pPr>
            <a:r>
              <a:rPr lang="sv-SE"/>
              <a:t>Event that triggers the scenario.</a:t>
            </a:r>
            <a:endParaRPr/>
          </a:p>
          <a:p>
            <a:pPr indent="-368300" lvl="1" marL="914400" rtl="0" algn="l">
              <a:spcBef>
                <a:spcPts val="500"/>
              </a:spcBef>
              <a:spcAft>
                <a:spcPts val="0"/>
              </a:spcAft>
              <a:buSzPts val="2200"/>
              <a:buChar char="•"/>
            </a:pPr>
            <a:r>
              <a:rPr lang="sv-SE"/>
              <a:t>Interaction initiated by the external entity.</a:t>
            </a:r>
            <a:endParaRPr/>
          </a:p>
          <a:p>
            <a:pPr indent="-368300" lvl="1" marL="914400" rtl="0" algn="l">
              <a:spcBef>
                <a:spcPts val="500"/>
              </a:spcBef>
              <a:spcAft>
                <a:spcPts val="0"/>
              </a:spcAft>
              <a:buSzPts val="2200"/>
              <a:buChar char="•"/>
            </a:pPr>
            <a:r>
              <a:rPr lang="sv-SE"/>
              <a:t>Response required (in terms of quality attribute).</a:t>
            </a:r>
            <a:endParaRPr/>
          </a:p>
          <a:p>
            <a:pPr indent="-393700" lvl="0" marL="457200" rtl="0" algn="l">
              <a:spcBef>
                <a:spcPts val="1000"/>
              </a:spcBef>
              <a:spcAft>
                <a:spcPts val="0"/>
              </a:spcAft>
              <a:buSzPts val="2600"/>
              <a:buChar char="•"/>
            </a:pPr>
            <a:r>
              <a:rPr lang="sv-SE"/>
              <a:t>Similar to use cases or user stories, but examines both </a:t>
            </a:r>
            <a:r>
              <a:rPr b="1" lang="sv-SE">
                <a:solidFill>
                  <a:schemeClr val="accent3"/>
                </a:solidFill>
              </a:rPr>
              <a:t>quality and functionality</a:t>
            </a:r>
            <a:r>
              <a:rPr lang="sv-SE"/>
              <a:t>.</a:t>
            </a:r>
            <a:endParaRPr/>
          </a:p>
        </p:txBody>
      </p:sp>
      <p:sp>
        <p:nvSpPr>
          <p:cNvPr id="207" name="Google Shape;207;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Scenarios</a:t>
            </a:r>
            <a:endParaRPr/>
          </a:p>
        </p:txBody>
      </p:sp>
      <p:sp>
        <p:nvSpPr>
          <p:cNvPr id="213" name="Google Shape;213;p3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Capture a range of requirements:</a:t>
            </a:r>
            <a:endParaRPr/>
          </a:p>
          <a:p>
            <a:pPr indent="-342900" lvl="0" marL="457200" rtl="0" algn="l">
              <a:spcBef>
                <a:spcPts val="1000"/>
              </a:spcBef>
              <a:spcAft>
                <a:spcPts val="0"/>
              </a:spcAft>
              <a:buSzPts val="1800"/>
              <a:buChar char="•"/>
            </a:pPr>
            <a:r>
              <a:rPr lang="sv-SE" sz="1800"/>
              <a:t>A set of interactions with users to which a system must respond.</a:t>
            </a:r>
            <a:endParaRPr sz="1800"/>
          </a:p>
          <a:p>
            <a:pPr indent="-342900" lvl="0" marL="457200" rtl="0" algn="l">
              <a:spcBef>
                <a:spcPts val="1000"/>
              </a:spcBef>
              <a:spcAft>
                <a:spcPts val="0"/>
              </a:spcAft>
              <a:buSzPts val="1800"/>
              <a:buChar char="•"/>
            </a:pPr>
            <a:r>
              <a:rPr lang="sv-SE" sz="1800"/>
              <a:t>Processing in response to timed events.</a:t>
            </a:r>
            <a:endParaRPr sz="1800"/>
          </a:p>
          <a:p>
            <a:pPr indent="-342900" lvl="0" marL="457200" rtl="0" algn="l">
              <a:spcBef>
                <a:spcPts val="1000"/>
              </a:spcBef>
              <a:spcAft>
                <a:spcPts val="0"/>
              </a:spcAft>
              <a:buSzPts val="1800"/>
              <a:buChar char="•"/>
            </a:pPr>
            <a:r>
              <a:rPr lang="sv-SE" sz="1800"/>
              <a:t>Peak load situations that could occur.</a:t>
            </a:r>
            <a:endParaRPr sz="1800"/>
          </a:p>
          <a:p>
            <a:pPr indent="-342900" lvl="0" marL="457200" rtl="0" algn="l">
              <a:spcBef>
                <a:spcPts val="1000"/>
              </a:spcBef>
              <a:spcAft>
                <a:spcPts val="0"/>
              </a:spcAft>
              <a:buSzPts val="1800"/>
              <a:buChar char="•"/>
            </a:pPr>
            <a:r>
              <a:rPr lang="sv-SE" sz="1800"/>
              <a:t>Regulator demands.</a:t>
            </a:r>
            <a:endParaRPr sz="1800"/>
          </a:p>
          <a:p>
            <a:pPr indent="-342900" lvl="0" marL="457200" rtl="0" algn="l">
              <a:spcBef>
                <a:spcPts val="1000"/>
              </a:spcBef>
              <a:spcAft>
                <a:spcPts val="0"/>
              </a:spcAft>
              <a:buSzPts val="1800"/>
              <a:buChar char="•"/>
            </a:pPr>
            <a:r>
              <a:rPr lang="sv-SE" sz="1800"/>
              <a:t>Failure response.</a:t>
            </a:r>
            <a:endParaRPr sz="1800"/>
          </a:p>
          <a:p>
            <a:pPr indent="-342900" lvl="0" marL="457200" rtl="0" algn="l">
              <a:spcBef>
                <a:spcPts val="1000"/>
              </a:spcBef>
              <a:spcAft>
                <a:spcPts val="0"/>
              </a:spcAft>
              <a:buSzPts val="1800"/>
              <a:buChar char="•"/>
            </a:pPr>
            <a:r>
              <a:rPr lang="sv-SE" sz="1800"/>
              <a:t>A change that a maintainer might make.</a:t>
            </a:r>
            <a:endParaRPr sz="1800"/>
          </a:p>
          <a:p>
            <a:pPr indent="-342900" lvl="0" marL="457200" rtl="0" algn="l">
              <a:spcBef>
                <a:spcPts val="1000"/>
              </a:spcBef>
              <a:spcAft>
                <a:spcPts val="0"/>
              </a:spcAft>
              <a:buSzPts val="1800"/>
              <a:buChar char="•"/>
            </a:pPr>
            <a:r>
              <a:rPr lang="sv-SE" sz="1800"/>
              <a:t>Any situation that the design must handle.</a:t>
            </a:r>
            <a:endParaRPr sz="1800"/>
          </a:p>
        </p:txBody>
      </p:sp>
      <p:sp>
        <p:nvSpPr>
          <p:cNvPr id="214" name="Google Shape;214;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 Format</a:t>
            </a:r>
            <a:endParaRPr/>
          </a:p>
        </p:txBody>
      </p:sp>
      <p:sp>
        <p:nvSpPr>
          <p:cNvPr id="220" name="Google Shape;220;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221" name="Google Shape;221;p35"/>
          <p:cNvPicPr preferRelativeResize="0"/>
          <p:nvPr/>
        </p:nvPicPr>
        <p:blipFill>
          <a:blip r:embed="rId3">
            <a:alphaModFix/>
          </a:blip>
          <a:stretch>
            <a:fillRect/>
          </a:stretch>
        </p:blipFill>
        <p:spPr>
          <a:xfrm>
            <a:off x="326775" y="1952000"/>
            <a:ext cx="3594950" cy="1606100"/>
          </a:xfrm>
          <a:prstGeom prst="rect">
            <a:avLst/>
          </a:prstGeom>
          <a:noFill/>
          <a:ln>
            <a:noFill/>
          </a:ln>
        </p:spPr>
      </p:pic>
      <p:sp>
        <p:nvSpPr>
          <p:cNvPr id="222" name="Google Shape;222;p35"/>
          <p:cNvSpPr/>
          <p:nvPr/>
        </p:nvSpPr>
        <p:spPr>
          <a:xfrm>
            <a:off x="5029875" y="596175"/>
            <a:ext cx="3983700" cy="95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Overview:</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Brief description of the scenario.</a:t>
            </a:r>
            <a:endParaRPr/>
          </a:p>
        </p:txBody>
      </p:sp>
      <p:sp>
        <p:nvSpPr>
          <p:cNvPr id="223" name="Google Shape;223;p35"/>
          <p:cNvSpPr/>
          <p:nvPr/>
        </p:nvSpPr>
        <p:spPr>
          <a:xfrm>
            <a:off x="4638075" y="1639850"/>
            <a:ext cx="4375500" cy="152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System State:</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Aspects of internal state that affect quality (e,g., important information stored in the system, current load)</a:t>
            </a:r>
            <a:endParaRPr sz="2000">
              <a:solidFill>
                <a:schemeClr val="dk1"/>
              </a:solidFill>
            </a:endParaRPr>
          </a:p>
        </p:txBody>
      </p:sp>
      <p:sp>
        <p:nvSpPr>
          <p:cNvPr id="224" name="Google Shape;224;p35"/>
          <p:cNvSpPr/>
          <p:nvPr/>
        </p:nvSpPr>
        <p:spPr>
          <a:xfrm>
            <a:off x="4638075" y="3256225"/>
            <a:ext cx="4375500" cy="152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Environment State:</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O</a:t>
            </a:r>
            <a:r>
              <a:rPr lang="sv-SE" sz="2000">
                <a:solidFill>
                  <a:schemeClr val="dk1"/>
                </a:solidFill>
              </a:rPr>
              <a:t>bservations about the environment (e.g., network connection, external system availability).</a:t>
            </a:r>
            <a:endParaRPr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 Format</a:t>
            </a:r>
            <a:endParaRPr/>
          </a:p>
        </p:txBody>
      </p:sp>
      <p:sp>
        <p:nvSpPr>
          <p:cNvPr id="230" name="Google Shape;230;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231" name="Google Shape;231;p36"/>
          <p:cNvSpPr/>
          <p:nvPr/>
        </p:nvSpPr>
        <p:spPr>
          <a:xfrm>
            <a:off x="698850" y="1491625"/>
            <a:ext cx="3983700" cy="269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External Stimulus:</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Event (i</a:t>
            </a:r>
            <a:r>
              <a:rPr lang="sv-SE" sz="2000">
                <a:solidFill>
                  <a:schemeClr val="dk1"/>
                </a:solidFill>
              </a:rPr>
              <a:t>nput or environmental factor) that triggers a response from the system.</a:t>
            </a:r>
            <a:endParaRPr sz="2000">
              <a:solidFill>
                <a:schemeClr val="dk1"/>
              </a:solidFill>
            </a:endParaRPr>
          </a:p>
          <a:p>
            <a:pPr indent="0" lvl="0" marL="0" rtl="0" algn="l">
              <a:lnSpc>
                <a:spcPct val="90000"/>
              </a:lnSpc>
              <a:spcBef>
                <a:spcPts val="1000"/>
              </a:spcBef>
              <a:spcAft>
                <a:spcPts val="0"/>
              </a:spcAft>
              <a:buNone/>
            </a:pPr>
            <a:r>
              <a:rPr lang="sv-SE" sz="2000">
                <a:solidFill>
                  <a:schemeClr val="dk1"/>
                </a:solidFill>
              </a:rPr>
              <a:t>(e.g., user request, infrastructure changes or failures, attacks, expiration of time limit)</a:t>
            </a:r>
            <a:endParaRPr sz="2000">
              <a:solidFill>
                <a:schemeClr val="dk1"/>
              </a:solidFill>
            </a:endParaRPr>
          </a:p>
        </p:txBody>
      </p:sp>
      <p:pic>
        <p:nvPicPr>
          <p:cNvPr id="232" name="Google Shape;232;p36"/>
          <p:cNvPicPr preferRelativeResize="0"/>
          <p:nvPr/>
        </p:nvPicPr>
        <p:blipFill>
          <a:blip r:embed="rId3">
            <a:alphaModFix/>
          </a:blip>
          <a:stretch>
            <a:fillRect/>
          </a:stretch>
        </p:blipFill>
        <p:spPr>
          <a:xfrm>
            <a:off x="5288725" y="1867275"/>
            <a:ext cx="3594950" cy="1606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 Format</a:t>
            </a:r>
            <a:endParaRPr/>
          </a:p>
        </p:txBody>
      </p:sp>
      <p:sp>
        <p:nvSpPr>
          <p:cNvPr id="238" name="Google Shape;238;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239" name="Google Shape;239;p37"/>
          <p:cNvSpPr/>
          <p:nvPr/>
        </p:nvSpPr>
        <p:spPr>
          <a:xfrm>
            <a:off x="5022500" y="568650"/>
            <a:ext cx="3755100" cy="211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Required System Response</a:t>
            </a:r>
            <a:r>
              <a:rPr b="1" lang="sv-SE" sz="2400">
                <a:solidFill>
                  <a:schemeClr val="dk1"/>
                </a:solidFill>
              </a:rPr>
              <a:t>:</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How does the system respond and meet the quality goal?</a:t>
            </a:r>
            <a:endParaRPr sz="2000">
              <a:solidFill>
                <a:schemeClr val="dk1"/>
              </a:solidFill>
            </a:endParaRPr>
          </a:p>
          <a:p>
            <a:pPr indent="0" lvl="0" marL="0" rtl="0" algn="l">
              <a:lnSpc>
                <a:spcPct val="90000"/>
              </a:lnSpc>
              <a:spcBef>
                <a:spcPts val="1000"/>
              </a:spcBef>
              <a:spcAft>
                <a:spcPts val="0"/>
              </a:spcAft>
              <a:buNone/>
            </a:pPr>
            <a:r>
              <a:rPr lang="sv-SE" sz="2000">
                <a:solidFill>
                  <a:schemeClr val="dk1"/>
                </a:solidFill>
              </a:rPr>
              <a:t>(e.g., how should it handle a defined increase in requests?)</a:t>
            </a:r>
            <a:endParaRPr sz="2000">
              <a:solidFill>
                <a:schemeClr val="dk1"/>
              </a:solidFill>
            </a:endParaRPr>
          </a:p>
        </p:txBody>
      </p:sp>
      <p:sp>
        <p:nvSpPr>
          <p:cNvPr id="240" name="Google Shape;240;p37"/>
          <p:cNvSpPr/>
          <p:nvPr/>
        </p:nvSpPr>
        <p:spPr>
          <a:xfrm>
            <a:off x="5022500" y="2733100"/>
            <a:ext cx="3755100" cy="211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400">
                <a:solidFill>
                  <a:schemeClr val="dk1"/>
                </a:solidFill>
              </a:rPr>
              <a:t>Response Measure</a:t>
            </a:r>
            <a:r>
              <a:rPr b="1" lang="sv-SE" sz="2400">
                <a:solidFill>
                  <a:schemeClr val="dk1"/>
                </a:solidFill>
              </a:rPr>
              <a:t>:</a:t>
            </a:r>
            <a:r>
              <a:rPr lang="sv-SE" sz="2400">
                <a:solidFill>
                  <a:schemeClr val="dk1"/>
                </a:solidFill>
              </a:rPr>
              <a:t> </a:t>
            </a:r>
            <a:endParaRPr sz="2400">
              <a:solidFill>
                <a:schemeClr val="dk1"/>
              </a:solidFill>
            </a:endParaRPr>
          </a:p>
          <a:p>
            <a:pPr indent="0" lvl="0" marL="0" rtl="0" algn="l">
              <a:lnSpc>
                <a:spcPct val="90000"/>
              </a:lnSpc>
              <a:spcBef>
                <a:spcPts val="1000"/>
              </a:spcBef>
              <a:spcAft>
                <a:spcPts val="0"/>
              </a:spcAft>
              <a:buNone/>
            </a:pPr>
            <a:r>
              <a:rPr lang="sv-SE" sz="2000">
                <a:solidFill>
                  <a:schemeClr val="dk1"/>
                </a:solidFill>
              </a:rPr>
              <a:t>How we judge whether the system meets the quality goal.</a:t>
            </a:r>
            <a:endParaRPr sz="2000">
              <a:solidFill>
                <a:schemeClr val="dk1"/>
              </a:solidFill>
            </a:endParaRPr>
          </a:p>
          <a:p>
            <a:pPr indent="0" lvl="0" marL="0" rtl="0" algn="l">
              <a:lnSpc>
                <a:spcPct val="90000"/>
              </a:lnSpc>
              <a:spcBef>
                <a:spcPts val="1000"/>
              </a:spcBef>
              <a:spcAft>
                <a:spcPts val="0"/>
              </a:spcAft>
              <a:buNone/>
            </a:pPr>
            <a:r>
              <a:rPr lang="sv-SE" sz="2000">
                <a:solidFill>
                  <a:schemeClr val="dk1"/>
                </a:solidFill>
              </a:rPr>
              <a:t>(e.g., throughput, timing, availability)</a:t>
            </a:r>
            <a:endParaRPr sz="2000">
              <a:solidFill>
                <a:schemeClr val="dk1"/>
              </a:solidFill>
            </a:endParaRPr>
          </a:p>
        </p:txBody>
      </p:sp>
      <p:pic>
        <p:nvPicPr>
          <p:cNvPr id="241" name="Google Shape;241;p37"/>
          <p:cNvPicPr preferRelativeResize="0"/>
          <p:nvPr/>
        </p:nvPicPr>
        <p:blipFill>
          <a:blip r:embed="rId3">
            <a:alphaModFix/>
          </a:blip>
          <a:stretch>
            <a:fillRect/>
          </a:stretch>
        </p:blipFill>
        <p:spPr>
          <a:xfrm>
            <a:off x="774550" y="2000400"/>
            <a:ext cx="3594950" cy="1606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Response Measures</a:t>
            </a:r>
            <a:endParaRPr/>
          </a:p>
        </p:txBody>
      </p:sp>
      <p:sp>
        <p:nvSpPr>
          <p:cNvPr id="247" name="Google Shape;247;p38"/>
          <p:cNvSpPr txBox="1"/>
          <p:nvPr>
            <p:ph idx="1" type="body"/>
          </p:nvPr>
        </p:nvSpPr>
        <p:spPr>
          <a:xfrm>
            <a:off x="468900" y="1282400"/>
            <a:ext cx="83175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Many quality measurements are non-deterministic.</a:t>
            </a:r>
            <a:endParaRPr/>
          </a:p>
          <a:p>
            <a:pPr indent="-368300" lvl="1" marL="914400" rtl="0" algn="l">
              <a:spcBef>
                <a:spcPts val="500"/>
              </a:spcBef>
              <a:spcAft>
                <a:spcPts val="0"/>
              </a:spcAft>
              <a:buSzPts val="2200"/>
              <a:buChar char="•"/>
            </a:pPr>
            <a:r>
              <a:rPr lang="sv-SE"/>
              <a:t>May be OK if quality goals are violated </a:t>
            </a:r>
            <a:r>
              <a:rPr i="1" lang="sv-SE"/>
              <a:t>occasionally</a:t>
            </a:r>
            <a:r>
              <a:rPr lang="sv-SE"/>
              <a:t>.</a:t>
            </a:r>
            <a:endParaRPr/>
          </a:p>
          <a:p>
            <a:pPr indent="-368300" lvl="1" marL="914400" rtl="0" algn="l">
              <a:spcBef>
                <a:spcPts val="500"/>
              </a:spcBef>
              <a:spcAft>
                <a:spcPts val="0"/>
              </a:spcAft>
              <a:buSzPts val="2200"/>
              <a:buChar char="•"/>
            </a:pPr>
            <a:r>
              <a:rPr b="1" lang="sv-SE">
                <a:solidFill>
                  <a:schemeClr val="accent3"/>
                </a:solidFill>
              </a:rPr>
              <a:t>Most</a:t>
            </a:r>
            <a:r>
              <a:rPr b="1" lang="sv-SE">
                <a:solidFill>
                  <a:schemeClr val="accent3"/>
                </a:solidFill>
              </a:rPr>
              <a:t> time measures </a:t>
            </a:r>
            <a:r>
              <a:rPr b="1" lang="sv-SE">
                <a:solidFill>
                  <a:schemeClr val="accent3"/>
                </a:solidFill>
              </a:rPr>
              <a:t>should be probabilistic</a:t>
            </a:r>
            <a:r>
              <a:rPr b="1" lang="sv-SE"/>
              <a:t>.</a:t>
            </a:r>
            <a:endParaRPr b="1"/>
          </a:p>
          <a:p>
            <a:pPr indent="-342900" lvl="2" marL="1371600" rtl="0" algn="l">
              <a:spcBef>
                <a:spcPts val="500"/>
              </a:spcBef>
              <a:spcAft>
                <a:spcPts val="0"/>
              </a:spcAft>
              <a:buSzPts val="1800"/>
              <a:buChar char="•"/>
            </a:pPr>
            <a:r>
              <a:rPr lang="sv-SE"/>
              <a:t>95% of the time, the response should be N. </a:t>
            </a:r>
            <a:r>
              <a:rPr b="1" lang="sv-SE">
                <a:solidFill>
                  <a:schemeClr val="accent3"/>
                </a:solidFill>
              </a:rPr>
              <a:t>(common case)</a:t>
            </a:r>
            <a:endParaRPr b="1">
              <a:solidFill>
                <a:schemeClr val="accent3"/>
              </a:solidFill>
            </a:endParaRPr>
          </a:p>
          <a:p>
            <a:pPr indent="-342900" lvl="2" marL="1371600" rtl="0" algn="l">
              <a:spcBef>
                <a:spcPts val="500"/>
              </a:spcBef>
              <a:spcAft>
                <a:spcPts val="0"/>
              </a:spcAft>
              <a:buSzPts val="1800"/>
              <a:buChar char="•"/>
            </a:pPr>
            <a:r>
              <a:rPr lang="sv-SE"/>
              <a:t>99% of the time, the response should be M. </a:t>
            </a:r>
            <a:r>
              <a:rPr b="1" lang="sv-SE">
                <a:solidFill>
                  <a:schemeClr val="accent3"/>
                </a:solidFill>
              </a:rPr>
              <a:t>(worst case)</a:t>
            </a:r>
            <a:endParaRPr b="1">
              <a:solidFill>
                <a:schemeClr val="accent3"/>
              </a:solidFill>
            </a:endParaRPr>
          </a:p>
          <a:p>
            <a:pPr indent="-393700" lvl="0" marL="457200" rtl="0" algn="l">
              <a:spcBef>
                <a:spcPts val="1000"/>
              </a:spcBef>
              <a:spcAft>
                <a:spcPts val="0"/>
              </a:spcAft>
              <a:buSzPts val="2600"/>
              <a:buChar char="•"/>
            </a:pPr>
            <a:r>
              <a:rPr lang="sv-SE"/>
              <a:t>If not non-deterministic, give an </a:t>
            </a:r>
            <a:r>
              <a:rPr b="1" lang="sv-SE">
                <a:solidFill>
                  <a:schemeClr val="accent3"/>
                </a:solidFill>
              </a:rPr>
              <a:t>absolute</a:t>
            </a:r>
            <a:r>
              <a:rPr lang="sv-SE"/>
              <a:t> threshold.</a:t>
            </a:r>
            <a:endParaRPr b="1">
              <a:solidFill>
                <a:schemeClr val="accent3"/>
              </a:solidFill>
            </a:endParaRPr>
          </a:p>
          <a:p>
            <a:pPr indent="-368300" lvl="1" marL="914400" rtl="0" algn="l">
              <a:spcBef>
                <a:spcPts val="500"/>
              </a:spcBef>
              <a:spcAft>
                <a:spcPts val="0"/>
              </a:spcAft>
              <a:buSzPts val="2200"/>
              <a:buChar char="•"/>
            </a:pPr>
            <a:r>
              <a:rPr lang="sv-SE"/>
              <a:t>When safety is affected, measurements should also give a </a:t>
            </a:r>
            <a:r>
              <a:rPr b="1" lang="sv-SE">
                <a:solidFill>
                  <a:schemeClr val="accent3"/>
                </a:solidFill>
              </a:rPr>
              <a:t>worst-case limit</a:t>
            </a:r>
            <a:r>
              <a:rPr lang="sv-SE"/>
              <a:t>.</a:t>
            </a:r>
            <a:endParaRPr/>
          </a:p>
        </p:txBody>
      </p:sp>
      <p:sp>
        <p:nvSpPr>
          <p:cNvPr id="248" name="Google Shape;248;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55" name="Google Shape;255;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Running Example: Food Delivery</a:t>
            </a:r>
            <a:endParaRPr/>
          </a:p>
        </p:txBody>
      </p:sp>
      <p:sp>
        <p:nvSpPr>
          <p:cNvPr id="256" name="Google Shape;256;p3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have an online service for ordering food.</a:t>
            </a:r>
            <a:endParaRPr/>
          </a:p>
          <a:p>
            <a:pPr indent="-393700" lvl="0" marL="457200" rtl="0" algn="l">
              <a:spcBef>
                <a:spcPts val="1000"/>
              </a:spcBef>
              <a:spcAft>
                <a:spcPts val="0"/>
              </a:spcAft>
              <a:buSzPts val="2600"/>
              <a:buChar char="•"/>
            </a:pPr>
            <a:r>
              <a:rPr lang="sv-SE"/>
              <a:t>Users can:</a:t>
            </a:r>
            <a:endParaRPr/>
          </a:p>
          <a:p>
            <a:pPr indent="-368300" lvl="1" marL="914400" rtl="0" algn="l">
              <a:spcBef>
                <a:spcPts val="500"/>
              </a:spcBef>
              <a:spcAft>
                <a:spcPts val="0"/>
              </a:spcAft>
              <a:buSzPts val="2200"/>
              <a:buChar char="•"/>
            </a:pPr>
            <a:r>
              <a:rPr lang="sv-SE"/>
              <a:t>Search for restaurants.</a:t>
            </a:r>
            <a:endParaRPr/>
          </a:p>
          <a:p>
            <a:pPr indent="-368300" lvl="1" marL="914400" rtl="0" algn="l">
              <a:spcBef>
                <a:spcPts val="500"/>
              </a:spcBef>
              <a:spcAft>
                <a:spcPts val="0"/>
              </a:spcAft>
              <a:buSzPts val="2200"/>
              <a:buChar char="•"/>
            </a:pPr>
            <a:r>
              <a:rPr lang="sv-SE"/>
              <a:t>View menus of restaurants.</a:t>
            </a:r>
            <a:endParaRPr/>
          </a:p>
          <a:p>
            <a:pPr indent="-368300" lvl="1" marL="914400" rtl="0" algn="l">
              <a:spcBef>
                <a:spcPts val="500"/>
              </a:spcBef>
              <a:spcAft>
                <a:spcPts val="0"/>
              </a:spcAft>
              <a:buSzPts val="2200"/>
              <a:buChar char="•"/>
            </a:pPr>
            <a:r>
              <a:rPr lang="sv-SE"/>
              <a:t>Add items to their cart.</a:t>
            </a:r>
            <a:endParaRPr/>
          </a:p>
          <a:p>
            <a:pPr indent="-368300" lvl="1" marL="914400" rtl="0" algn="l">
              <a:spcBef>
                <a:spcPts val="500"/>
              </a:spcBef>
              <a:spcAft>
                <a:spcPts val="0"/>
              </a:spcAft>
              <a:buSzPts val="2200"/>
              <a:buChar char="•"/>
            </a:pPr>
            <a:r>
              <a:rPr lang="sv-SE"/>
              <a:t>Order items for delivery. </a:t>
            </a:r>
            <a:endParaRPr/>
          </a:p>
          <a:p>
            <a:pPr indent="-393700" lvl="0" marL="457200" rtl="0" algn="l">
              <a:spcBef>
                <a:spcPts val="1000"/>
              </a:spcBef>
              <a:spcAft>
                <a:spcPts val="0"/>
              </a:spcAft>
              <a:buSzPts val="2600"/>
              <a:buChar char="•"/>
            </a:pPr>
            <a:r>
              <a:rPr lang="sv-SE"/>
              <a:t>May be used by thousands of concurrent users.</a:t>
            </a:r>
            <a:endParaRPr/>
          </a:p>
        </p:txBody>
      </p:sp>
      <p:pic>
        <p:nvPicPr>
          <p:cNvPr id="257" name="Google Shape;257;p39"/>
          <p:cNvPicPr preferRelativeResize="0"/>
          <p:nvPr/>
        </p:nvPicPr>
        <p:blipFill>
          <a:blip r:embed="rId3">
            <a:alphaModFix/>
          </a:blip>
          <a:stretch>
            <a:fillRect/>
          </a:stretch>
        </p:blipFill>
        <p:spPr>
          <a:xfrm>
            <a:off x="6226950" y="2014700"/>
            <a:ext cx="2459848" cy="16406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2400"/>
              <a:t>Reliability Example</a:t>
            </a:r>
            <a:endParaRPr sz="2400"/>
          </a:p>
        </p:txBody>
      </p:sp>
      <p:sp>
        <p:nvSpPr>
          <p:cNvPr id="263" name="Google Shape;263;p40"/>
          <p:cNvSpPr txBox="1"/>
          <p:nvPr>
            <p:ph idx="1" type="body"/>
          </p:nvPr>
        </p:nvSpPr>
        <p:spPr>
          <a:xfrm>
            <a:off x="468900" y="936125"/>
            <a:ext cx="8217900" cy="3826500"/>
          </a:xfrm>
          <a:prstGeom prst="rect">
            <a:avLst/>
          </a:prstGeom>
        </p:spPr>
        <p:txBody>
          <a:bodyPr anchorCtr="0" anchor="t" bIns="45700" lIns="91425" spcFirstLastPara="1" rIns="91425" wrap="square" tIns="45700">
            <a:noAutofit/>
          </a:bodyPr>
          <a:lstStyle/>
          <a:p>
            <a:pPr indent="-330200" lvl="0" marL="457200" rtl="0" algn="l">
              <a:spcBef>
                <a:spcPts val="1000"/>
              </a:spcBef>
              <a:spcAft>
                <a:spcPts val="0"/>
              </a:spcAft>
              <a:buSzPts val="1600"/>
              <a:buChar char="•"/>
            </a:pPr>
            <a:r>
              <a:rPr b="1" lang="sv-SE" sz="1600">
                <a:solidFill>
                  <a:schemeClr val="accent3"/>
                </a:solidFill>
              </a:rPr>
              <a:t>Overview</a:t>
            </a:r>
            <a:r>
              <a:rPr b="1" lang="sv-SE" sz="1600"/>
              <a:t>:</a:t>
            </a:r>
            <a:r>
              <a:rPr lang="sv-SE" sz="1600"/>
              <a:t> A basic scenario where we check that a user can add multiple items to their cart from a restaurant. </a:t>
            </a:r>
            <a:endParaRPr sz="1600"/>
          </a:p>
          <a:p>
            <a:pPr indent="-330200" lvl="0" marL="457200" rtl="0" algn="l">
              <a:spcBef>
                <a:spcPts val="1000"/>
              </a:spcBef>
              <a:spcAft>
                <a:spcPts val="0"/>
              </a:spcAft>
              <a:buSzPts val="1600"/>
              <a:buChar char="•"/>
            </a:pPr>
            <a:r>
              <a:rPr b="1" lang="sv-SE" sz="1600">
                <a:solidFill>
                  <a:schemeClr val="accent3"/>
                </a:solidFill>
              </a:rPr>
              <a:t>System State</a:t>
            </a:r>
            <a:r>
              <a:rPr b="1" lang="sv-SE" sz="1600"/>
              <a:t>:</a:t>
            </a:r>
            <a:r>
              <a:rPr lang="sv-SE" sz="1600"/>
              <a:t> A valid user is logged in. Their cart is currently empty. The system is under a normal load (5000 concurrent users).  </a:t>
            </a:r>
            <a:endParaRPr sz="1600"/>
          </a:p>
          <a:p>
            <a:pPr indent="-330200" lvl="0" marL="457200" rtl="0" algn="l">
              <a:spcBef>
                <a:spcPts val="1000"/>
              </a:spcBef>
              <a:spcAft>
                <a:spcPts val="0"/>
              </a:spcAft>
              <a:buSzPts val="1600"/>
              <a:buChar char="•"/>
            </a:pPr>
            <a:r>
              <a:rPr b="1" lang="sv-SE" sz="1600">
                <a:solidFill>
                  <a:schemeClr val="accent3"/>
                </a:solidFill>
              </a:rPr>
              <a:t>Environment State</a:t>
            </a:r>
            <a:r>
              <a:rPr b="1" lang="sv-SE" sz="1600"/>
              <a:t>: </a:t>
            </a:r>
            <a:r>
              <a:rPr lang="sv-SE" sz="1600"/>
              <a:t>The deployment environment is working correctly. The network connection is adequate. </a:t>
            </a:r>
            <a:endParaRPr sz="1600"/>
          </a:p>
          <a:p>
            <a:pPr indent="-330200" lvl="0" marL="457200" rtl="0" algn="l">
              <a:spcBef>
                <a:spcPts val="1000"/>
              </a:spcBef>
              <a:spcAft>
                <a:spcPts val="0"/>
              </a:spcAft>
              <a:buSzPts val="1600"/>
              <a:buChar char="•"/>
            </a:pPr>
            <a:r>
              <a:rPr b="1" lang="sv-SE" sz="1600">
                <a:solidFill>
                  <a:schemeClr val="accent3"/>
                </a:solidFill>
              </a:rPr>
              <a:t>External Stimulus</a:t>
            </a:r>
            <a:r>
              <a:rPr b="1" lang="sv-SE" sz="1600"/>
              <a:t>: </a:t>
            </a:r>
            <a:r>
              <a:rPr lang="sv-SE" sz="1600"/>
              <a:t>The user selects a restaurant. They then add three different items to their cart (quantity of one for each item). </a:t>
            </a:r>
            <a:endParaRPr sz="1600"/>
          </a:p>
          <a:p>
            <a:pPr indent="-330200" lvl="0" marL="457200" rtl="0" algn="l">
              <a:spcBef>
                <a:spcPts val="1000"/>
              </a:spcBef>
              <a:spcAft>
                <a:spcPts val="0"/>
              </a:spcAft>
              <a:buSzPts val="1600"/>
              <a:buChar char="•"/>
            </a:pPr>
            <a:r>
              <a:rPr b="1" lang="sv-SE" sz="1600">
                <a:solidFill>
                  <a:schemeClr val="accent3"/>
                </a:solidFill>
              </a:rPr>
              <a:t>Required System Behavior</a:t>
            </a:r>
            <a:r>
              <a:rPr b="1" lang="sv-SE" sz="1600"/>
              <a:t>: </a:t>
            </a:r>
            <a:r>
              <a:rPr lang="sv-SE" sz="1600"/>
              <a:t>When each item is added, it should appear in the cart. The total cost of the order should reflect the new item. The number icon in the top-right of the screen should be incremented by one each time. </a:t>
            </a:r>
            <a:endParaRPr sz="1600"/>
          </a:p>
          <a:p>
            <a:pPr indent="-330200" lvl="0" marL="457200" rtl="0" algn="l">
              <a:spcBef>
                <a:spcPts val="1000"/>
              </a:spcBef>
              <a:spcAft>
                <a:spcPts val="0"/>
              </a:spcAft>
              <a:buSzPts val="1600"/>
              <a:buChar char="•"/>
            </a:pPr>
            <a:r>
              <a:rPr b="1" lang="sv-SE" sz="1600">
                <a:solidFill>
                  <a:schemeClr val="accent3"/>
                </a:solidFill>
              </a:rPr>
              <a:t>Response Measure</a:t>
            </a:r>
            <a:r>
              <a:rPr b="1" lang="sv-SE" sz="1600"/>
              <a:t>: </a:t>
            </a:r>
            <a:r>
              <a:rPr lang="sv-SE" sz="1600"/>
              <a:t>The POFOD when executing this scenario should be &lt; 1 failure /1000 requests.</a:t>
            </a:r>
            <a:endParaRPr sz="1600"/>
          </a:p>
        </p:txBody>
      </p:sp>
      <p:sp>
        <p:nvSpPr>
          <p:cNvPr id="264" name="Google Shape;264;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200"/>
              <a:t>Availability Example</a:t>
            </a:r>
            <a:endParaRPr sz="3200"/>
          </a:p>
        </p:txBody>
      </p:sp>
      <p:sp>
        <p:nvSpPr>
          <p:cNvPr id="270" name="Google Shape;270;p4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23850" lvl="0" marL="457200" rtl="0" algn="l">
              <a:spcBef>
                <a:spcPts val="1000"/>
              </a:spcBef>
              <a:spcAft>
                <a:spcPts val="0"/>
              </a:spcAft>
              <a:buSzPts val="1500"/>
              <a:buChar char="•"/>
            </a:pPr>
            <a:r>
              <a:rPr b="1" lang="sv-SE" sz="1500">
                <a:solidFill>
                  <a:schemeClr val="accent3"/>
                </a:solidFill>
              </a:rPr>
              <a:t>Overview</a:t>
            </a:r>
            <a:r>
              <a:rPr b="1" lang="sv-SE" sz="1500"/>
              <a:t>:</a:t>
            </a:r>
            <a:r>
              <a:rPr lang="sv-SE" sz="1500"/>
              <a:t> How the system should respond when BankID fails to respond.</a:t>
            </a:r>
            <a:endParaRPr sz="1500"/>
          </a:p>
          <a:p>
            <a:pPr indent="-323850" lvl="0" marL="457200" rtl="0" algn="l">
              <a:spcBef>
                <a:spcPts val="1000"/>
              </a:spcBef>
              <a:spcAft>
                <a:spcPts val="0"/>
              </a:spcAft>
              <a:buSzPts val="1500"/>
              <a:buChar char="•"/>
            </a:pPr>
            <a:r>
              <a:rPr b="1" lang="sv-SE" sz="1500">
                <a:solidFill>
                  <a:schemeClr val="accent3"/>
                </a:solidFill>
              </a:rPr>
              <a:t>System State</a:t>
            </a:r>
            <a:r>
              <a:rPr b="1" lang="sv-SE" sz="1500"/>
              <a:t>:</a:t>
            </a:r>
            <a:r>
              <a:rPr lang="sv-SE" sz="1500"/>
              <a:t> A valid user is logged in. They have added a single item to their cart. The system is under a normal load (5000 concurrent users).  </a:t>
            </a:r>
            <a:endParaRPr sz="1500"/>
          </a:p>
          <a:p>
            <a:pPr indent="-323850" lvl="0" marL="457200" rtl="0" algn="l">
              <a:spcBef>
                <a:spcPts val="1000"/>
              </a:spcBef>
              <a:spcAft>
                <a:spcPts val="0"/>
              </a:spcAft>
              <a:buSzPts val="1500"/>
              <a:buChar char="•"/>
            </a:pPr>
            <a:r>
              <a:rPr b="1" lang="sv-SE" sz="1500">
                <a:solidFill>
                  <a:schemeClr val="accent3"/>
                </a:solidFill>
              </a:rPr>
              <a:t>Environment State</a:t>
            </a:r>
            <a:r>
              <a:rPr b="1" lang="sv-SE" sz="1500"/>
              <a:t>: </a:t>
            </a:r>
            <a:r>
              <a:rPr lang="sv-SE" sz="1500"/>
              <a:t>The deployment environment is working correctly. The network connection is adequate. </a:t>
            </a:r>
            <a:endParaRPr sz="1500"/>
          </a:p>
          <a:p>
            <a:pPr indent="-323850" lvl="0" marL="457200" rtl="0" algn="l">
              <a:spcBef>
                <a:spcPts val="1000"/>
              </a:spcBef>
              <a:spcAft>
                <a:spcPts val="0"/>
              </a:spcAft>
              <a:buSzPts val="1500"/>
              <a:buChar char="•"/>
            </a:pPr>
            <a:r>
              <a:rPr b="1" lang="sv-SE" sz="1500">
                <a:solidFill>
                  <a:schemeClr val="accent3"/>
                </a:solidFill>
              </a:rPr>
              <a:t>External Stimulus</a:t>
            </a:r>
            <a:r>
              <a:rPr b="1" lang="sv-SE" sz="1500"/>
              <a:t>: </a:t>
            </a:r>
            <a:r>
              <a:rPr lang="sv-SE" sz="1500"/>
              <a:t>The user attempts to submit their order. Internally, the logic reaches the step where the user must authenticate in BankID. The call to the BankID API fails to yield a response.</a:t>
            </a:r>
            <a:endParaRPr sz="1500"/>
          </a:p>
          <a:p>
            <a:pPr indent="-323850" lvl="0" marL="457200" rtl="0" algn="l">
              <a:spcBef>
                <a:spcPts val="1000"/>
              </a:spcBef>
              <a:spcAft>
                <a:spcPts val="0"/>
              </a:spcAft>
              <a:buSzPts val="1500"/>
              <a:buChar char="•"/>
            </a:pPr>
            <a:r>
              <a:rPr b="1" lang="sv-SE" sz="1500">
                <a:solidFill>
                  <a:schemeClr val="accent3"/>
                </a:solidFill>
              </a:rPr>
              <a:t>Required System Behavior</a:t>
            </a:r>
            <a:r>
              <a:rPr b="1" lang="sv-SE" sz="1500"/>
              <a:t>: </a:t>
            </a:r>
            <a:r>
              <a:rPr lang="sv-SE" sz="1500"/>
              <a:t>After waiting for 30 seconds, the system should stop trying to communicate with the BankID API. The order submission should be aborted. An error message should be sent to the user. </a:t>
            </a:r>
            <a:endParaRPr sz="1500"/>
          </a:p>
          <a:p>
            <a:pPr indent="-323850" lvl="0" marL="457200" rtl="0" algn="l">
              <a:spcBef>
                <a:spcPts val="1000"/>
              </a:spcBef>
              <a:spcAft>
                <a:spcPts val="0"/>
              </a:spcAft>
              <a:buSzPts val="1500"/>
              <a:buChar char="•"/>
            </a:pPr>
            <a:r>
              <a:rPr b="1" lang="sv-SE" sz="1500">
                <a:solidFill>
                  <a:schemeClr val="accent3"/>
                </a:solidFill>
              </a:rPr>
              <a:t>Response Measure</a:t>
            </a:r>
            <a:r>
              <a:rPr b="1" lang="sv-SE" sz="1500"/>
              <a:t>: </a:t>
            </a:r>
            <a:r>
              <a:rPr lang="sv-SE" sz="1500"/>
              <a:t>The error message should be displayed within 35 seconds in 95% of executions, and within 45 seconds in 99% of executions.</a:t>
            </a:r>
            <a:endParaRPr b="1" sz="2100">
              <a:solidFill>
                <a:schemeClr val="accent3"/>
              </a:solidFill>
            </a:endParaRPr>
          </a:p>
        </p:txBody>
      </p:sp>
      <p:sp>
        <p:nvSpPr>
          <p:cNvPr id="271" name="Google Shape;271;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78" name="Google Shape;278;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Is a Scenario a Test Case?</a:t>
            </a:r>
            <a:endParaRPr/>
          </a:p>
        </p:txBody>
      </p:sp>
      <p:sp>
        <p:nvSpPr>
          <p:cNvPr id="279" name="Google Shape;279;p4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Scenarios prescribe general execution conditions and goals under those conditions.</a:t>
            </a:r>
            <a:endParaRPr/>
          </a:p>
          <a:p>
            <a:pPr indent="-368300" lvl="1" marL="914400" rtl="0" algn="l">
              <a:spcBef>
                <a:spcPts val="500"/>
              </a:spcBef>
              <a:spcAft>
                <a:spcPts val="0"/>
              </a:spcAft>
              <a:buSzPts val="2200"/>
              <a:buChar char="•"/>
            </a:pPr>
            <a:r>
              <a:rPr lang="sv-SE"/>
              <a:t>Describe the “type” of event and response that occurs, not the specific input or output.</a:t>
            </a:r>
            <a:endParaRPr/>
          </a:p>
          <a:p>
            <a:pPr indent="-393700" lvl="0" marL="457200" rtl="0" algn="l">
              <a:spcBef>
                <a:spcPts val="1000"/>
              </a:spcBef>
              <a:spcAft>
                <a:spcPts val="0"/>
              </a:spcAft>
              <a:buSzPts val="2600"/>
              <a:buChar char="•"/>
            </a:pPr>
            <a:r>
              <a:rPr lang="sv-SE"/>
              <a:t>Test cases require concrete, specific input. </a:t>
            </a:r>
            <a:endParaRPr/>
          </a:p>
          <a:p>
            <a:pPr indent="-393700" lvl="0" marL="457200" rtl="0" algn="l">
              <a:spcBef>
                <a:spcPts val="1000"/>
              </a:spcBef>
              <a:spcAft>
                <a:spcPts val="0"/>
              </a:spcAft>
              <a:buSzPts val="2600"/>
              <a:buChar char="•"/>
            </a:pPr>
            <a:r>
              <a:rPr b="1" lang="sv-SE">
                <a:solidFill>
                  <a:schemeClr val="accent3"/>
                </a:solidFill>
              </a:rPr>
              <a:t>One</a:t>
            </a:r>
            <a:r>
              <a:rPr lang="sv-SE"/>
              <a:t> </a:t>
            </a:r>
            <a:r>
              <a:rPr b="1" lang="sv-SE">
                <a:solidFill>
                  <a:schemeClr val="accent3"/>
                </a:solidFill>
              </a:rPr>
              <a:t>scenario</a:t>
            </a:r>
            <a:r>
              <a:rPr lang="sv-SE"/>
              <a:t> can be used to create </a:t>
            </a:r>
            <a:r>
              <a:rPr b="1" lang="sv-SE">
                <a:solidFill>
                  <a:schemeClr val="accent3"/>
                </a:solidFill>
              </a:rPr>
              <a:t>many concrete test cases</a:t>
            </a:r>
            <a:r>
              <a:rPr lang="sv-SE"/>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“Good” Scenarios</a:t>
            </a:r>
            <a:endParaRPr/>
          </a:p>
        </p:txBody>
      </p:sp>
      <p:sp>
        <p:nvSpPr>
          <p:cNvPr id="285" name="Google Shape;285;p43"/>
          <p:cNvSpPr txBox="1"/>
          <p:nvPr>
            <p:ph idx="1" type="body"/>
          </p:nvPr>
        </p:nvSpPr>
        <p:spPr>
          <a:xfrm>
            <a:off x="468900" y="1188500"/>
            <a:ext cx="8217900" cy="35742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sv-SE" sz="1800"/>
              <a:t>Credible</a:t>
            </a:r>
            <a:endParaRPr sz="1800"/>
          </a:p>
          <a:p>
            <a:pPr indent="-342900" lvl="1" marL="914400" rtl="0" algn="l">
              <a:spcBef>
                <a:spcPts val="500"/>
              </a:spcBef>
              <a:spcAft>
                <a:spcPts val="0"/>
              </a:spcAft>
              <a:buSzPts val="1800"/>
              <a:buChar char="•"/>
            </a:pPr>
            <a:r>
              <a:rPr lang="sv-SE" sz="1800"/>
              <a:t>Describes a realistic scenario.</a:t>
            </a:r>
            <a:endParaRPr sz="1800"/>
          </a:p>
          <a:p>
            <a:pPr indent="-342900" lvl="0" marL="457200" rtl="0" algn="l">
              <a:spcBef>
                <a:spcPts val="1000"/>
              </a:spcBef>
              <a:spcAft>
                <a:spcPts val="0"/>
              </a:spcAft>
              <a:buSzPts val="1800"/>
              <a:buChar char="•"/>
            </a:pPr>
            <a:r>
              <a:rPr lang="sv-SE" sz="1800"/>
              <a:t>Valuable</a:t>
            </a:r>
            <a:endParaRPr sz="1800"/>
          </a:p>
          <a:p>
            <a:pPr indent="-342900" lvl="1" marL="914400" rtl="0" algn="l">
              <a:spcBef>
                <a:spcPts val="500"/>
              </a:spcBef>
              <a:spcAft>
                <a:spcPts val="0"/>
              </a:spcAft>
              <a:buSzPts val="1800"/>
              <a:buChar char="•"/>
            </a:pPr>
            <a:r>
              <a:rPr lang="sv-SE" sz="1800"/>
              <a:t>Can be directly used to design and verify system.</a:t>
            </a:r>
            <a:endParaRPr sz="1800"/>
          </a:p>
          <a:p>
            <a:pPr indent="-342900" lvl="0" marL="457200" rtl="0" algn="l">
              <a:spcBef>
                <a:spcPts val="1000"/>
              </a:spcBef>
              <a:spcAft>
                <a:spcPts val="0"/>
              </a:spcAft>
              <a:buSzPts val="1800"/>
              <a:buChar char="•"/>
            </a:pPr>
            <a:r>
              <a:rPr lang="sv-SE" sz="1800"/>
              <a:t>Specific</a:t>
            </a:r>
            <a:endParaRPr sz="1800"/>
          </a:p>
          <a:p>
            <a:pPr indent="-342900" lvl="1" marL="914400" rtl="0" algn="l">
              <a:spcBef>
                <a:spcPts val="500"/>
              </a:spcBef>
              <a:spcAft>
                <a:spcPts val="0"/>
              </a:spcAft>
              <a:buSzPts val="1800"/>
              <a:buChar char="•"/>
            </a:pPr>
            <a:r>
              <a:rPr lang="sv-SE" sz="1800"/>
              <a:t>Addresses a single, concrete situation.</a:t>
            </a:r>
            <a:endParaRPr sz="1800"/>
          </a:p>
          <a:p>
            <a:pPr indent="-342900" lvl="0" marL="457200" rtl="0" algn="l">
              <a:spcBef>
                <a:spcPts val="1000"/>
              </a:spcBef>
              <a:spcAft>
                <a:spcPts val="0"/>
              </a:spcAft>
              <a:buSzPts val="1800"/>
              <a:buChar char="•"/>
            </a:pPr>
            <a:r>
              <a:rPr lang="sv-SE" sz="1800"/>
              <a:t>Precise</a:t>
            </a:r>
            <a:endParaRPr sz="1800"/>
          </a:p>
          <a:p>
            <a:pPr indent="-342900" lvl="1" marL="914400" rtl="0" algn="l">
              <a:spcBef>
                <a:spcPts val="500"/>
              </a:spcBef>
              <a:spcAft>
                <a:spcPts val="0"/>
              </a:spcAft>
              <a:buSzPts val="1800"/>
              <a:buChar char="•"/>
            </a:pPr>
            <a:r>
              <a:rPr lang="sv-SE" sz="1800"/>
              <a:t>User should be clear about the described situation and response.</a:t>
            </a:r>
            <a:endParaRPr sz="1800"/>
          </a:p>
          <a:p>
            <a:pPr indent="-342900" lvl="0" marL="457200" rtl="0" algn="l">
              <a:spcBef>
                <a:spcPts val="1000"/>
              </a:spcBef>
              <a:spcAft>
                <a:spcPts val="0"/>
              </a:spcAft>
              <a:buSzPts val="1800"/>
              <a:buChar char="•"/>
            </a:pPr>
            <a:r>
              <a:rPr lang="sv-SE" sz="1800"/>
              <a:t>Comprehensible</a:t>
            </a:r>
            <a:endParaRPr sz="1800"/>
          </a:p>
          <a:p>
            <a:pPr indent="-342900" lvl="1" marL="914400" rtl="0" algn="l">
              <a:spcBef>
                <a:spcPts val="500"/>
              </a:spcBef>
              <a:spcAft>
                <a:spcPts val="0"/>
              </a:spcAft>
              <a:buSzPts val="1800"/>
              <a:buChar char="•"/>
            </a:pPr>
            <a:r>
              <a:rPr lang="sv-SE" sz="1800"/>
              <a:t>Writing should be unambiguous and free of jargon.</a:t>
            </a:r>
            <a:endParaRPr sz="1800"/>
          </a:p>
        </p:txBody>
      </p:sp>
      <p:sp>
        <p:nvSpPr>
          <p:cNvPr id="286" name="Google Shape;286;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Effective Scenario Use</a:t>
            </a:r>
            <a:endParaRPr/>
          </a:p>
        </p:txBody>
      </p:sp>
      <p:sp>
        <p:nvSpPr>
          <p:cNvPr id="292" name="Google Shape;292;p4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sv-SE" sz="2500"/>
              <a:t>Identify a focused scenario set</a:t>
            </a:r>
            <a:endParaRPr sz="2500"/>
          </a:p>
          <a:p>
            <a:pPr indent="-361950" lvl="1" marL="914400" rtl="0" algn="l">
              <a:spcBef>
                <a:spcPts val="500"/>
              </a:spcBef>
              <a:spcAft>
                <a:spcPts val="0"/>
              </a:spcAft>
              <a:buSzPts val="2100"/>
              <a:buChar char="•"/>
            </a:pPr>
            <a:r>
              <a:rPr lang="sv-SE" sz="2100"/>
              <a:t>Too many scenarios can be distracting.</a:t>
            </a:r>
            <a:endParaRPr sz="2100"/>
          </a:p>
          <a:p>
            <a:pPr indent="-361950" lvl="1" marL="914400" rtl="0" algn="l">
              <a:spcBef>
                <a:spcPts val="500"/>
              </a:spcBef>
              <a:spcAft>
                <a:spcPts val="0"/>
              </a:spcAft>
              <a:buSzPts val="2100"/>
              <a:buChar char="•"/>
            </a:pPr>
            <a:r>
              <a:rPr lang="sv-SE" sz="2100"/>
              <a:t>Prioritize no more than 15-20.</a:t>
            </a:r>
            <a:endParaRPr sz="2100"/>
          </a:p>
          <a:p>
            <a:pPr indent="-387350" lvl="0" marL="457200" rtl="0" algn="l">
              <a:spcBef>
                <a:spcPts val="1000"/>
              </a:spcBef>
              <a:spcAft>
                <a:spcPts val="0"/>
              </a:spcAft>
              <a:buSzPts val="2500"/>
              <a:buChar char="•"/>
            </a:pPr>
            <a:r>
              <a:rPr lang="sv-SE" sz="2500"/>
              <a:t>Use distinct scenarios</a:t>
            </a:r>
            <a:endParaRPr sz="2500"/>
          </a:p>
          <a:p>
            <a:pPr indent="-361950" lvl="1" marL="914400" rtl="0" algn="l">
              <a:spcBef>
                <a:spcPts val="500"/>
              </a:spcBef>
              <a:spcAft>
                <a:spcPts val="0"/>
              </a:spcAft>
              <a:buSzPts val="2100"/>
              <a:buChar char="•"/>
            </a:pPr>
            <a:r>
              <a:rPr lang="sv-SE" sz="2100"/>
              <a:t>Avoid redundant scenarios. </a:t>
            </a:r>
            <a:endParaRPr sz="2100"/>
          </a:p>
          <a:p>
            <a:pPr indent="-361950" lvl="1" marL="914400" rtl="0" algn="l">
              <a:spcBef>
                <a:spcPts val="500"/>
              </a:spcBef>
              <a:spcAft>
                <a:spcPts val="0"/>
              </a:spcAft>
              <a:buSzPts val="2100"/>
              <a:buChar char="•"/>
            </a:pPr>
            <a:r>
              <a:rPr lang="sv-SE" sz="2100"/>
              <a:t>Consider demands placed on the system.</a:t>
            </a:r>
            <a:endParaRPr sz="2100"/>
          </a:p>
          <a:p>
            <a:pPr indent="-387350" lvl="0" marL="457200" rtl="0" algn="l">
              <a:spcBef>
                <a:spcPts val="1000"/>
              </a:spcBef>
              <a:spcAft>
                <a:spcPts val="0"/>
              </a:spcAft>
              <a:buSzPts val="2500"/>
              <a:buChar char="•"/>
            </a:pPr>
            <a:r>
              <a:rPr lang="sv-SE" sz="2500"/>
              <a:t>Use scenarios early</a:t>
            </a:r>
            <a:endParaRPr sz="2500"/>
          </a:p>
          <a:p>
            <a:pPr indent="-361950" lvl="1" marL="914400" rtl="0" algn="l">
              <a:spcBef>
                <a:spcPts val="500"/>
              </a:spcBef>
              <a:spcAft>
                <a:spcPts val="0"/>
              </a:spcAft>
              <a:buSzPts val="2100"/>
              <a:buChar char="•"/>
            </a:pPr>
            <a:r>
              <a:rPr lang="sv-SE" sz="2100"/>
              <a:t>Can focus design activities.</a:t>
            </a:r>
            <a:endParaRPr sz="2100"/>
          </a:p>
        </p:txBody>
      </p:sp>
      <p:sp>
        <p:nvSpPr>
          <p:cNvPr id="293" name="Google Shape;293;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00" name="Google Shape;300;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What do we do with Scenarios?</a:t>
            </a:r>
            <a:endParaRPr/>
          </a:p>
        </p:txBody>
      </p:sp>
      <p:sp>
        <p:nvSpPr>
          <p:cNvPr id="301" name="Google Shape;301;p4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System Design</a:t>
            </a:r>
            <a:endParaRPr/>
          </a:p>
          <a:p>
            <a:pPr indent="-393700" lvl="0" marL="457200" rtl="0" algn="l">
              <a:spcBef>
                <a:spcPts val="1000"/>
              </a:spcBef>
              <a:spcAft>
                <a:spcPts val="0"/>
              </a:spcAft>
              <a:buSzPts val="2600"/>
              <a:buChar char="•"/>
            </a:pPr>
            <a:r>
              <a:rPr lang="sv-SE"/>
              <a:t>Stakeholder Negotiation</a:t>
            </a:r>
            <a:endParaRPr/>
          </a:p>
          <a:p>
            <a:pPr indent="-393700" lvl="0" marL="457200" rtl="0" algn="l">
              <a:spcBef>
                <a:spcPts val="1000"/>
              </a:spcBef>
              <a:spcAft>
                <a:spcPts val="0"/>
              </a:spcAft>
              <a:buSzPts val="2600"/>
              <a:buChar char="•"/>
            </a:pPr>
            <a:r>
              <a:rPr lang="sv-SE"/>
              <a:t>Exploratory Testing</a:t>
            </a:r>
            <a:endParaRPr/>
          </a:p>
          <a:p>
            <a:pPr indent="-368300" lvl="1" marL="914400" rtl="0" algn="l">
              <a:spcBef>
                <a:spcPts val="500"/>
              </a:spcBef>
              <a:spcAft>
                <a:spcPts val="0"/>
              </a:spcAft>
              <a:buSzPts val="2200"/>
              <a:buChar char="•"/>
            </a:pPr>
            <a:r>
              <a:rPr lang="sv-SE"/>
              <a:t>Human experiments with app.</a:t>
            </a:r>
            <a:endParaRPr/>
          </a:p>
          <a:p>
            <a:pPr indent="-393700" lvl="0" marL="457200" rtl="0" algn="l">
              <a:spcBef>
                <a:spcPts val="1000"/>
              </a:spcBef>
              <a:spcAft>
                <a:spcPts val="0"/>
              </a:spcAft>
              <a:buSzPts val="2600"/>
              <a:buChar char="•"/>
            </a:pPr>
            <a:r>
              <a:rPr lang="sv-SE"/>
              <a:t>Formal Test Cases</a:t>
            </a:r>
            <a:endParaRPr/>
          </a:p>
          <a:p>
            <a:pPr indent="-368300" lvl="1" marL="914400" rtl="0" algn="l">
              <a:spcBef>
                <a:spcPts val="500"/>
              </a:spcBef>
              <a:spcAft>
                <a:spcPts val="0"/>
              </a:spcAft>
              <a:buSzPts val="2200"/>
              <a:buChar char="•"/>
            </a:pPr>
            <a:r>
              <a:rPr lang="sv-SE"/>
              <a:t>Assign specific input and check response.</a:t>
            </a:r>
            <a:endParaRPr/>
          </a:p>
        </p:txBody>
      </p:sp>
      <p:pic>
        <p:nvPicPr>
          <p:cNvPr id="302" name="Google Shape;302;p45"/>
          <p:cNvPicPr preferRelativeResize="0"/>
          <p:nvPr/>
        </p:nvPicPr>
        <p:blipFill>
          <a:blip r:embed="rId3">
            <a:alphaModFix/>
          </a:blip>
          <a:stretch>
            <a:fillRect/>
          </a:stretch>
        </p:blipFill>
        <p:spPr>
          <a:xfrm>
            <a:off x="5665674" y="1149675"/>
            <a:ext cx="1054850" cy="1301000"/>
          </a:xfrm>
          <a:prstGeom prst="rect">
            <a:avLst/>
          </a:prstGeom>
          <a:noFill/>
          <a:ln>
            <a:noFill/>
          </a:ln>
        </p:spPr>
      </p:pic>
      <p:pic>
        <p:nvPicPr>
          <p:cNvPr id="303" name="Google Shape;303;p45"/>
          <p:cNvPicPr preferRelativeResize="0"/>
          <p:nvPr/>
        </p:nvPicPr>
        <p:blipFill>
          <a:blip r:embed="rId4">
            <a:alphaModFix/>
          </a:blip>
          <a:stretch>
            <a:fillRect/>
          </a:stretch>
        </p:blipFill>
        <p:spPr>
          <a:xfrm>
            <a:off x="6938675" y="1811988"/>
            <a:ext cx="1543051" cy="867974"/>
          </a:xfrm>
          <a:prstGeom prst="rect">
            <a:avLst/>
          </a:prstGeom>
          <a:noFill/>
          <a:ln>
            <a:noFill/>
          </a:ln>
        </p:spPr>
      </p:pic>
      <p:pic>
        <p:nvPicPr>
          <p:cNvPr id="304" name="Google Shape;304;p45"/>
          <p:cNvPicPr preferRelativeResize="0"/>
          <p:nvPr/>
        </p:nvPicPr>
        <p:blipFill>
          <a:blip r:embed="rId5">
            <a:alphaModFix/>
          </a:blip>
          <a:stretch>
            <a:fillRect/>
          </a:stretch>
        </p:blipFill>
        <p:spPr>
          <a:xfrm>
            <a:off x="5600699" y="2628324"/>
            <a:ext cx="1184825" cy="788450"/>
          </a:xfrm>
          <a:prstGeom prst="rect">
            <a:avLst/>
          </a:prstGeom>
          <a:noFill/>
          <a:ln>
            <a:noFill/>
          </a:ln>
        </p:spPr>
      </p:pic>
      <p:pic>
        <p:nvPicPr>
          <p:cNvPr id="305" name="Google Shape;305;p45"/>
          <p:cNvPicPr preferRelativeResize="0"/>
          <p:nvPr/>
        </p:nvPicPr>
        <p:blipFill>
          <a:blip r:embed="rId6">
            <a:alphaModFix/>
          </a:blip>
          <a:stretch>
            <a:fillRect/>
          </a:stretch>
        </p:blipFill>
        <p:spPr>
          <a:xfrm>
            <a:off x="6932124" y="3043625"/>
            <a:ext cx="1556162" cy="14039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12" name="Google Shape;312;p46"/>
          <p:cNvSpPr txBox="1"/>
          <p:nvPr>
            <p:ph type="title"/>
          </p:nvPr>
        </p:nvSpPr>
        <p:spPr>
          <a:xfrm>
            <a:off x="285750" y="613975"/>
            <a:ext cx="88581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Reliability </a:t>
            </a:r>
            <a:endParaRPr/>
          </a:p>
          <a:p>
            <a:pPr indent="0" lvl="0" marL="0" rtl="0" algn="l">
              <a:spcBef>
                <a:spcPts val="0"/>
              </a:spcBef>
              <a:spcAft>
                <a:spcPts val="0"/>
              </a:spcAft>
              <a:buNone/>
            </a:pPr>
            <a:r>
              <a:rPr lang="sv-SE"/>
              <a:t>Scenarios</a:t>
            </a:r>
            <a:endParaRPr/>
          </a:p>
        </p:txBody>
      </p:sp>
      <p:pic>
        <p:nvPicPr>
          <p:cNvPr id="313" name="Google Shape;313;p46"/>
          <p:cNvPicPr preferRelativeResize="0"/>
          <p:nvPr/>
        </p:nvPicPr>
        <p:blipFill>
          <a:blip r:embed="rId3">
            <a:alphaModFix/>
          </a:blip>
          <a:stretch>
            <a:fillRect/>
          </a:stretch>
        </p:blipFill>
        <p:spPr>
          <a:xfrm>
            <a:off x="3930625" y="1292433"/>
            <a:ext cx="4756176" cy="29904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20" name="Google Shape;320;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Scenarios</a:t>
            </a:r>
            <a:endParaRPr/>
          </a:p>
        </p:txBody>
      </p:sp>
      <p:sp>
        <p:nvSpPr>
          <p:cNvPr id="321" name="Google Shape;321;p4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Ability to operate correctly over an observation period</a:t>
            </a:r>
            <a:r>
              <a:rPr lang="sv-SE">
                <a:solidFill>
                  <a:schemeClr val="accent3"/>
                </a:solidFill>
              </a:rPr>
              <a:t> (time or executions).</a:t>
            </a:r>
            <a:endParaRPr>
              <a:solidFill>
                <a:schemeClr val="accent3"/>
              </a:solidFill>
            </a:endParaRPr>
          </a:p>
          <a:p>
            <a:pPr indent="-368300" lvl="1" marL="914400" rtl="0" algn="l">
              <a:spcBef>
                <a:spcPts val="500"/>
              </a:spcBef>
              <a:spcAft>
                <a:spcPts val="0"/>
              </a:spcAft>
              <a:buSzPts val="2200"/>
              <a:buChar char="•"/>
            </a:pPr>
            <a:r>
              <a:rPr lang="sv-SE"/>
              <a:t>A statistical approximation of correctness.</a:t>
            </a:r>
            <a:endParaRPr/>
          </a:p>
          <a:p>
            <a:pPr indent="-393700" lvl="0" marL="457200" rtl="0" algn="l">
              <a:spcBef>
                <a:spcPts val="1000"/>
              </a:spcBef>
              <a:spcAft>
                <a:spcPts val="0"/>
              </a:spcAft>
              <a:buSzPts val="2600"/>
              <a:buChar char="•"/>
            </a:pPr>
            <a:r>
              <a:rPr lang="sv-SE"/>
              <a:t>Scenarios revolve around one function/code component (or closely-related components).</a:t>
            </a:r>
            <a:endParaRPr/>
          </a:p>
          <a:p>
            <a:pPr indent="-368300" lvl="1" marL="914400" rtl="0" algn="l">
              <a:spcBef>
                <a:spcPts val="500"/>
              </a:spcBef>
              <a:spcAft>
                <a:spcPts val="0"/>
              </a:spcAft>
              <a:buSzPts val="2200"/>
              <a:buChar char="•"/>
            </a:pPr>
            <a:r>
              <a:rPr lang="sv-SE"/>
              <a:t>Demonstrates that the function operates correctly.</a:t>
            </a:r>
            <a:endParaRPr/>
          </a:p>
          <a:p>
            <a:pPr indent="-368300" lvl="1" marL="914400" rtl="0" algn="l">
              <a:spcBef>
                <a:spcPts val="500"/>
              </a:spcBef>
              <a:spcAft>
                <a:spcPts val="0"/>
              </a:spcAft>
              <a:buSzPts val="2200"/>
              <a:buChar char="•"/>
            </a:pPr>
            <a:r>
              <a:rPr lang="sv-SE"/>
              <a:t>Give context on type of user or </a:t>
            </a:r>
            <a:r>
              <a:rPr lang="sv-SE"/>
              <a:t>system load</a:t>
            </a:r>
            <a:r>
              <a:rPr lang="sv-SE"/>
              <a:t> if it impacts system execution or </a:t>
            </a:r>
            <a:r>
              <a:rPr lang="sv-SE"/>
              <a:t>perceived</a:t>
            </a:r>
            <a:r>
              <a:rPr lang="sv-SE"/>
              <a:t> reliability.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28" name="Google Shape;328;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Metrics</a:t>
            </a:r>
            <a:endParaRPr/>
          </a:p>
        </p:txBody>
      </p:sp>
      <p:sp>
        <p:nvSpPr>
          <p:cNvPr id="329" name="Google Shape;329;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Time Available: </a:t>
            </a:r>
            <a:r>
              <a:rPr b="1" lang="sv-SE">
                <a:solidFill>
                  <a:schemeClr val="accent3"/>
                </a:solidFill>
              </a:rPr>
              <a:t>(uptime) / (total time observed)</a:t>
            </a:r>
            <a:endParaRPr b="1">
              <a:solidFill>
                <a:schemeClr val="accent3"/>
              </a:solidFill>
            </a:endParaRPr>
          </a:p>
          <a:p>
            <a:pPr indent="-393700" lvl="0" marL="457200" rtl="0" algn="l">
              <a:spcBef>
                <a:spcPts val="1000"/>
              </a:spcBef>
              <a:spcAft>
                <a:spcPts val="0"/>
              </a:spcAft>
              <a:buSzPts val="2600"/>
              <a:buChar char="•"/>
            </a:pPr>
            <a:r>
              <a:rPr lang="sv-SE"/>
              <a:t>POFOD: </a:t>
            </a:r>
            <a:r>
              <a:rPr b="1" lang="sv-SE">
                <a:solidFill>
                  <a:schemeClr val="accent3"/>
                </a:solidFill>
              </a:rPr>
              <a:t>(# failures) / (# requests)</a:t>
            </a:r>
            <a:endParaRPr b="1">
              <a:solidFill>
                <a:schemeClr val="accent3"/>
              </a:solidFill>
            </a:endParaRPr>
          </a:p>
          <a:p>
            <a:pPr indent="-393700" lvl="0" marL="457200" rtl="0" algn="l">
              <a:spcBef>
                <a:spcPts val="1000"/>
              </a:spcBef>
              <a:spcAft>
                <a:spcPts val="0"/>
              </a:spcAft>
              <a:buSzPts val="2600"/>
              <a:buChar char="•"/>
            </a:pPr>
            <a:r>
              <a:rPr lang="sv-SE"/>
              <a:t>ROCOF: </a:t>
            </a:r>
            <a:r>
              <a:rPr b="1" lang="sv-SE">
                <a:solidFill>
                  <a:schemeClr val="accent3"/>
                </a:solidFill>
              </a:rPr>
              <a:t>(# failures) / (period of time)</a:t>
            </a:r>
            <a:endParaRPr b="1">
              <a:solidFill>
                <a:schemeClr val="accent3"/>
              </a:solidFill>
            </a:endParaRPr>
          </a:p>
          <a:p>
            <a:pPr indent="-393700" lvl="0" marL="457200" rtl="0" algn="l">
              <a:spcBef>
                <a:spcPts val="1000"/>
              </a:spcBef>
              <a:spcAft>
                <a:spcPts val="0"/>
              </a:spcAft>
              <a:buSzPts val="2600"/>
              <a:buChar char="•"/>
            </a:pPr>
            <a:r>
              <a:rPr lang="sv-SE"/>
              <a:t>MTBF: </a:t>
            </a:r>
            <a:r>
              <a:rPr b="1" lang="sv-SE">
                <a:solidFill>
                  <a:schemeClr val="accent3"/>
                </a:solidFill>
              </a:rPr>
              <a:t>Average time between failures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a:t>
            </a:r>
            <a:r>
              <a:rPr lang="sv-SE"/>
              <a:t> Scenarios</a:t>
            </a:r>
            <a:endParaRPr/>
          </a:p>
        </p:txBody>
      </p:sp>
      <p:sp>
        <p:nvSpPr>
          <p:cNvPr id="335" name="Google Shape;335;p4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Overview</a:t>
            </a:r>
            <a:r>
              <a:rPr b="1" lang="sv-SE" sz="2400"/>
              <a:t>:</a:t>
            </a:r>
            <a:r>
              <a:rPr lang="sv-SE" sz="2400"/>
              <a:t> Highlight the function(s)</a:t>
            </a:r>
            <a:br>
              <a:rPr lang="sv-SE" sz="2400"/>
            </a:br>
            <a:r>
              <a:rPr lang="sv-SE" sz="2400"/>
              <a:t>being used and the context used in. </a:t>
            </a:r>
            <a:br>
              <a:rPr lang="sv-SE" sz="2400"/>
            </a:br>
            <a:r>
              <a:rPr lang="sv-SE" sz="2400"/>
              <a:t>Explain the type of user/load, if relevant.</a:t>
            </a:r>
            <a:endParaRPr sz="2400"/>
          </a:p>
          <a:p>
            <a:pPr indent="-381000" lvl="0" marL="457200" rtl="0" algn="l">
              <a:spcBef>
                <a:spcPts val="1000"/>
              </a:spcBef>
              <a:spcAft>
                <a:spcPts val="0"/>
              </a:spcAft>
              <a:buSzPts val="2400"/>
              <a:buChar char="•"/>
            </a:pPr>
            <a:r>
              <a:rPr b="1" lang="sv-SE" sz="2400">
                <a:solidFill>
                  <a:schemeClr val="accent3"/>
                </a:solidFill>
              </a:rPr>
              <a:t>System State</a:t>
            </a:r>
            <a:r>
              <a:rPr b="1" lang="sv-SE" sz="2400"/>
              <a:t>: </a:t>
            </a:r>
            <a:r>
              <a:rPr lang="sv-SE" sz="2400"/>
              <a:t>Data stored in system, past events (multiple failures may leave system vulnerable), load may impact reliability.</a:t>
            </a:r>
            <a:endParaRPr sz="2400"/>
          </a:p>
          <a:p>
            <a:pPr indent="-381000" lvl="0" marL="457200" rtl="0" algn="l">
              <a:spcBef>
                <a:spcPts val="1000"/>
              </a:spcBef>
              <a:spcAft>
                <a:spcPts val="0"/>
              </a:spcAft>
              <a:buSzPts val="2400"/>
              <a:buChar char="•"/>
            </a:pPr>
            <a:r>
              <a:rPr b="1" lang="sv-SE" sz="2400">
                <a:solidFill>
                  <a:schemeClr val="accent3"/>
                </a:solidFill>
              </a:rPr>
              <a:t>Environment State</a:t>
            </a:r>
            <a:r>
              <a:rPr b="1" lang="sv-SE" sz="2400"/>
              <a:t>:</a:t>
            </a:r>
            <a:r>
              <a:rPr lang="sv-SE" sz="2400"/>
              <a:t> Available resources may impact reliability (resources, networking).</a:t>
            </a:r>
            <a:endParaRPr sz="2400"/>
          </a:p>
        </p:txBody>
      </p:sp>
      <p:sp>
        <p:nvSpPr>
          <p:cNvPr id="336" name="Google Shape;336;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337" name="Google Shape;337;p49"/>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338" name="Google Shape;338;p49"/>
          <p:cNvSpPr/>
          <p:nvPr/>
        </p:nvSpPr>
        <p:spPr>
          <a:xfrm>
            <a:off x="7408188" y="881838"/>
            <a:ext cx="514200" cy="716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Scenarios</a:t>
            </a:r>
            <a:endParaRPr/>
          </a:p>
        </p:txBody>
      </p:sp>
      <p:sp>
        <p:nvSpPr>
          <p:cNvPr id="344" name="Google Shape;344;p5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External Stimulus</a:t>
            </a:r>
            <a:r>
              <a:rPr b="1" lang="sv-SE"/>
              <a:t>: </a:t>
            </a:r>
            <a:endParaRPr b="1"/>
          </a:p>
          <a:p>
            <a:pPr indent="-368300" lvl="1" marL="914400" rtl="0" algn="l">
              <a:spcBef>
                <a:spcPts val="500"/>
              </a:spcBef>
              <a:spcAft>
                <a:spcPts val="0"/>
              </a:spcAft>
              <a:buSzPts val="2200"/>
              <a:buChar char="•"/>
            </a:pPr>
            <a:r>
              <a:rPr lang="sv-SE"/>
              <a:t>User or external software performs one or more input interactions.</a:t>
            </a:r>
            <a:endParaRPr/>
          </a:p>
          <a:p>
            <a:pPr indent="-368300" lvl="1" marL="914400" rtl="0" algn="l">
              <a:spcBef>
                <a:spcPts val="500"/>
              </a:spcBef>
              <a:spcAft>
                <a:spcPts val="0"/>
              </a:spcAft>
              <a:buSzPts val="2200"/>
              <a:buChar char="•"/>
            </a:pPr>
            <a:r>
              <a:rPr lang="sv-SE"/>
              <a:t>State specific interaction(s) performed.</a:t>
            </a:r>
            <a:endParaRPr/>
          </a:p>
          <a:p>
            <a:pPr indent="-368300" lvl="1" marL="914400" rtl="0" algn="l">
              <a:spcBef>
                <a:spcPts val="500"/>
              </a:spcBef>
              <a:spcAft>
                <a:spcPts val="0"/>
              </a:spcAft>
              <a:buSzPts val="2200"/>
              <a:buChar char="•"/>
            </a:pPr>
            <a:r>
              <a:rPr lang="sv-SE"/>
              <a:t>If relevant, explain the type of user and reason they would </a:t>
            </a:r>
            <a:r>
              <a:rPr lang="sv-SE"/>
              <a:t>perceive</a:t>
            </a:r>
            <a:r>
              <a:rPr lang="sv-SE"/>
              <a:t> reliability differently. </a:t>
            </a:r>
            <a:endParaRPr/>
          </a:p>
        </p:txBody>
      </p:sp>
      <p:sp>
        <p:nvSpPr>
          <p:cNvPr id="345" name="Google Shape;345;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346" name="Google Shape;346;p50"/>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347" name="Google Shape;347;p50"/>
          <p:cNvSpPr/>
          <p:nvPr/>
        </p:nvSpPr>
        <p:spPr>
          <a:xfrm>
            <a:off x="6437750" y="590150"/>
            <a:ext cx="993300" cy="1156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Scenarios</a:t>
            </a:r>
            <a:endParaRPr/>
          </a:p>
        </p:txBody>
      </p:sp>
      <p:sp>
        <p:nvSpPr>
          <p:cNvPr id="353" name="Google Shape;353;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Required Response</a:t>
            </a:r>
            <a:r>
              <a:rPr b="1" lang="sv-SE"/>
              <a:t>:</a:t>
            </a:r>
            <a:endParaRPr b="1"/>
          </a:p>
          <a:p>
            <a:pPr indent="-368300" lvl="1" marL="914400" rtl="0" algn="l">
              <a:spcBef>
                <a:spcPts val="500"/>
              </a:spcBef>
              <a:spcAft>
                <a:spcPts val="0"/>
              </a:spcAft>
              <a:buSzPts val="2200"/>
              <a:buChar char="•"/>
            </a:pPr>
            <a:r>
              <a:rPr lang="sv-SE"/>
              <a:t>The functional response of the system.</a:t>
            </a:r>
            <a:endParaRPr/>
          </a:p>
          <a:p>
            <a:pPr indent="-368300" lvl="1" marL="914400" rtl="0" algn="l">
              <a:spcBef>
                <a:spcPts val="500"/>
              </a:spcBef>
              <a:spcAft>
                <a:spcPts val="0"/>
              </a:spcAft>
              <a:buSzPts val="2200"/>
              <a:buChar char="•"/>
            </a:pPr>
            <a:r>
              <a:rPr lang="sv-SE"/>
              <a:t>Generally, the normal operation of that function.</a:t>
            </a:r>
            <a:endParaRPr/>
          </a:p>
          <a:p>
            <a:pPr indent="-393700" lvl="0" marL="457200" rtl="0" algn="l">
              <a:spcBef>
                <a:spcPts val="1000"/>
              </a:spcBef>
              <a:spcAft>
                <a:spcPts val="0"/>
              </a:spcAft>
              <a:buSzPts val="2600"/>
              <a:buChar char="•"/>
            </a:pPr>
            <a:r>
              <a:rPr b="1" lang="sv-SE">
                <a:solidFill>
                  <a:schemeClr val="accent3"/>
                </a:solidFill>
              </a:rPr>
              <a:t>Reliability Measure</a:t>
            </a:r>
            <a:r>
              <a:rPr b="1" lang="sv-SE"/>
              <a:t>:</a:t>
            </a:r>
            <a:endParaRPr b="1"/>
          </a:p>
          <a:p>
            <a:pPr indent="-368300" lvl="1" marL="914400" rtl="0" algn="l">
              <a:spcBef>
                <a:spcPts val="500"/>
              </a:spcBef>
              <a:spcAft>
                <a:spcPts val="0"/>
              </a:spcAft>
              <a:buSzPts val="2200"/>
              <a:buChar char="•"/>
            </a:pPr>
            <a:r>
              <a:rPr lang="sv-SE"/>
              <a:t>ROCOF, POFOD, Time Available, MTBF</a:t>
            </a:r>
            <a:endParaRPr/>
          </a:p>
          <a:p>
            <a:pPr indent="-368300" lvl="1" marL="914400" rtl="0" algn="l">
              <a:spcBef>
                <a:spcPts val="500"/>
              </a:spcBef>
              <a:spcAft>
                <a:spcPts val="0"/>
              </a:spcAft>
              <a:buSzPts val="2200"/>
              <a:buChar char="•"/>
            </a:pPr>
            <a:r>
              <a:rPr lang="sv-SE"/>
              <a:t>Measures </a:t>
            </a:r>
            <a:r>
              <a:rPr lang="sv-SE"/>
              <a:t>establish</a:t>
            </a:r>
            <a:r>
              <a:rPr lang="sv-SE"/>
              <a:t> general thresholds (i.e., not a single execution, but all executions of this scenario)</a:t>
            </a:r>
            <a:endParaRPr/>
          </a:p>
        </p:txBody>
      </p:sp>
      <p:sp>
        <p:nvSpPr>
          <p:cNvPr id="354" name="Google Shape;354;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355" name="Google Shape;355;p51"/>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356" name="Google Shape;356;p51"/>
          <p:cNvSpPr/>
          <p:nvPr/>
        </p:nvSpPr>
        <p:spPr>
          <a:xfrm>
            <a:off x="7921175" y="661488"/>
            <a:ext cx="993300" cy="1156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63" name="Google Shape;363;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Reliability Scenario</a:t>
            </a:r>
            <a:endParaRPr/>
          </a:p>
        </p:txBody>
      </p:sp>
      <p:sp>
        <p:nvSpPr>
          <p:cNvPr id="364" name="Google Shape;364;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t>Requirement:</a:t>
            </a:r>
            <a:r>
              <a:rPr lang="sv-SE"/>
              <a:t> The system shall allow the user to view the menu of a chosen restaurant. This function must be accessible at least 99.99% of the time.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71" name="Google Shape;371;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Reliability Scenario</a:t>
            </a:r>
            <a:endParaRPr/>
          </a:p>
        </p:txBody>
      </p:sp>
      <p:sp>
        <p:nvSpPr>
          <p:cNvPr id="372" name="Google Shape;372;p5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b="1" lang="sv-SE" sz="1800">
                <a:solidFill>
                  <a:schemeClr val="accent3"/>
                </a:solidFill>
              </a:rPr>
              <a:t>Overview</a:t>
            </a:r>
            <a:r>
              <a:rPr lang="sv-SE" sz="1800"/>
              <a:t>: Demonstrates that the user can view the menu of a chosen restaurant under “typical” conditions.</a:t>
            </a:r>
            <a:endParaRPr sz="1800"/>
          </a:p>
          <a:p>
            <a:pPr indent="-342900" lvl="0" marL="457200" rtl="0" algn="l">
              <a:spcBef>
                <a:spcPts val="1000"/>
              </a:spcBef>
              <a:spcAft>
                <a:spcPts val="0"/>
              </a:spcAft>
              <a:buSzPts val="1800"/>
              <a:buChar char="•"/>
            </a:pPr>
            <a:r>
              <a:rPr b="1" lang="sv-SE" sz="1800">
                <a:solidFill>
                  <a:schemeClr val="accent3"/>
                </a:solidFill>
              </a:rPr>
              <a:t>System State</a:t>
            </a:r>
            <a:r>
              <a:rPr lang="sv-SE" sz="1800"/>
              <a:t>: A valid user is logged in. The system is under normal load (5000 concurrent users). </a:t>
            </a:r>
            <a:endParaRPr sz="1800"/>
          </a:p>
          <a:p>
            <a:pPr indent="-342900" lvl="0" marL="457200" rtl="0" algn="l">
              <a:spcBef>
                <a:spcPts val="1000"/>
              </a:spcBef>
              <a:spcAft>
                <a:spcPts val="0"/>
              </a:spcAft>
              <a:buSzPts val="1800"/>
              <a:buChar char="•"/>
            </a:pPr>
            <a:r>
              <a:rPr b="1" lang="sv-SE" sz="1800">
                <a:solidFill>
                  <a:schemeClr val="accent3"/>
                </a:solidFill>
              </a:rPr>
              <a:t>Environment State</a:t>
            </a:r>
            <a:r>
              <a:rPr lang="sv-SE" sz="1800"/>
              <a:t>: The network connection is adequate. The deployment environment is operating under normal conditions.</a:t>
            </a:r>
            <a:endParaRPr sz="1800"/>
          </a:p>
          <a:p>
            <a:pPr indent="-342900" lvl="0" marL="457200" rtl="0" algn="l">
              <a:spcBef>
                <a:spcPts val="1000"/>
              </a:spcBef>
              <a:spcAft>
                <a:spcPts val="0"/>
              </a:spcAft>
              <a:buSzPts val="1800"/>
              <a:buChar char="•"/>
            </a:pPr>
            <a:r>
              <a:rPr b="1" lang="sv-SE" sz="1800">
                <a:solidFill>
                  <a:schemeClr val="accent3"/>
                </a:solidFill>
              </a:rPr>
              <a:t>External Stimulus</a:t>
            </a:r>
            <a:r>
              <a:rPr lang="sv-SE" sz="1800"/>
              <a:t>: </a:t>
            </a:r>
            <a:r>
              <a:rPr lang="sv-SE" sz="1800"/>
              <a:t>The user selects a restaurant, then clicks on “menu”.</a:t>
            </a:r>
            <a:endParaRPr sz="1800"/>
          </a:p>
          <a:p>
            <a:pPr indent="-342900" lvl="0" marL="457200" rtl="0" algn="l">
              <a:spcBef>
                <a:spcPts val="1000"/>
              </a:spcBef>
              <a:spcAft>
                <a:spcPts val="0"/>
              </a:spcAft>
              <a:buSzPts val="1800"/>
              <a:buChar char="•"/>
            </a:pPr>
            <a:r>
              <a:rPr b="1" lang="sv-SE" sz="1800">
                <a:solidFill>
                  <a:schemeClr val="accent3"/>
                </a:solidFill>
              </a:rPr>
              <a:t>Required Response</a:t>
            </a:r>
            <a:r>
              <a:rPr lang="sv-SE" sz="1800"/>
              <a:t>: The menu is displayed to the user. </a:t>
            </a:r>
            <a:endParaRPr sz="1800"/>
          </a:p>
          <a:p>
            <a:pPr indent="-342900" lvl="0" marL="457200" rtl="0" algn="l">
              <a:spcBef>
                <a:spcPts val="1000"/>
              </a:spcBef>
              <a:spcAft>
                <a:spcPts val="0"/>
              </a:spcAft>
              <a:buSzPts val="1800"/>
              <a:buChar char="•"/>
            </a:pPr>
            <a:r>
              <a:rPr b="1" lang="sv-SE" sz="1800">
                <a:solidFill>
                  <a:schemeClr val="accent3"/>
                </a:solidFill>
              </a:rPr>
              <a:t>Response Measure</a:t>
            </a:r>
            <a:r>
              <a:rPr lang="sv-SE" sz="1800"/>
              <a:t>: The time available is 99.999%. </a:t>
            </a:r>
            <a:endParaRPr sz="1800"/>
          </a:p>
          <a:p>
            <a:pPr indent="-342900" lvl="1" marL="914400" rtl="0" algn="l">
              <a:spcBef>
                <a:spcPts val="500"/>
              </a:spcBef>
              <a:spcAft>
                <a:spcPts val="0"/>
              </a:spcAft>
              <a:buSzPts val="1800"/>
              <a:buChar char="•"/>
            </a:pPr>
            <a:r>
              <a:rPr lang="sv-SE" sz="1800"/>
              <a:t>(higher than requirement)</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79" name="Google Shape;379;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Reliability Scenario (2)</a:t>
            </a:r>
            <a:endParaRPr/>
          </a:p>
        </p:txBody>
      </p:sp>
      <p:sp>
        <p:nvSpPr>
          <p:cNvPr id="380" name="Google Shape;380;p5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b="1" lang="sv-SE" sz="1800">
                <a:solidFill>
                  <a:schemeClr val="accent3"/>
                </a:solidFill>
              </a:rPr>
              <a:t>Overview</a:t>
            </a:r>
            <a:r>
              <a:rPr lang="sv-SE" sz="1800"/>
              <a:t>: Demonstrates that the user can view the menu of a chosen restaurant, even under heavy load.</a:t>
            </a:r>
            <a:endParaRPr sz="1800"/>
          </a:p>
          <a:p>
            <a:pPr indent="-342900" lvl="0" marL="457200" rtl="0" algn="l">
              <a:spcBef>
                <a:spcPts val="1000"/>
              </a:spcBef>
              <a:spcAft>
                <a:spcPts val="0"/>
              </a:spcAft>
              <a:buSzPts val="1800"/>
              <a:buChar char="•"/>
            </a:pPr>
            <a:r>
              <a:rPr b="1" lang="sv-SE" sz="1800">
                <a:solidFill>
                  <a:schemeClr val="accent3"/>
                </a:solidFill>
              </a:rPr>
              <a:t>System State</a:t>
            </a:r>
            <a:r>
              <a:rPr lang="sv-SE" sz="1800"/>
              <a:t>: A valid user is logged in. The system is under heavy load (25000 concurrent users). </a:t>
            </a:r>
            <a:endParaRPr sz="1800"/>
          </a:p>
          <a:p>
            <a:pPr indent="-342900" lvl="0" marL="457200" rtl="0" algn="l">
              <a:spcBef>
                <a:spcPts val="1000"/>
              </a:spcBef>
              <a:spcAft>
                <a:spcPts val="0"/>
              </a:spcAft>
              <a:buSzPts val="1800"/>
              <a:buChar char="•"/>
            </a:pPr>
            <a:r>
              <a:rPr b="1" lang="sv-SE" sz="1800">
                <a:solidFill>
                  <a:schemeClr val="accent3"/>
                </a:solidFill>
              </a:rPr>
              <a:t>Environment State</a:t>
            </a:r>
            <a:r>
              <a:rPr lang="sv-SE" sz="1800"/>
              <a:t>: The network connection is adequate. The load balancer is operating correctly, but available resources are very low.</a:t>
            </a:r>
            <a:endParaRPr sz="1800"/>
          </a:p>
          <a:p>
            <a:pPr indent="-342900" lvl="0" marL="457200" rtl="0" algn="l">
              <a:spcBef>
                <a:spcPts val="1000"/>
              </a:spcBef>
              <a:spcAft>
                <a:spcPts val="0"/>
              </a:spcAft>
              <a:buSzPts val="1800"/>
              <a:buChar char="•"/>
            </a:pPr>
            <a:r>
              <a:rPr b="1" lang="sv-SE" sz="1800">
                <a:solidFill>
                  <a:schemeClr val="accent3"/>
                </a:solidFill>
              </a:rPr>
              <a:t>External Stimulus</a:t>
            </a:r>
            <a:r>
              <a:rPr lang="sv-SE" sz="1800"/>
              <a:t>: The user selects a restaurant, then clicks on “menu”.</a:t>
            </a:r>
            <a:endParaRPr sz="1800"/>
          </a:p>
          <a:p>
            <a:pPr indent="-342900" lvl="0" marL="457200" rtl="0" algn="l">
              <a:spcBef>
                <a:spcPts val="1000"/>
              </a:spcBef>
              <a:spcAft>
                <a:spcPts val="0"/>
              </a:spcAft>
              <a:buSzPts val="1800"/>
              <a:buChar char="•"/>
            </a:pPr>
            <a:r>
              <a:rPr b="1" lang="sv-SE" sz="1800">
                <a:solidFill>
                  <a:schemeClr val="accent3"/>
                </a:solidFill>
              </a:rPr>
              <a:t>Required Response</a:t>
            </a:r>
            <a:r>
              <a:rPr lang="sv-SE" sz="1800"/>
              <a:t>: The menu is displayed to the user. </a:t>
            </a:r>
            <a:endParaRPr sz="1800"/>
          </a:p>
          <a:p>
            <a:pPr indent="-342900" lvl="0" marL="457200" rtl="0" algn="l">
              <a:spcBef>
                <a:spcPts val="1000"/>
              </a:spcBef>
              <a:spcAft>
                <a:spcPts val="0"/>
              </a:spcAft>
              <a:buSzPts val="1800"/>
              <a:buChar char="•"/>
            </a:pPr>
            <a:r>
              <a:rPr b="1" lang="sv-SE" sz="1800">
                <a:solidFill>
                  <a:schemeClr val="accent3"/>
                </a:solidFill>
              </a:rPr>
              <a:t>Response Measure</a:t>
            </a:r>
            <a:r>
              <a:rPr lang="sv-SE" sz="1800"/>
              <a:t>: The time available is 99.99%.</a:t>
            </a:r>
            <a:endParaRPr sz="1800"/>
          </a:p>
          <a:p>
            <a:pPr indent="-342900" lvl="1" marL="914400" rtl="0" algn="l">
              <a:spcBef>
                <a:spcPts val="500"/>
              </a:spcBef>
              <a:spcAft>
                <a:spcPts val="0"/>
              </a:spcAft>
              <a:buSzPts val="1800"/>
              <a:buChar char="•"/>
            </a:pPr>
            <a:r>
              <a:rPr lang="sv-SE" sz="1800"/>
              <a:t>(matches the requirement)</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87" name="Google Shape;387;p55"/>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94" name="Google Shape;394;p56"/>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Availability Scenarios</a:t>
            </a:r>
            <a:endParaRPr/>
          </a:p>
        </p:txBody>
      </p:sp>
      <p:pic>
        <p:nvPicPr>
          <p:cNvPr id="395" name="Google Shape;395;p56"/>
          <p:cNvPicPr preferRelativeResize="0"/>
          <p:nvPr/>
        </p:nvPicPr>
        <p:blipFill>
          <a:blip r:embed="rId3">
            <a:alphaModFix/>
          </a:blip>
          <a:stretch>
            <a:fillRect/>
          </a:stretch>
        </p:blipFill>
        <p:spPr>
          <a:xfrm>
            <a:off x="5166625" y="468625"/>
            <a:ext cx="3977376" cy="1829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Scenarios</a:t>
            </a:r>
            <a:endParaRPr/>
          </a:p>
        </p:txBody>
      </p:sp>
      <p:sp>
        <p:nvSpPr>
          <p:cNvPr id="401" name="Google Shape;401;p57"/>
          <p:cNvSpPr txBox="1"/>
          <p:nvPr>
            <p:ph idx="1" type="body"/>
          </p:nvPr>
        </p:nvSpPr>
        <p:spPr>
          <a:xfrm>
            <a:off x="468900" y="128240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Ability to avoid, ignore, or recover from failure.</a:t>
            </a:r>
            <a:endParaRPr/>
          </a:p>
          <a:p>
            <a:pPr indent="-393700" lvl="0" marL="457200" rtl="0" algn="l">
              <a:spcBef>
                <a:spcPts val="1000"/>
              </a:spcBef>
              <a:spcAft>
                <a:spcPts val="0"/>
              </a:spcAft>
              <a:buSzPts val="2600"/>
              <a:buChar char="•"/>
            </a:pPr>
            <a:r>
              <a:rPr lang="sv-SE"/>
              <a:t>Measure how the system</a:t>
            </a:r>
            <a:r>
              <a:rPr b="1" lang="sv-SE">
                <a:solidFill>
                  <a:schemeClr val="accent3"/>
                </a:solidFill>
              </a:rPr>
              <a:t> responds to failure</a:t>
            </a:r>
            <a:r>
              <a:rPr b="1" lang="sv-SE"/>
              <a:t>.</a:t>
            </a:r>
            <a:endParaRPr b="1"/>
          </a:p>
          <a:p>
            <a:pPr indent="-368300" lvl="1" marL="914400" rtl="0" algn="l">
              <a:spcBef>
                <a:spcPts val="500"/>
              </a:spcBef>
              <a:spcAft>
                <a:spcPts val="0"/>
              </a:spcAft>
              <a:buSzPts val="2200"/>
              <a:buChar char="•"/>
            </a:pPr>
            <a:r>
              <a:rPr lang="sv-SE"/>
              <a:t>How is the failure detected or prevented?</a:t>
            </a:r>
            <a:endParaRPr/>
          </a:p>
          <a:p>
            <a:pPr indent="-368300" lvl="1" marL="914400" rtl="0" algn="l">
              <a:spcBef>
                <a:spcPts val="500"/>
              </a:spcBef>
              <a:spcAft>
                <a:spcPts val="0"/>
              </a:spcAft>
              <a:buSzPts val="2200"/>
              <a:buChar char="•"/>
            </a:pPr>
            <a:r>
              <a:rPr lang="sv-SE"/>
              <a:t>What does the system do to return to normal or work around the failure?</a:t>
            </a:r>
            <a:endParaRPr/>
          </a:p>
          <a:p>
            <a:pPr indent="-368300" lvl="1" marL="914400" rtl="0" algn="l">
              <a:spcBef>
                <a:spcPts val="500"/>
              </a:spcBef>
              <a:spcAft>
                <a:spcPts val="0"/>
              </a:spcAft>
              <a:buSzPts val="2200"/>
              <a:buChar char="•"/>
            </a:pPr>
            <a:r>
              <a:rPr lang="sv-SE"/>
              <a:t>How long does all of this take?</a:t>
            </a:r>
            <a:endParaRPr/>
          </a:p>
          <a:p>
            <a:pPr indent="-393700" lvl="0" marL="457200" rtl="0" algn="l">
              <a:spcBef>
                <a:spcPts val="1000"/>
              </a:spcBef>
              <a:spcAft>
                <a:spcPts val="0"/>
              </a:spcAft>
              <a:buSzPts val="2600"/>
              <a:buChar char="•"/>
            </a:pPr>
            <a:r>
              <a:rPr b="1" lang="sv-SE">
                <a:solidFill>
                  <a:schemeClr val="accent3"/>
                </a:solidFill>
              </a:rPr>
              <a:t>Stimuli: Conditions that trigger the failure</a:t>
            </a:r>
            <a:r>
              <a:rPr b="1" lang="sv-SE"/>
              <a:t>.</a:t>
            </a:r>
            <a:endParaRPr b="1"/>
          </a:p>
        </p:txBody>
      </p:sp>
      <p:sp>
        <p:nvSpPr>
          <p:cNvPr id="402" name="Google Shape;402;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09" name="Google Shape;409;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vs Reliability</a:t>
            </a:r>
            <a:endParaRPr/>
          </a:p>
        </p:txBody>
      </p:sp>
      <p:sp>
        <p:nvSpPr>
          <p:cNvPr id="410" name="Google Shape;410;p5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Reliability scenarios: </a:t>
            </a:r>
            <a:endParaRPr/>
          </a:p>
          <a:p>
            <a:pPr indent="-368300" lvl="1" marL="914400" rtl="0" algn="l">
              <a:spcBef>
                <a:spcPts val="500"/>
              </a:spcBef>
              <a:spcAft>
                <a:spcPts val="0"/>
              </a:spcAft>
              <a:buSzPts val="2200"/>
              <a:buChar char="•"/>
            </a:pPr>
            <a:r>
              <a:rPr lang="sv-SE"/>
              <a:t>Functionality operates without failing.</a:t>
            </a:r>
            <a:endParaRPr/>
          </a:p>
          <a:p>
            <a:pPr indent="-368300" lvl="1" marL="914400" rtl="0" algn="l">
              <a:spcBef>
                <a:spcPts val="500"/>
              </a:spcBef>
              <a:spcAft>
                <a:spcPts val="0"/>
              </a:spcAft>
              <a:buSzPts val="2200"/>
              <a:buChar char="•"/>
            </a:pPr>
            <a:r>
              <a:rPr lang="sv-SE"/>
              <a:t>Measures </a:t>
            </a:r>
            <a:r>
              <a:rPr b="1" lang="sv-SE">
                <a:solidFill>
                  <a:schemeClr val="accent3"/>
                </a:solidFill>
              </a:rPr>
              <a:t>how often</a:t>
            </a:r>
            <a:r>
              <a:rPr lang="sv-SE"/>
              <a:t> </a:t>
            </a:r>
            <a:r>
              <a:rPr b="1" lang="sv-SE">
                <a:solidFill>
                  <a:schemeClr val="accent3"/>
                </a:solidFill>
              </a:rPr>
              <a:t>it is allowed to fail</a:t>
            </a:r>
            <a:r>
              <a:rPr lang="sv-SE"/>
              <a:t>.</a:t>
            </a:r>
            <a:endParaRPr/>
          </a:p>
          <a:p>
            <a:pPr indent="-393700" lvl="0" marL="457200" rtl="0" algn="l">
              <a:spcBef>
                <a:spcPts val="1000"/>
              </a:spcBef>
              <a:spcAft>
                <a:spcPts val="0"/>
              </a:spcAft>
              <a:buSzPts val="2600"/>
              <a:buChar char="•"/>
            </a:pPr>
            <a:r>
              <a:rPr lang="sv-SE"/>
              <a:t>Availability scenarios:</a:t>
            </a:r>
            <a:endParaRPr/>
          </a:p>
          <a:p>
            <a:pPr indent="-368300" lvl="1" marL="914400" rtl="0" algn="l">
              <a:spcBef>
                <a:spcPts val="500"/>
              </a:spcBef>
              <a:spcAft>
                <a:spcPts val="0"/>
              </a:spcAft>
              <a:buSzPts val="2200"/>
              <a:buChar char="•"/>
            </a:pPr>
            <a:r>
              <a:rPr lang="sv-SE"/>
              <a:t>How system avoids, handles, or recovers from a failure.</a:t>
            </a:r>
            <a:endParaRPr/>
          </a:p>
          <a:p>
            <a:pPr indent="-368300" lvl="1" marL="914400" rtl="0" algn="l">
              <a:spcBef>
                <a:spcPts val="500"/>
              </a:spcBef>
              <a:spcAft>
                <a:spcPts val="0"/>
              </a:spcAft>
              <a:buSzPts val="2200"/>
              <a:buChar char="•"/>
            </a:pPr>
            <a:r>
              <a:rPr lang="sv-SE"/>
              <a:t>Response measures: </a:t>
            </a:r>
            <a:endParaRPr/>
          </a:p>
          <a:p>
            <a:pPr indent="-342900" lvl="2" marL="1371600" rtl="0" algn="l">
              <a:spcBef>
                <a:spcPts val="500"/>
              </a:spcBef>
              <a:spcAft>
                <a:spcPts val="0"/>
              </a:spcAft>
              <a:buSzPts val="1800"/>
              <a:buChar char="•"/>
            </a:pPr>
            <a:r>
              <a:rPr b="1" lang="sv-SE">
                <a:solidFill>
                  <a:schemeClr val="accent3"/>
                </a:solidFill>
              </a:rPr>
              <a:t>Avoiding or ignoring: </a:t>
            </a:r>
            <a:r>
              <a:rPr lang="sv-SE"/>
              <a:t>reliability measurements</a:t>
            </a:r>
            <a:endParaRPr/>
          </a:p>
          <a:p>
            <a:pPr indent="-342900" lvl="2" marL="1371600" rtl="0" algn="l">
              <a:spcBef>
                <a:spcPts val="500"/>
              </a:spcBef>
              <a:spcAft>
                <a:spcPts val="0"/>
              </a:spcAft>
              <a:buSzPts val="1800"/>
              <a:buChar char="•"/>
            </a:pPr>
            <a:r>
              <a:rPr b="1" lang="sv-SE">
                <a:solidFill>
                  <a:schemeClr val="accent3"/>
                </a:solidFill>
              </a:rPr>
              <a:t>Recovery</a:t>
            </a:r>
            <a:r>
              <a:rPr lang="sv-SE"/>
              <a:t>: time to recover or resulting “Time Available”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Scenarios</a:t>
            </a:r>
            <a:endParaRPr/>
          </a:p>
        </p:txBody>
      </p:sp>
      <p:sp>
        <p:nvSpPr>
          <p:cNvPr id="416" name="Google Shape;416;p5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a:t>
            </a:r>
            <a:r>
              <a:rPr lang="sv-SE"/>
              <a:t>istinguish between failures and software’s perception of the failure.</a:t>
            </a:r>
            <a:endParaRPr/>
          </a:p>
          <a:p>
            <a:pPr indent="-368300" lvl="1" marL="914400" rtl="0" algn="l">
              <a:spcBef>
                <a:spcPts val="500"/>
              </a:spcBef>
              <a:spcAft>
                <a:spcPts val="0"/>
              </a:spcAft>
              <a:buSzPts val="2200"/>
              <a:buChar char="•"/>
            </a:pPr>
            <a:r>
              <a:rPr lang="sv-SE"/>
              <a:t>Do not assume software is omniscient. </a:t>
            </a:r>
            <a:endParaRPr/>
          </a:p>
          <a:p>
            <a:pPr indent="-393700" lvl="0" marL="457200" rtl="0" algn="l">
              <a:spcBef>
                <a:spcPts val="1000"/>
              </a:spcBef>
              <a:spcAft>
                <a:spcPts val="0"/>
              </a:spcAft>
              <a:buSzPts val="2600"/>
              <a:buChar char="•"/>
            </a:pPr>
            <a:r>
              <a:rPr lang="sv-SE"/>
              <a:t>Scenarios tend to deal with:</a:t>
            </a:r>
            <a:endParaRPr/>
          </a:p>
          <a:p>
            <a:pPr indent="-368300" lvl="1" marL="914400" rtl="0" algn="l">
              <a:spcBef>
                <a:spcPts val="500"/>
              </a:spcBef>
              <a:spcAft>
                <a:spcPts val="0"/>
              </a:spcAft>
              <a:buSzPts val="2200"/>
              <a:buChar char="•"/>
            </a:pPr>
            <a:r>
              <a:rPr lang="sv-SE"/>
              <a:t>Failure of internal component or external system.</a:t>
            </a:r>
            <a:endParaRPr/>
          </a:p>
          <a:p>
            <a:pPr indent="-368300" lvl="1" marL="914400" rtl="0" algn="l">
              <a:spcBef>
                <a:spcPts val="500"/>
              </a:spcBef>
              <a:spcAft>
                <a:spcPts val="0"/>
              </a:spcAft>
              <a:buSzPts val="2200"/>
              <a:buChar char="•"/>
            </a:pPr>
            <a:r>
              <a:rPr lang="sv-SE"/>
              <a:t>Reconfiguration of hardware.</a:t>
            </a:r>
            <a:endParaRPr/>
          </a:p>
          <a:p>
            <a:pPr indent="-368300" lvl="1" marL="914400" rtl="0" algn="l">
              <a:spcBef>
                <a:spcPts val="500"/>
              </a:spcBef>
              <a:spcAft>
                <a:spcPts val="0"/>
              </a:spcAft>
              <a:buSzPts val="2200"/>
              <a:buChar char="•"/>
            </a:pPr>
            <a:r>
              <a:rPr lang="sv-SE"/>
              <a:t>Maintenance or reconfiguration of software.</a:t>
            </a:r>
            <a:endParaRPr/>
          </a:p>
        </p:txBody>
      </p:sp>
      <p:sp>
        <p:nvSpPr>
          <p:cNvPr id="417" name="Google Shape;417;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Scenarios</a:t>
            </a:r>
            <a:endParaRPr/>
          </a:p>
        </p:txBody>
      </p:sp>
      <p:sp>
        <p:nvSpPr>
          <p:cNvPr id="423" name="Google Shape;423;p6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Overview</a:t>
            </a:r>
            <a:r>
              <a:rPr b="1" lang="sv-SE" sz="2400"/>
              <a:t>:</a:t>
            </a:r>
            <a:r>
              <a:rPr lang="sv-SE" sz="2400"/>
              <a:t> Be clear about what failed </a:t>
            </a:r>
            <a:br>
              <a:rPr lang="sv-SE" sz="2400"/>
            </a:br>
            <a:r>
              <a:rPr lang="sv-SE" sz="2400"/>
              <a:t>and what needs to be available.</a:t>
            </a:r>
            <a:endParaRPr sz="2400"/>
          </a:p>
          <a:p>
            <a:pPr indent="-381000" lvl="0" marL="457200" rtl="0" algn="l">
              <a:spcBef>
                <a:spcPts val="1000"/>
              </a:spcBef>
              <a:spcAft>
                <a:spcPts val="0"/>
              </a:spcAft>
              <a:buSzPts val="2400"/>
              <a:buChar char="•"/>
            </a:pPr>
            <a:r>
              <a:rPr b="1" lang="sv-SE" sz="2400">
                <a:solidFill>
                  <a:schemeClr val="accent3"/>
                </a:solidFill>
              </a:rPr>
              <a:t>System/Environment State</a:t>
            </a:r>
            <a:r>
              <a:rPr b="1" lang="sv-SE" sz="2400"/>
              <a:t>:</a:t>
            </a:r>
            <a:r>
              <a:rPr lang="sv-SE" sz="2400"/>
              <a:t> The state </a:t>
            </a:r>
            <a:r>
              <a:rPr i="1" lang="sv-SE" sz="2400"/>
              <a:t>before failure occurs</a:t>
            </a:r>
            <a:r>
              <a:rPr lang="sv-SE" sz="2400"/>
              <a:t> may affect the response. </a:t>
            </a:r>
            <a:endParaRPr sz="2400"/>
          </a:p>
          <a:p>
            <a:pPr indent="-381000" lvl="1" marL="914400" rtl="0" algn="l">
              <a:spcBef>
                <a:spcPts val="500"/>
              </a:spcBef>
              <a:spcAft>
                <a:spcPts val="0"/>
              </a:spcAft>
              <a:buSzPts val="2400"/>
              <a:buChar char="•"/>
            </a:pPr>
            <a:r>
              <a:rPr lang="sv-SE" sz="2400"/>
              <a:t>If this is the first failure, may choose degradation of response time or functionality.</a:t>
            </a:r>
            <a:endParaRPr sz="2400"/>
          </a:p>
          <a:p>
            <a:pPr indent="-381000" lvl="1" marL="914400" rtl="0" algn="l">
              <a:spcBef>
                <a:spcPts val="500"/>
              </a:spcBef>
              <a:spcAft>
                <a:spcPts val="0"/>
              </a:spcAft>
              <a:buSzPts val="2400"/>
              <a:buChar char="•"/>
            </a:pPr>
            <a:r>
              <a:rPr lang="sv-SE" sz="2400"/>
              <a:t>If the system has already failed and is not in normal mode, may choose to shut it down. </a:t>
            </a:r>
            <a:endParaRPr sz="2400"/>
          </a:p>
        </p:txBody>
      </p:sp>
      <p:sp>
        <p:nvSpPr>
          <p:cNvPr id="424" name="Google Shape;424;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425" name="Google Shape;425;p60"/>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426" name="Google Shape;426;p60"/>
          <p:cNvSpPr/>
          <p:nvPr/>
        </p:nvSpPr>
        <p:spPr>
          <a:xfrm>
            <a:off x="7408188" y="881838"/>
            <a:ext cx="514200" cy="716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Scenarios</a:t>
            </a:r>
            <a:endParaRPr/>
          </a:p>
        </p:txBody>
      </p:sp>
      <p:sp>
        <p:nvSpPr>
          <p:cNvPr id="432" name="Google Shape;432;p6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External Stimulus</a:t>
            </a:r>
            <a:r>
              <a:rPr b="1" lang="sv-SE" sz="2400"/>
              <a:t>: </a:t>
            </a:r>
            <a:r>
              <a:rPr lang="sv-SE" sz="2400"/>
              <a:t>Differentiate </a:t>
            </a:r>
            <a:br>
              <a:rPr lang="sv-SE" sz="2400"/>
            </a:br>
            <a:r>
              <a:rPr lang="sv-SE" sz="2400"/>
              <a:t>internal/external failure - desired </a:t>
            </a:r>
            <a:br>
              <a:rPr lang="sv-SE" sz="2400"/>
            </a:br>
            <a:r>
              <a:rPr lang="sv-SE" sz="2400"/>
              <a:t>response may differ. </a:t>
            </a:r>
            <a:endParaRPr sz="2400"/>
          </a:p>
          <a:p>
            <a:pPr indent="-381000" lvl="0" marL="457200" rtl="0" algn="l">
              <a:spcBef>
                <a:spcPts val="1000"/>
              </a:spcBef>
              <a:spcAft>
                <a:spcPts val="0"/>
              </a:spcAft>
              <a:buSzPts val="2400"/>
              <a:buChar char="•"/>
            </a:pPr>
            <a:r>
              <a:rPr lang="sv-SE" sz="2400"/>
              <a:t>Stimuli is: </a:t>
            </a:r>
            <a:endParaRPr sz="2400"/>
          </a:p>
          <a:p>
            <a:pPr indent="-368300" lvl="1" marL="914400" rtl="0" algn="l">
              <a:spcBef>
                <a:spcPts val="500"/>
              </a:spcBef>
              <a:spcAft>
                <a:spcPts val="0"/>
              </a:spcAft>
              <a:buSzPts val="2200"/>
              <a:buChar char="•"/>
            </a:pPr>
            <a:r>
              <a:rPr lang="sv-SE"/>
              <a:t>An </a:t>
            </a:r>
            <a:r>
              <a:rPr b="1" i="1" lang="sv-SE">
                <a:solidFill>
                  <a:schemeClr val="accent3"/>
                </a:solidFill>
              </a:rPr>
              <a:t>omission</a:t>
            </a:r>
            <a:r>
              <a:rPr lang="sv-SE"/>
              <a:t> (component fails to respond)</a:t>
            </a:r>
            <a:endParaRPr/>
          </a:p>
          <a:p>
            <a:pPr indent="-368300" lvl="1" marL="914400" rtl="0" algn="l">
              <a:spcBef>
                <a:spcPts val="500"/>
              </a:spcBef>
              <a:spcAft>
                <a:spcPts val="0"/>
              </a:spcAft>
              <a:buSzPts val="2200"/>
              <a:buChar char="•"/>
            </a:pPr>
            <a:r>
              <a:rPr lang="sv-SE"/>
              <a:t>A </a:t>
            </a:r>
            <a:r>
              <a:rPr b="1" i="1" lang="sv-SE">
                <a:solidFill>
                  <a:schemeClr val="accent3"/>
                </a:solidFill>
              </a:rPr>
              <a:t>crash</a:t>
            </a:r>
            <a:r>
              <a:rPr lang="sv-SE">
                <a:solidFill>
                  <a:schemeClr val="accent3"/>
                </a:solidFill>
              </a:rPr>
              <a:t> </a:t>
            </a:r>
            <a:endParaRPr/>
          </a:p>
          <a:p>
            <a:pPr indent="-368300" lvl="1" marL="914400" rtl="0" algn="l">
              <a:spcBef>
                <a:spcPts val="500"/>
              </a:spcBef>
              <a:spcAft>
                <a:spcPts val="0"/>
              </a:spcAft>
              <a:buSzPts val="2200"/>
              <a:buChar char="•"/>
            </a:pPr>
            <a:r>
              <a:rPr b="1" i="1" lang="sv-SE">
                <a:solidFill>
                  <a:schemeClr val="accent3"/>
                </a:solidFill>
              </a:rPr>
              <a:t>timing</a:t>
            </a:r>
            <a:r>
              <a:rPr i="1" lang="sv-SE"/>
              <a:t> </a:t>
            </a:r>
            <a:r>
              <a:rPr lang="sv-SE"/>
              <a:t>(component responds but is early/late)</a:t>
            </a:r>
            <a:endParaRPr/>
          </a:p>
          <a:p>
            <a:pPr indent="-368300" lvl="1" marL="914400" rtl="0" algn="l">
              <a:spcBef>
                <a:spcPts val="500"/>
              </a:spcBef>
              <a:spcAft>
                <a:spcPts val="0"/>
              </a:spcAft>
              <a:buSzPts val="2200"/>
              <a:buChar char="•"/>
            </a:pPr>
            <a:r>
              <a:rPr b="1" i="1" lang="sv-SE">
                <a:solidFill>
                  <a:schemeClr val="accent3"/>
                </a:solidFill>
              </a:rPr>
              <a:t>incorrect response</a:t>
            </a:r>
            <a:endParaRPr/>
          </a:p>
        </p:txBody>
      </p:sp>
      <p:sp>
        <p:nvSpPr>
          <p:cNvPr id="433" name="Google Shape;433;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pic>
        <p:nvPicPr>
          <p:cNvPr id="434" name="Google Shape;434;p61"/>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435" name="Google Shape;435;p61"/>
          <p:cNvSpPr/>
          <p:nvPr/>
        </p:nvSpPr>
        <p:spPr>
          <a:xfrm>
            <a:off x="6440009" y="518783"/>
            <a:ext cx="882000" cy="1185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Scenarios</a:t>
            </a:r>
            <a:endParaRPr/>
          </a:p>
        </p:txBody>
      </p:sp>
      <p:sp>
        <p:nvSpPr>
          <p:cNvPr id="441" name="Google Shape;441;p6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b="1" lang="sv-SE" sz="2200">
                <a:solidFill>
                  <a:schemeClr val="accent3"/>
                </a:solidFill>
              </a:rPr>
              <a:t>Required Response:</a:t>
            </a:r>
            <a:r>
              <a:rPr b="1" lang="sv-SE" sz="2200"/>
              <a:t> </a:t>
            </a:r>
            <a:br>
              <a:rPr b="1" lang="sv-SE" sz="2200"/>
            </a:br>
            <a:r>
              <a:rPr lang="sv-SE" sz="2200"/>
              <a:t>Failure must be detected and isolated before recovery. Can:</a:t>
            </a:r>
            <a:endParaRPr sz="2200"/>
          </a:p>
          <a:p>
            <a:pPr indent="-342900" lvl="1" marL="914400" rtl="0" algn="l">
              <a:spcBef>
                <a:spcPts val="500"/>
              </a:spcBef>
              <a:spcAft>
                <a:spcPts val="0"/>
              </a:spcAft>
              <a:buSzPts val="1800"/>
              <a:buChar char="•"/>
            </a:pPr>
            <a:r>
              <a:rPr lang="sv-SE" sz="1800"/>
              <a:t>L</a:t>
            </a:r>
            <a:r>
              <a:rPr lang="sv-SE" sz="1800"/>
              <a:t>ogging the failure</a:t>
            </a:r>
            <a:endParaRPr sz="1800"/>
          </a:p>
          <a:p>
            <a:pPr indent="-342900" lvl="1" marL="914400" rtl="0" algn="l">
              <a:spcBef>
                <a:spcPts val="500"/>
              </a:spcBef>
              <a:spcAft>
                <a:spcPts val="0"/>
              </a:spcAft>
              <a:buSzPts val="1800"/>
              <a:buChar char="•"/>
            </a:pPr>
            <a:r>
              <a:rPr lang="sv-SE" sz="1800"/>
              <a:t>N</a:t>
            </a:r>
            <a:r>
              <a:rPr lang="sv-SE" sz="1800"/>
              <a:t>otifying users or systems</a:t>
            </a:r>
            <a:endParaRPr sz="1800"/>
          </a:p>
          <a:p>
            <a:pPr indent="-342900" lvl="1" marL="914400" rtl="0" algn="l">
              <a:spcBef>
                <a:spcPts val="500"/>
              </a:spcBef>
              <a:spcAft>
                <a:spcPts val="0"/>
              </a:spcAft>
              <a:buSzPts val="1800"/>
              <a:buChar char="•"/>
            </a:pPr>
            <a:r>
              <a:rPr lang="sv-SE" sz="1800"/>
              <a:t>T</a:t>
            </a:r>
            <a:r>
              <a:rPr lang="sv-SE" sz="1800"/>
              <a:t>aking actions to limit the damage </a:t>
            </a:r>
            <a:endParaRPr sz="1800"/>
          </a:p>
          <a:p>
            <a:pPr indent="-342900" lvl="1" marL="914400" rtl="0" algn="l">
              <a:spcBef>
                <a:spcPts val="500"/>
              </a:spcBef>
              <a:spcAft>
                <a:spcPts val="0"/>
              </a:spcAft>
              <a:buSzPts val="1800"/>
              <a:buChar char="•"/>
            </a:pPr>
            <a:r>
              <a:rPr lang="sv-SE" sz="1800"/>
              <a:t>S</a:t>
            </a:r>
            <a:r>
              <a:rPr lang="sv-SE" sz="1800"/>
              <a:t>witching to a degraded mode</a:t>
            </a:r>
            <a:endParaRPr sz="1800"/>
          </a:p>
          <a:p>
            <a:pPr indent="-342900" lvl="1" marL="914400" rtl="0" algn="l">
              <a:spcBef>
                <a:spcPts val="500"/>
              </a:spcBef>
              <a:spcAft>
                <a:spcPts val="0"/>
              </a:spcAft>
              <a:buSzPts val="1800"/>
              <a:buChar char="•"/>
            </a:pPr>
            <a:r>
              <a:rPr lang="sv-SE" sz="1800"/>
              <a:t>S</a:t>
            </a:r>
            <a:r>
              <a:rPr lang="sv-SE" sz="1800"/>
              <a:t>hutting down external systems</a:t>
            </a:r>
            <a:endParaRPr sz="1800"/>
          </a:p>
          <a:p>
            <a:pPr indent="-342900" lvl="1" marL="914400" rtl="0" algn="l">
              <a:spcBef>
                <a:spcPts val="500"/>
              </a:spcBef>
              <a:spcAft>
                <a:spcPts val="0"/>
              </a:spcAft>
              <a:buSzPts val="1800"/>
              <a:buChar char="•"/>
            </a:pPr>
            <a:r>
              <a:rPr lang="sv-SE" sz="1800"/>
              <a:t>Becoming unavailable during repair.</a:t>
            </a:r>
            <a:endParaRPr sz="1800"/>
          </a:p>
        </p:txBody>
      </p:sp>
      <p:sp>
        <p:nvSpPr>
          <p:cNvPr id="442" name="Google Shape;442;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443" name="Google Shape;443;p62"/>
          <p:cNvPicPr preferRelativeResize="0"/>
          <p:nvPr/>
        </p:nvPicPr>
        <p:blipFill>
          <a:blip r:embed="rId3">
            <a:alphaModFix/>
          </a:blip>
          <a:stretch>
            <a:fillRect/>
          </a:stretch>
        </p:blipFill>
        <p:spPr>
          <a:xfrm>
            <a:off x="6136500" y="525477"/>
            <a:ext cx="2801875" cy="1251775"/>
          </a:xfrm>
          <a:prstGeom prst="rect">
            <a:avLst/>
          </a:prstGeom>
          <a:noFill/>
          <a:ln>
            <a:noFill/>
          </a:ln>
        </p:spPr>
      </p:pic>
      <p:sp>
        <p:nvSpPr>
          <p:cNvPr id="444" name="Google Shape;444;p62"/>
          <p:cNvSpPr/>
          <p:nvPr/>
        </p:nvSpPr>
        <p:spPr>
          <a:xfrm>
            <a:off x="7902375" y="985525"/>
            <a:ext cx="448200" cy="587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Scenarios</a:t>
            </a:r>
            <a:endParaRPr/>
          </a:p>
        </p:txBody>
      </p:sp>
      <p:sp>
        <p:nvSpPr>
          <p:cNvPr id="450" name="Google Shape;450;p6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Response Measure</a:t>
            </a:r>
            <a:r>
              <a:rPr b="1" lang="sv-SE"/>
              <a:t>: </a:t>
            </a:r>
            <a:endParaRPr b="1"/>
          </a:p>
          <a:p>
            <a:pPr indent="-381000" lvl="1" marL="914400" rtl="0" algn="l">
              <a:spcBef>
                <a:spcPts val="1000"/>
              </a:spcBef>
              <a:spcAft>
                <a:spcPts val="0"/>
              </a:spcAft>
              <a:buClr>
                <a:schemeClr val="accent3"/>
              </a:buClr>
              <a:buSzPts val="2400"/>
              <a:buChar char="•"/>
            </a:pPr>
            <a:r>
              <a:rPr b="1" lang="sv-SE" sz="2400">
                <a:solidFill>
                  <a:schemeClr val="accent3"/>
                </a:solidFill>
              </a:rPr>
              <a:t>Avoid Failure:</a:t>
            </a:r>
            <a:endParaRPr b="1" sz="2400">
              <a:solidFill>
                <a:schemeClr val="accent3"/>
              </a:solidFill>
            </a:endParaRPr>
          </a:p>
          <a:p>
            <a:pPr indent="-355600" lvl="2" marL="1371600" rtl="0" algn="l">
              <a:spcBef>
                <a:spcPts val="500"/>
              </a:spcBef>
              <a:spcAft>
                <a:spcPts val="0"/>
              </a:spcAft>
              <a:buSzPts val="2000"/>
              <a:buChar char="•"/>
            </a:pPr>
            <a:r>
              <a:rPr lang="sv-SE" sz="2000"/>
              <a:t>Show that reliability is high under this stimulus.</a:t>
            </a:r>
            <a:endParaRPr sz="2000"/>
          </a:p>
          <a:p>
            <a:pPr indent="-355600" lvl="2" marL="1371600" rtl="0" algn="l">
              <a:spcBef>
                <a:spcPts val="500"/>
              </a:spcBef>
              <a:spcAft>
                <a:spcPts val="0"/>
              </a:spcAft>
              <a:buSzPts val="2000"/>
              <a:buChar char="•"/>
            </a:pPr>
            <a:r>
              <a:rPr lang="sv-SE" sz="2000"/>
              <a:t>POFOD, ROCOF</a:t>
            </a:r>
            <a:endParaRPr sz="2000"/>
          </a:p>
          <a:p>
            <a:pPr indent="-381000" lvl="1" marL="914400" rtl="0" algn="l">
              <a:spcBef>
                <a:spcPts val="1000"/>
              </a:spcBef>
              <a:spcAft>
                <a:spcPts val="0"/>
              </a:spcAft>
              <a:buClr>
                <a:schemeClr val="accent3"/>
              </a:buClr>
              <a:buSzPts val="2400"/>
              <a:buChar char="•"/>
            </a:pPr>
            <a:r>
              <a:rPr b="1" lang="sv-SE" sz="2400">
                <a:solidFill>
                  <a:schemeClr val="accent3"/>
                </a:solidFill>
              </a:rPr>
              <a:t>Ignore Failure:</a:t>
            </a:r>
            <a:endParaRPr b="1" sz="2400">
              <a:solidFill>
                <a:schemeClr val="accent3"/>
              </a:solidFill>
            </a:endParaRPr>
          </a:p>
          <a:p>
            <a:pPr indent="-355600" lvl="2" marL="1371600" rtl="0" algn="l">
              <a:spcBef>
                <a:spcPts val="500"/>
              </a:spcBef>
              <a:spcAft>
                <a:spcPts val="0"/>
              </a:spcAft>
              <a:buSzPts val="2000"/>
              <a:buChar char="•"/>
            </a:pPr>
            <a:r>
              <a:rPr lang="sv-SE" sz="2000"/>
              <a:t>Show that reliability remains high after the failure.</a:t>
            </a:r>
            <a:endParaRPr sz="2000"/>
          </a:p>
          <a:p>
            <a:pPr indent="-355600" lvl="2" marL="1371600" rtl="0" algn="l">
              <a:spcBef>
                <a:spcPts val="500"/>
              </a:spcBef>
              <a:spcAft>
                <a:spcPts val="0"/>
              </a:spcAft>
              <a:buSzPts val="2000"/>
              <a:buChar char="•"/>
            </a:pPr>
            <a:r>
              <a:rPr lang="sv-SE" sz="2000"/>
              <a:t>Reliability measurements when failure occurs, compared to “normal” values.</a:t>
            </a:r>
            <a:endParaRPr sz="2000"/>
          </a:p>
          <a:p>
            <a:pPr indent="-355600" lvl="2" marL="1371600" rtl="0" algn="l">
              <a:spcBef>
                <a:spcPts val="500"/>
              </a:spcBef>
              <a:spcAft>
                <a:spcPts val="0"/>
              </a:spcAft>
              <a:buSzPts val="2000"/>
              <a:buChar char="•"/>
            </a:pPr>
            <a:r>
              <a:rPr lang="sv-SE" sz="2000"/>
              <a:t>May include aspects of “recovery”.</a:t>
            </a:r>
            <a:endParaRPr sz="1600"/>
          </a:p>
        </p:txBody>
      </p:sp>
      <p:sp>
        <p:nvSpPr>
          <p:cNvPr id="451" name="Google Shape;451;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pic>
        <p:nvPicPr>
          <p:cNvPr id="452" name="Google Shape;452;p63"/>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453" name="Google Shape;453;p63"/>
          <p:cNvSpPr/>
          <p:nvPr/>
        </p:nvSpPr>
        <p:spPr>
          <a:xfrm>
            <a:off x="8406638" y="942363"/>
            <a:ext cx="514200" cy="716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Scenarios</a:t>
            </a:r>
            <a:endParaRPr/>
          </a:p>
        </p:txBody>
      </p:sp>
      <p:sp>
        <p:nvSpPr>
          <p:cNvPr id="459" name="Google Shape;459;p6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Response Measure</a:t>
            </a:r>
            <a:r>
              <a:rPr b="1" lang="sv-SE"/>
              <a:t>: </a:t>
            </a:r>
            <a:endParaRPr b="1"/>
          </a:p>
          <a:p>
            <a:pPr indent="-368300" lvl="1" marL="914400" rtl="0" algn="l">
              <a:spcBef>
                <a:spcPts val="1000"/>
              </a:spcBef>
              <a:spcAft>
                <a:spcPts val="0"/>
              </a:spcAft>
              <a:buClr>
                <a:schemeClr val="accent3"/>
              </a:buClr>
              <a:buSzPts val="2200"/>
              <a:buChar char="•"/>
            </a:pPr>
            <a:r>
              <a:rPr b="1" lang="sv-SE">
                <a:solidFill>
                  <a:schemeClr val="accent3"/>
                </a:solidFill>
              </a:rPr>
              <a:t>Recover from Failure:</a:t>
            </a:r>
            <a:endParaRPr b="1">
              <a:solidFill>
                <a:schemeClr val="accent3"/>
              </a:solidFill>
            </a:endParaRPr>
          </a:p>
          <a:p>
            <a:pPr indent="-342900" lvl="2" marL="1371600" rtl="0" algn="l">
              <a:spcBef>
                <a:spcPts val="500"/>
              </a:spcBef>
              <a:spcAft>
                <a:spcPts val="0"/>
              </a:spcAft>
              <a:buSzPts val="1800"/>
              <a:buChar char="•"/>
            </a:pPr>
            <a:r>
              <a:rPr lang="sv-SE"/>
              <a:t>Show that system can return to normal quickly.</a:t>
            </a:r>
            <a:endParaRPr/>
          </a:p>
          <a:p>
            <a:pPr indent="-342900" lvl="2" marL="1371600" rtl="0" algn="l">
              <a:spcBef>
                <a:spcPts val="500"/>
              </a:spcBef>
              <a:spcAft>
                <a:spcPts val="0"/>
              </a:spcAft>
              <a:buSzPts val="1800"/>
              <a:buChar char="•"/>
            </a:pPr>
            <a:r>
              <a:rPr lang="sv-SE"/>
              <a:t>Time Available</a:t>
            </a:r>
            <a:endParaRPr/>
          </a:p>
          <a:p>
            <a:pPr indent="-317500" lvl="3" marL="1828800" rtl="0" algn="l">
              <a:spcBef>
                <a:spcPts val="500"/>
              </a:spcBef>
              <a:spcAft>
                <a:spcPts val="0"/>
              </a:spcAft>
              <a:buSzPts val="1400"/>
              <a:buChar char="•"/>
            </a:pPr>
            <a:r>
              <a:rPr lang="sv-SE" sz="1400"/>
              <a:t>(“Time available must be at least 0.9999”)</a:t>
            </a:r>
            <a:endParaRPr sz="1400"/>
          </a:p>
          <a:p>
            <a:pPr indent="-342900" lvl="2" marL="1371600" rtl="0" algn="l">
              <a:spcBef>
                <a:spcPts val="500"/>
              </a:spcBef>
              <a:spcAft>
                <a:spcPts val="0"/>
              </a:spcAft>
              <a:buSzPts val="1800"/>
              <a:buChar char="•"/>
            </a:pPr>
            <a:r>
              <a:rPr lang="sv-SE"/>
              <a:t>Time to detect failure</a:t>
            </a:r>
            <a:endParaRPr/>
          </a:p>
          <a:p>
            <a:pPr indent="-317500" lvl="3" marL="1828800" rtl="0" algn="l">
              <a:spcBef>
                <a:spcPts val="500"/>
              </a:spcBef>
              <a:spcAft>
                <a:spcPts val="0"/>
              </a:spcAft>
              <a:buSzPts val="1400"/>
              <a:buChar char="•"/>
            </a:pPr>
            <a:r>
              <a:rPr lang="sv-SE" sz="1400"/>
              <a:t>(“95% of the time, the failure is detected within 5ms. 99% of the time, within 10ms.”)</a:t>
            </a:r>
            <a:endParaRPr sz="1400"/>
          </a:p>
          <a:p>
            <a:pPr indent="-342900" lvl="2" marL="1371600" rtl="0" algn="l">
              <a:spcBef>
                <a:spcPts val="500"/>
              </a:spcBef>
              <a:spcAft>
                <a:spcPts val="0"/>
              </a:spcAft>
              <a:buSzPts val="1800"/>
              <a:buChar char="•"/>
            </a:pPr>
            <a:r>
              <a:rPr lang="sv-SE"/>
              <a:t>Time to return to normal</a:t>
            </a:r>
            <a:endParaRPr/>
          </a:p>
          <a:p>
            <a:pPr indent="-342900" lvl="3" marL="1828800" rtl="0" algn="l">
              <a:spcBef>
                <a:spcPts val="500"/>
              </a:spcBef>
              <a:spcAft>
                <a:spcPts val="0"/>
              </a:spcAft>
              <a:buSzPts val="1800"/>
              <a:buChar char="•"/>
            </a:pPr>
            <a:r>
              <a:rPr lang="sv-SE" sz="1400"/>
              <a:t>(“95% of the time, system is back online within 10 minutes. 99% of the time, within 15 minutes”)</a:t>
            </a:r>
            <a:endParaRPr b="1" sz="1400">
              <a:solidFill>
                <a:schemeClr val="accent3"/>
              </a:solidFill>
            </a:endParaRPr>
          </a:p>
        </p:txBody>
      </p:sp>
      <p:sp>
        <p:nvSpPr>
          <p:cNvPr id="460" name="Google Shape;460;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pic>
        <p:nvPicPr>
          <p:cNvPr id="461" name="Google Shape;461;p64"/>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462" name="Google Shape;462;p64"/>
          <p:cNvSpPr/>
          <p:nvPr/>
        </p:nvSpPr>
        <p:spPr>
          <a:xfrm>
            <a:off x="8406638" y="942363"/>
            <a:ext cx="514200" cy="716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69" name="Google Shape;469;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Example</a:t>
            </a:r>
            <a:endParaRPr/>
          </a:p>
        </p:txBody>
      </p:sp>
      <p:sp>
        <p:nvSpPr>
          <p:cNvPr id="470" name="Google Shape;470;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t>Requirement:</a:t>
            </a:r>
            <a:r>
              <a:rPr lang="sv-SE"/>
              <a:t> </a:t>
            </a:r>
            <a:endParaRPr/>
          </a:p>
          <a:p>
            <a:pPr indent="0" lvl="0" marL="0" rtl="0" algn="l">
              <a:spcBef>
                <a:spcPts val="1000"/>
              </a:spcBef>
              <a:spcAft>
                <a:spcPts val="0"/>
              </a:spcAft>
              <a:buNone/>
            </a:pPr>
            <a:r>
              <a:rPr lang="sv-SE"/>
              <a:t>All orders shall be saved in the order database. If an </a:t>
            </a:r>
            <a:r>
              <a:rPr lang="sv-SE"/>
              <a:t>attempt to write an order to the database fails, the failure shall be detected</a:t>
            </a:r>
            <a:r>
              <a:rPr lang="sv-SE"/>
              <a:t> within 30 seconds and reattempted until successful.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a:t>
            </a:r>
            <a:r>
              <a:rPr lang="sv-SE"/>
              <a:t>Availability Scenario</a:t>
            </a:r>
            <a:endParaRPr/>
          </a:p>
        </p:txBody>
      </p:sp>
      <p:sp>
        <p:nvSpPr>
          <p:cNvPr id="476" name="Google Shape;476;p6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b="1" lang="sv-SE" sz="2200">
                <a:solidFill>
                  <a:schemeClr val="accent3"/>
                </a:solidFill>
              </a:rPr>
              <a:t>Overview</a:t>
            </a:r>
            <a:r>
              <a:rPr lang="sv-SE" sz="2200"/>
              <a:t>: Demonstrates that the system can recover from a failed attempt to write to the order database (when the database is full).</a:t>
            </a:r>
            <a:endParaRPr sz="2200"/>
          </a:p>
          <a:p>
            <a:pPr indent="-368300" lvl="0" marL="457200" rtl="0" algn="l">
              <a:spcBef>
                <a:spcPts val="1000"/>
              </a:spcBef>
              <a:spcAft>
                <a:spcPts val="0"/>
              </a:spcAft>
              <a:buSzPts val="2200"/>
              <a:buChar char="•"/>
            </a:pPr>
            <a:r>
              <a:rPr b="1" lang="sv-SE" sz="2200">
                <a:solidFill>
                  <a:schemeClr val="accent3"/>
                </a:solidFill>
              </a:rPr>
              <a:t>System State</a:t>
            </a:r>
            <a:r>
              <a:rPr lang="sv-SE" sz="2200"/>
              <a:t>: A valid user is logged in. The system is under normal load (5000 concurrent users). </a:t>
            </a:r>
            <a:endParaRPr sz="2200"/>
          </a:p>
          <a:p>
            <a:pPr indent="-368300" lvl="0" marL="457200" rtl="0" algn="l">
              <a:spcBef>
                <a:spcPts val="1000"/>
              </a:spcBef>
              <a:spcAft>
                <a:spcPts val="0"/>
              </a:spcAft>
              <a:buSzPts val="2200"/>
              <a:buChar char="•"/>
            </a:pPr>
            <a:r>
              <a:rPr b="1" lang="sv-SE" sz="2200">
                <a:solidFill>
                  <a:schemeClr val="accent3"/>
                </a:solidFill>
              </a:rPr>
              <a:t>Environment State</a:t>
            </a:r>
            <a:r>
              <a:rPr lang="sv-SE" sz="2200"/>
              <a:t>: The network connection is adequate. The deployment environment is operating correctly. However, the order database is full. </a:t>
            </a:r>
            <a:endParaRPr b="1" sz="2800">
              <a:solidFill>
                <a:schemeClr val="accent3"/>
              </a:solidFill>
            </a:endParaRPr>
          </a:p>
        </p:txBody>
      </p:sp>
      <p:sp>
        <p:nvSpPr>
          <p:cNvPr id="477" name="Google Shape;477;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Availability Scenario</a:t>
            </a:r>
            <a:endParaRPr/>
          </a:p>
        </p:txBody>
      </p:sp>
      <p:sp>
        <p:nvSpPr>
          <p:cNvPr id="483" name="Google Shape;483;p6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b="1" lang="sv-SE" sz="1800">
                <a:solidFill>
                  <a:schemeClr val="accent3"/>
                </a:solidFill>
              </a:rPr>
              <a:t>External Stimulus</a:t>
            </a:r>
            <a:r>
              <a:rPr lang="sv-SE" sz="1800"/>
              <a:t>: The user places an order under conditions that should normally be successful (i.e., valid payment, restaurant, items). Due to the full database, the request to write the order to the database should fail.</a:t>
            </a:r>
            <a:endParaRPr b="1" sz="1800">
              <a:solidFill>
                <a:schemeClr val="accent3"/>
              </a:solidFill>
            </a:endParaRPr>
          </a:p>
          <a:p>
            <a:pPr indent="-342900" lvl="0" marL="457200" rtl="0" algn="l">
              <a:spcBef>
                <a:spcPts val="1000"/>
              </a:spcBef>
              <a:spcAft>
                <a:spcPts val="0"/>
              </a:spcAft>
              <a:buSzPts val="1800"/>
              <a:buChar char="•"/>
            </a:pPr>
            <a:r>
              <a:rPr b="1" lang="sv-SE" sz="1800">
                <a:solidFill>
                  <a:schemeClr val="accent3"/>
                </a:solidFill>
              </a:rPr>
              <a:t>Required Response</a:t>
            </a:r>
            <a:r>
              <a:rPr lang="sv-SE" sz="1800"/>
              <a:t>: After any “write” attempt, the system shall check whether the database contains the order. If not, then the system shall store the order in a temporary queue until it has been successfully written. The order fulfillment shall proceed, using the information stored in this queue. Admins shall be alerted to the failure. The system shall continue to attempt to write to the database until the attempt is successful. </a:t>
            </a:r>
            <a:endParaRPr sz="1800"/>
          </a:p>
          <a:p>
            <a:pPr indent="-342900" lvl="0" marL="457200" rtl="0" algn="l">
              <a:spcBef>
                <a:spcPts val="1000"/>
              </a:spcBef>
              <a:spcAft>
                <a:spcPts val="0"/>
              </a:spcAft>
              <a:buSzPts val="1800"/>
              <a:buChar char="•"/>
            </a:pPr>
            <a:r>
              <a:rPr b="1" lang="sv-SE" sz="1800">
                <a:solidFill>
                  <a:schemeClr val="accent3"/>
                </a:solidFill>
              </a:rPr>
              <a:t>Response Measure</a:t>
            </a:r>
            <a:r>
              <a:rPr lang="sv-SE" sz="1800"/>
              <a:t>: The failure is detected and operation is resumed using the temporary queue within 15 seconds in 95% of executions, and within 30 seconds in 99% of executions.</a:t>
            </a:r>
            <a:endParaRPr b="1" sz="2400">
              <a:solidFill>
                <a:schemeClr val="accent3"/>
              </a:solidFill>
            </a:endParaRPr>
          </a:p>
        </p:txBody>
      </p:sp>
      <p:sp>
        <p:nvSpPr>
          <p:cNvPr id="484" name="Google Shape;484;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491" name="Google Shape;491;p68"/>
          <p:cNvSpPr txBox="1"/>
          <p:nvPr>
            <p:ph type="title"/>
          </p:nvPr>
        </p:nvSpPr>
        <p:spPr>
          <a:xfrm>
            <a:off x="285750" y="613975"/>
            <a:ext cx="88581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Performance and </a:t>
            </a:r>
            <a:endParaRPr/>
          </a:p>
          <a:p>
            <a:pPr indent="0" lvl="0" marL="0" rtl="0" algn="l">
              <a:spcBef>
                <a:spcPts val="0"/>
              </a:spcBef>
              <a:spcAft>
                <a:spcPts val="0"/>
              </a:spcAft>
              <a:buNone/>
            </a:pPr>
            <a:r>
              <a:rPr lang="sv-SE"/>
              <a:t>Scalability Scenarios</a:t>
            </a:r>
            <a:endParaRPr/>
          </a:p>
        </p:txBody>
      </p:sp>
      <p:pic>
        <p:nvPicPr>
          <p:cNvPr id="492" name="Google Shape;492;p68"/>
          <p:cNvPicPr preferRelativeResize="0"/>
          <p:nvPr/>
        </p:nvPicPr>
        <p:blipFill>
          <a:blip r:embed="rId3">
            <a:alphaModFix/>
          </a:blip>
          <a:stretch>
            <a:fillRect/>
          </a:stretch>
        </p:blipFill>
        <p:spPr>
          <a:xfrm>
            <a:off x="6242787" y="2034400"/>
            <a:ext cx="2901224" cy="29012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Scenarios</a:t>
            </a:r>
            <a:endParaRPr/>
          </a:p>
        </p:txBody>
      </p:sp>
      <p:sp>
        <p:nvSpPr>
          <p:cNvPr id="498" name="Google Shape;498;p69"/>
          <p:cNvSpPr txBox="1"/>
          <p:nvPr>
            <p:ph idx="1" type="body"/>
          </p:nvPr>
        </p:nvSpPr>
        <p:spPr>
          <a:xfrm>
            <a:off x="468900" y="1164475"/>
            <a:ext cx="8217900" cy="3598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Begin with events arriving at the system.</a:t>
            </a:r>
            <a:endParaRPr/>
          </a:p>
          <a:p>
            <a:pPr indent="-368300" lvl="1" marL="914400" rtl="0" algn="l">
              <a:spcBef>
                <a:spcPts val="500"/>
              </a:spcBef>
              <a:spcAft>
                <a:spcPts val="0"/>
              </a:spcAft>
              <a:buSzPts val="2200"/>
              <a:buChar char="•"/>
            </a:pPr>
            <a:r>
              <a:rPr lang="sv-SE"/>
              <a:t>Responding requires resources to be consumed.</a:t>
            </a:r>
            <a:endParaRPr/>
          </a:p>
          <a:p>
            <a:pPr indent="-393700" lvl="0" marL="457200" rtl="0" algn="l">
              <a:spcBef>
                <a:spcPts val="1000"/>
              </a:spcBef>
              <a:spcAft>
                <a:spcPts val="0"/>
              </a:spcAft>
              <a:buSzPts val="2600"/>
              <a:buChar char="•"/>
            </a:pPr>
            <a:r>
              <a:rPr lang="sv-SE"/>
              <a:t>Arrival pattern for events can be:</a:t>
            </a:r>
            <a:endParaRPr/>
          </a:p>
          <a:p>
            <a:pPr indent="-368300" lvl="1" marL="914400" rtl="0" algn="l">
              <a:spcBef>
                <a:spcPts val="500"/>
              </a:spcBef>
              <a:spcAft>
                <a:spcPts val="0"/>
              </a:spcAft>
              <a:buSzPts val="2200"/>
              <a:buChar char="•"/>
            </a:pPr>
            <a:r>
              <a:rPr lang="sv-SE"/>
              <a:t>Periodic (at regular time intervals)</a:t>
            </a:r>
            <a:endParaRPr/>
          </a:p>
          <a:p>
            <a:pPr indent="-368300" lvl="1" marL="914400" rtl="0" algn="l">
              <a:spcBef>
                <a:spcPts val="500"/>
              </a:spcBef>
              <a:spcAft>
                <a:spcPts val="0"/>
              </a:spcAft>
              <a:buSzPts val="2200"/>
              <a:buChar char="•"/>
            </a:pPr>
            <a:r>
              <a:rPr lang="sv-SE"/>
              <a:t>Stochastic (events arrive according to a distribution)</a:t>
            </a:r>
            <a:endParaRPr/>
          </a:p>
          <a:p>
            <a:pPr indent="-368300" lvl="1" marL="914400" rtl="0" algn="l">
              <a:spcBef>
                <a:spcPts val="500"/>
              </a:spcBef>
              <a:spcAft>
                <a:spcPts val="0"/>
              </a:spcAft>
              <a:buSzPts val="2200"/>
              <a:buChar char="•"/>
            </a:pPr>
            <a:r>
              <a:rPr lang="sv-SE"/>
              <a:t>Sporadic (unknown timing, but known properties)</a:t>
            </a:r>
            <a:endParaRPr/>
          </a:p>
          <a:p>
            <a:pPr indent="-342900" lvl="2" marL="1371600" rtl="0" algn="l">
              <a:spcBef>
                <a:spcPts val="500"/>
              </a:spcBef>
              <a:spcAft>
                <a:spcPts val="0"/>
              </a:spcAft>
              <a:buSzPts val="1800"/>
              <a:buChar char="•"/>
            </a:pPr>
            <a:r>
              <a:rPr lang="sv-SE"/>
              <a:t>“No more than 600 per minute”</a:t>
            </a:r>
            <a:endParaRPr/>
          </a:p>
          <a:p>
            <a:pPr indent="-342900" lvl="2" marL="1371600" rtl="0" algn="l">
              <a:spcBef>
                <a:spcPts val="500"/>
              </a:spcBef>
              <a:spcAft>
                <a:spcPts val="0"/>
              </a:spcAft>
              <a:buSzPts val="1800"/>
              <a:buChar char="•"/>
            </a:pPr>
            <a:r>
              <a:rPr lang="sv-SE"/>
              <a:t>“At least 200 ms between arrival of two events”</a:t>
            </a:r>
            <a:endParaRPr/>
          </a:p>
        </p:txBody>
      </p:sp>
      <p:sp>
        <p:nvSpPr>
          <p:cNvPr id="499" name="Google Shape;499;p6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Measurements</a:t>
            </a:r>
            <a:endParaRPr/>
          </a:p>
        </p:txBody>
      </p:sp>
      <p:sp>
        <p:nvSpPr>
          <p:cNvPr id="505" name="Google Shape;505;p70"/>
          <p:cNvSpPr txBox="1"/>
          <p:nvPr>
            <p:ph idx="1" type="body"/>
          </p:nvPr>
        </p:nvSpPr>
        <p:spPr>
          <a:xfrm>
            <a:off x="468900" y="1224650"/>
            <a:ext cx="8217900" cy="35379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Latency:</a:t>
            </a:r>
            <a:r>
              <a:rPr lang="sv-SE"/>
              <a:t> The time between the arrival of the stimulus and the system’s response to it.</a:t>
            </a:r>
            <a:endParaRPr/>
          </a:p>
          <a:p>
            <a:pPr indent="-393700" lvl="0" marL="457200" rtl="0" algn="l">
              <a:spcBef>
                <a:spcPts val="1000"/>
              </a:spcBef>
              <a:spcAft>
                <a:spcPts val="0"/>
              </a:spcAft>
              <a:buSzPts val="2600"/>
              <a:buChar char="•"/>
            </a:pPr>
            <a:r>
              <a:rPr b="1" lang="sv-SE">
                <a:solidFill>
                  <a:schemeClr val="accent3"/>
                </a:solidFill>
              </a:rPr>
              <a:t>Response Jitter: </a:t>
            </a:r>
            <a:r>
              <a:rPr lang="sv-SE"/>
              <a:t>Allowed variation in latency.</a:t>
            </a:r>
            <a:endParaRPr/>
          </a:p>
          <a:p>
            <a:pPr indent="-393700" lvl="0" marL="457200" rtl="0" algn="l">
              <a:spcBef>
                <a:spcPts val="1000"/>
              </a:spcBef>
              <a:spcAft>
                <a:spcPts val="0"/>
              </a:spcAft>
              <a:buSzPts val="2600"/>
              <a:buChar char="•"/>
            </a:pPr>
            <a:r>
              <a:rPr b="1" lang="sv-SE">
                <a:solidFill>
                  <a:schemeClr val="accent3"/>
                </a:solidFill>
              </a:rPr>
              <a:t>Throughput:</a:t>
            </a:r>
            <a:r>
              <a:rPr lang="sv-SE"/>
              <a:t> Number of transactions processed in a unit of time.</a:t>
            </a:r>
            <a:endParaRPr/>
          </a:p>
          <a:p>
            <a:pPr indent="-393700" lvl="0" marL="457200" rtl="0" algn="l">
              <a:spcBef>
                <a:spcPts val="1000"/>
              </a:spcBef>
              <a:spcAft>
                <a:spcPts val="0"/>
              </a:spcAft>
              <a:buSzPts val="2600"/>
              <a:buChar char="•"/>
            </a:pPr>
            <a:r>
              <a:rPr b="1" lang="sv-SE">
                <a:solidFill>
                  <a:schemeClr val="accent3"/>
                </a:solidFill>
              </a:rPr>
              <a:t>Deadlines in processing:</a:t>
            </a:r>
            <a:r>
              <a:rPr lang="sv-SE"/>
              <a:t> Points where processing must have reached a particular stage.</a:t>
            </a:r>
            <a:endParaRPr sz="2300"/>
          </a:p>
        </p:txBody>
      </p:sp>
      <p:sp>
        <p:nvSpPr>
          <p:cNvPr id="506" name="Google Shape;506;p7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Specifying Response Time</a:t>
            </a:r>
            <a:endParaRPr/>
          </a:p>
        </p:txBody>
      </p:sp>
      <p:sp>
        <p:nvSpPr>
          <p:cNvPr id="512" name="Google Shape;512;p7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Response time targets require a defined load.</a:t>
            </a:r>
            <a:endParaRPr/>
          </a:p>
          <a:p>
            <a:pPr indent="-368300" lvl="1" marL="914400" rtl="0" algn="l">
              <a:spcBef>
                <a:spcPts val="500"/>
              </a:spcBef>
              <a:spcAft>
                <a:spcPts val="0"/>
              </a:spcAft>
              <a:buSzPts val="2200"/>
              <a:buChar char="•"/>
            </a:pPr>
            <a:r>
              <a:rPr lang="sv-SE"/>
              <a:t>One transaction in 3s is easy if that is the only request.</a:t>
            </a:r>
            <a:endParaRPr/>
          </a:p>
          <a:p>
            <a:pPr indent="-342900" lvl="2" marL="1371600" rtl="0" algn="l">
              <a:spcBef>
                <a:spcPts val="500"/>
              </a:spcBef>
              <a:spcAft>
                <a:spcPts val="0"/>
              </a:spcAft>
              <a:buSzPts val="1800"/>
              <a:buChar char="•"/>
            </a:pPr>
            <a:r>
              <a:rPr lang="sv-SE"/>
              <a:t>Can you still hit 3s if there are 500 transactions per second?</a:t>
            </a:r>
            <a:endParaRPr/>
          </a:p>
          <a:p>
            <a:pPr indent="-368300" lvl="1" marL="914400" rtl="0" algn="l">
              <a:spcBef>
                <a:spcPts val="500"/>
              </a:spcBef>
              <a:spcAft>
                <a:spcPts val="0"/>
              </a:spcAft>
              <a:buSzPts val="2200"/>
              <a:buChar char="•"/>
            </a:pPr>
            <a:r>
              <a:rPr lang="sv-SE"/>
              <a:t>Specify a clearly-defined response time goal.</a:t>
            </a:r>
            <a:endParaRPr/>
          </a:p>
          <a:p>
            <a:pPr indent="-342900" lvl="2" marL="1371600" rtl="0" algn="l">
              <a:spcBef>
                <a:spcPts val="500"/>
              </a:spcBef>
              <a:spcAft>
                <a:spcPts val="0"/>
              </a:spcAft>
              <a:buSzPts val="1800"/>
              <a:buChar char="•"/>
            </a:pPr>
            <a:r>
              <a:rPr lang="sv-SE"/>
              <a:t>Define when a transaction starts and ends.</a:t>
            </a:r>
            <a:endParaRPr/>
          </a:p>
          <a:p>
            <a:pPr indent="-393700" lvl="0" marL="457200" rtl="0" algn="l">
              <a:spcBef>
                <a:spcPts val="1000"/>
              </a:spcBef>
              <a:spcAft>
                <a:spcPts val="0"/>
              </a:spcAft>
              <a:buSzPts val="2600"/>
              <a:buChar char="•"/>
            </a:pPr>
            <a:r>
              <a:rPr lang="sv-SE"/>
              <a:t>Not all requests take the same amount of time, even with constant load.</a:t>
            </a:r>
            <a:endParaRPr/>
          </a:p>
        </p:txBody>
      </p:sp>
      <p:sp>
        <p:nvSpPr>
          <p:cNvPr id="513" name="Google Shape;513;p7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Scenarios</a:t>
            </a:r>
            <a:endParaRPr/>
          </a:p>
        </p:txBody>
      </p:sp>
      <p:sp>
        <p:nvSpPr>
          <p:cNvPr id="519" name="Google Shape;519;p7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Overview</a:t>
            </a:r>
            <a:r>
              <a:rPr b="1" lang="sv-SE" sz="2400"/>
              <a:t>:</a:t>
            </a:r>
            <a:r>
              <a:rPr lang="sv-SE" sz="2400"/>
              <a:t> Description of the scenario.</a:t>
            </a:r>
            <a:endParaRPr sz="2400"/>
          </a:p>
          <a:p>
            <a:pPr indent="-381000" lvl="0" marL="457200" rtl="0" algn="l">
              <a:spcBef>
                <a:spcPts val="1000"/>
              </a:spcBef>
              <a:spcAft>
                <a:spcPts val="0"/>
              </a:spcAft>
              <a:buSzPts val="2400"/>
              <a:buChar char="•"/>
            </a:pPr>
            <a:r>
              <a:rPr b="1" lang="sv-SE" sz="2400">
                <a:solidFill>
                  <a:schemeClr val="accent3"/>
                </a:solidFill>
              </a:rPr>
              <a:t>System Stat</a:t>
            </a:r>
            <a:r>
              <a:rPr b="1" lang="sv-SE" sz="2400">
                <a:solidFill>
                  <a:schemeClr val="accent3"/>
                </a:solidFill>
              </a:rPr>
              <a:t>e</a:t>
            </a:r>
            <a:r>
              <a:rPr b="1" lang="sv-SE" sz="2400"/>
              <a:t>:</a:t>
            </a:r>
            <a:r>
              <a:rPr lang="sv-SE" sz="2400"/>
              <a:t> System can be in various levels of load (normal, emergency, peak load, or overload).</a:t>
            </a:r>
            <a:endParaRPr sz="2400"/>
          </a:p>
          <a:p>
            <a:pPr indent="-381000" lvl="0" marL="457200" rtl="0" algn="l">
              <a:spcBef>
                <a:spcPts val="1000"/>
              </a:spcBef>
              <a:spcAft>
                <a:spcPts val="0"/>
              </a:spcAft>
              <a:buSzPts val="2400"/>
              <a:buChar char="•"/>
            </a:pPr>
            <a:r>
              <a:rPr b="1" lang="sv-SE" sz="2400">
                <a:solidFill>
                  <a:schemeClr val="accent3"/>
                </a:solidFill>
              </a:rPr>
              <a:t>Environment State</a:t>
            </a:r>
            <a:r>
              <a:rPr b="1" lang="sv-SE" sz="2400"/>
              <a:t>:</a:t>
            </a:r>
            <a:r>
              <a:rPr lang="sv-SE" sz="2400"/>
              <a:t> Be clear on conditions that can impact performance.</a:t>
            </a:r>
            <a:endParaRPr sz="2400"/>
          </a:p>
          <a:p>
            <a:pPr indent="-368300" lvl="1" marL="914400" rtl="0" algn="l">
              <a:spcBef>
                <a:spcPts val="500"/>
              </a:spcBef>
              <a:spcAft>
                <a:spcPts val="0"/>
              </a:spcAft>
              <a:buSzPts val="2200"/>
              <a:buChar char="•"/>
            </a:pPr>
            <a:r>
              <a:rPr lang="sv-SE"/>
              <a:t>Limited resources (disc, memory, CPU)</a:t>
            </a:r>
            <a:endParaRPr/>
          </a:p>
          <a:p>
            <a:pPr indent="-368300" lvl="1" marL="914400" rtl="0" algn="l">
              <a:spcBef>
                <a:spcPts val="500"/>
              </a:spcBef>
              <a:spcAft>
                <a:spcPts val="0"/>
              </a:spcAft>
              <a:buSzPts val="2200"/>
              <a:buChar char="•"/>
            </a:pPr>
            <a:r>
              <a:rPr lang="sv-SE"/>
              <a:t>Networking conditions</a:t>
            </a:r>
            <a:endParaRPr/>
          </a:p>
        </p:txBody>
      </p:sp>
      <p:sp>
        <p:nvSpPr>
          <p:cNvPr id="520" name="Google Shape;520;p7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521" name="Google Shape;521;p72"/>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522" name="Google Shape;522;p72"/>
          <p:cNvSpPr/>
          <p:nvPr/>
        </p:nvSpPr>
        <p:spPr>
          <a:xfrm>
            <a:off x="7408188" y="881838"/>
            <a:ext cx="514200" cy="716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Scenarios</a:t>
            </a:r>
            <a:endParaRPr/>
          </a:p>
        </p:txBody>
      </p:sp>
      <p:sp>
        <p:nvSpPr>
          <p:cNvPr id="528" name="Google Shape;528;p7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External Stimulus</a:t>
            </a:r>
            <a:r>
              <a:rPr b="1" lang="sv-SE" sz="2400"/>
              <a:t>: </a:t>
            </a:r>
            <a:r>
              <a:rPr lang="sv-SE" sz="2400"/>
              <a:t>Stimuli arrive from</a:t>
            </a:r>
            <a:br>
              <a:rPr lang="sv-SE" sz="2400"/>
            </a:br>
            <a:r>
              <a:rPr lang="sv-SE" sz="2400"/>
              <a:t>external or internal sources. </a:t>
            </a:r>
            <a:endParaRPr sz="2400"/>
          </a:p>
          <a:p>
            <a:pPr indent="-381000" lvl="1" marL="914400" rtl="0" algn="l">
              <a:spcBef>
                <a:spcPts val="500"/>
              </a:spcBef>
              <a:spcAft>
                <a:spcPts val="0"/>
              </a:spcAft>
              <a:buSzPts val="2400"/>
              <a:buChar char="•"/>
            </a:pPr>
            <a:r>
              <a:rPr lang="sv-SE" sz="2400"/>
              <a:t>The stimuli are event arrivals. </a:t>
            </a:r>
            <a:endParaRPr sz="2400"/>
          </a:p>
          <a:p>
            <a:pPr indent="-381000" lvl="1" marL="914400" rtl="0" algn="l">
              <a:spcBef>
                <a:spcPts val="500"/>
              </a:spcBef>
              <a:spcAft>
                <a:spcPts val="0"/>
              </a:spcAft>
              <a:buSzPts val="2400"/>
              <a:buChar char="•"/>
            </a:pPr>
            <a:r>
              <a:rPr lang="sv-SE" sz="2400"/>
              <a:t>Arrival pattern can be periodic, stochastic, or sporadic, characterized by numeric parameters.</a:t>
            </a:r>
            <a:endParaRPr sz="2400"/>
          </a:p>
          <a:p>
            <a:pPr indent="-381000" lvl="1" marL="914400" rtl="0" algn="l">
              <a:spcBef>
                <a:spcPts val="500"/>
              </a:spcBef>
              <a:spcAft>
                <a:spcPts val="0"/>
              </a:spcAft>
              <a:buSzPts val="2400"/>
              <a:buChar char="•"/>
            </a:pPr>
            <a:r>
              <a:rPr lang="sv-SE" sz="2400"/>
              <a:t>Be clear on number, duration, concurrency of stimuli.</a:t>
            </a:r>
            <a:endParaRPr sz="2400"/>
          </a:p>
        </p:txBody>
      </p:sp>
      <p:sp>
        <p:nvSpPr>
          <p:cNvPr id="529" name="Google Shape;529;p7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530" name="Google Shape;530;p73"/>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531" name="Google Shape;531;p73"/>
          <p:cNvSpPr/>
          <p:nvPr/>
        </p:nvSpPr>
        <p:spPr>
          <a:xfrm>
            <a:off x="6470275" y="566300"/>
            <a:ext cx="882000" cy="1138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Scenarios</a:t>
            </a:r>
            <a:endParaRPr/>
          </a:p>
        </p:txBody>
      </p:sp>
      <p:sp>
        <p:nvSpPr>
          <p:cNvPr id="537" name="Google Shape;537;p7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Required System Behavior</a:t>
            </a:r>
            <a:r>
              <a:rPr b="1" lang="sv-SE" sz="2400"/>
              <a:t>: </a:t>
            </a:r>
            <a:endParaRPr b="1" sz="2400"/>
          </a:p>
          <a:p>
            <a:pPr indent="-381000" lvl="1" marL="914400" rtl="0" algn="l">
              <a:spcBef>
                <a:spcPts val="500"/>
              </a:spcBef>
              <a:spcAft>
                <a:spcPts val="0"/>
              </a:spcAft>
              <a:buSzPts val="2400"/>
              <a:buChar char="•"/>
            </a:pPr>
            <a:r>
              <a:rPr lang="sv-SE" sz="2400"/>
              <a:t>S</a:t>
            </a:r>
            <a:r>
              <a:rPr lang="sv-SE" sz="2400"/>
              <a:t>ystem must process arriving events. </a:t>
            </a:r>
            <a:endParaRPr sz="2400"/>
          </a:p>
          <a:p>
            <a:pPr indent="-381000" lvl="1" marL="914400" rtl="0" algn="l">
              <a:spcBef>
                <a:spcPts val="500"/>
              </a:spcBef>
              <a:spcAft>
                <a:spcPts val="0"/>
              </a:spcAft>
              <a:buSzPts val="2400"/>
              <a:buChar char="•"/>
            </a:pPr>
            <a:r>
              <a:rPr lang="sv-SE" sz="2400"/>
              <a:t>May cause change in system </a:t>
            </a:r>
            <a:endParaRPr sz="2400"/>
          </a:p>
          <a:p>
            <a:pPr indent="-381000" lvl="2" marL="1371600" rtl="0" algn="l">
              <a:spcBef>
                <a:spcPts val="500"/>
              </a:spcBef>
              <a:spcAft>
                <a:spcPts val="0"/>
              </a:spcAft>
              <a:buSzPts val="2400"/>
              <a:buChar char="•"/>
            </a:pPr>
            <a:r>
              <a:rPr lang="sv-SE" sz="2400"/>
              <a:t>(e.g., shift from normal to overload mode). </a:t>
            </a:r>
            <a:endParaRPr sz="2400"/>
          </a:p>
          <a:p>
            <a:pPr indent="-381000" lvl="1" marL="914400" rtl="0" algn="l">
              <a:spcBef>
                <a:spcPts val="500"/>
              </a:spcBef>
              <a:spcAft>
                <a:spcPts val="0"/>
              </a:spcAft>
              <a:buSzPts val="2400"/>
              <a:buChar char="•"/>
            </a:pPr>
            <a:r>
              <a:rPr lang="sv-SE" sz="2400"/>
              <a:t>May cause change in environment </a:t>
            </a:r>
            <a:endParaRPr sz="2400"/>
          </a:p>
          <a:p>
            <a:pPr indent="-381000" lvl="2" marL="1371600" rtl="0" algn="l">
              <a:spcBef>
                <a:spcPts val="500"/>
              </a:spcBef>
              <a:spcAft>
                <a:spcPts val="0"/>
              </a:spcAft>
              <a:buSzPts val="2400"/>
              <a:buChar char="•"/>
            </a:pPr>
            <a:r>
              <a:rPr lang="sv-SE" sz="2400"/>
              <a:t>(e.g., reduction of available memory)</a:t>
            </a:r>
            <a:endParaRPr sz="2400"/>
          </a:p>
        </p:txBody>
      </p:sp>
      <p:sp>
        <p:nvSpPr>
          <p:cNvPr id="538" name="Google Shape;538;p7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pic>
        <p:nvPicPr>
          <p:cNvPr id="539" name="Google Shape;539;p74"/>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540" name="Google Shape;540;p74"/>
          <p:cNvSpPr/>
          <p:nvPr/>
        </p:nvSpPr>
        <p:spPr>
          <a:xfrm>
            <a:off x="7932625" y="1008525"/>
            <a:ext cx="448200" cy="544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Scenarios</a:t>
            </a:r>
            <a:endParaRPr/>
          </a:p>
        </p:txBody>
      </p:sp>
      <p:sp>
        <p:nvSpPr>
          <p:cNvPr id="546" name="Google Shape;546;p7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Response Measure</a:t>
            </a:r>
            <a:r>
              <a:rPr b="1" lang="sv-SE" sz="2400"/>
              <a:t>: </a:t>
            </a:r>
            <a:endParaRPr b="1" sz="2400"/>
          </a:p>
          <a:p>
            <a:pPr indent="-368300" lvl="1" marL="914400" rtl="0" algn="l">
              <a:spcBef>
                <a:spcPts val="500"/>
              </a:spcBef>
              <a:spcAft>
                <a:spcPts val="0"/>
              </a:spcAft>
              <a:buSzPts val="2200"/>
              <a:buChar char="•"/>
            </a:pPr>
            <a:r>
              <a:rPr lang="sv-SE"/>
              <a:t>T</a:t>
            </a:r>
            <a:r>
              <a:rPr lang="sv-SE"/>
              <a:t>ime to process arriving events (</a:t>
            </a:r>
            <a:r>
              <a:rPr b="1" lang="sv-SE">
                <a:solidFill>
                  <a:schemeClr val="accent3"/>
                </a:solidFill>
              </a:rPr>
              <a:t>latency or a deadline</a:t>
            </a:r>
            <a:r>
              <a:rPr lang="sv-SE"/>
              <a:t>)</a:t>
            </a:r>
            <a:endParaRPr/>
          </a:p>
          <a:p>
            <a:pPr indent="-368300" lvl="1" marL="914400" rtl="0" algn="l">
              <a:spcBef>
                <a:spcPts val="500"/>
              </a:spcBef>
              <a:spcAft>
                <a:spcPts val="0"/>
              </a:spcAft>
              <a:buSzPts val="2200"/>
              <a:buChar char="•"/>
            </a:pPr>
            <a:r>
              <a:rPr lang="sv-SE"/>
              <a:t>Variation in latency time (</a:t>
            </a:r>
            <a:r>
              <a:rPr b="1" lang="sv-SE">
                <a:solidFill>
                  <a:schemeClr val="accent3"/>
                </a:solidFill>
              </a:rPr>
              <a:t>jitter</a:t>
            </a:r>
            <a:r>
              <a:rPr lang="sv-SE"/>
              <a:t>)</a:t>
            </a:r>
            <a:endParaRPr/>
          </a:p>
          <a:p>
            <a:pPr indent="-368300" lvl="1" marL="914400" rtl="0" algn="l">
              <a:spcBef>
                <a:spcPts val="500"/>
              </a:spcBef>
              <a:spcAft>
                <a:spcPts val="0"/>
              </a:spcAft>
              <a:buSzPts val="2200"/>
              <a:buChar char="•"/>
            </a:pPr>
            <a:r>
              <a:rPr lang="sv-SE"/>
              <a:t>Number of events that can be processed within a time interval (</a:t>
            </a:r>
            <a:r>
              <a:rPr b="1" lang="sv-SE">
                <a:solidFill>
                  <a:schemeClr val="accent3"/>
                </a:solidFill>
              </a:rPr>
              <a:t>throughput</a:t>
            </a:r>
            <a:r>
              <a:rPr lang="sv-SE"/>
              <a:t>)</a:t>
            </a:r>
            <a:endParaRPr/>
          </a:p>
        </p:txBody>
      </p:sp>
      <p:sp>
        <p:nvSpPr>
          <p:cNvPr id="547" name="Google Shape;547;p7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pic>
        <p:nvPicPr>
          <p:cNvPr id="548" name="Google Shape;548;p75"/>
          <p:cNvPicPr preferRelativeResize="0"/>
          <p:nvPr/>
        </p:nvPicPr>
        <p:blipFill>
          <a:blip r:embed="rId3">
            <a:alphaModFix/>
          </a:blip>
          <a:stretch>
            <a:fillRect/>
          </a:stretch>
        </p:blipFill>
        <p:spPr>
          <a:xfrm>
            <a:off x="6264350" y="614002"/>
            <a:ext cx="2801875" cy="1251775"/>
          </a:xfrm>
          <a:prstGeom prst="rect">
            <a:avLst/>
          </a:prstGeom>
          <a:noFill/>
          <a:ln>
            <a:noFill/>
          </a:ln>
        </p:spPr>
      </p:pic>
      <p:sp>
        <p:nvSpPr>
          <p:cNvPr id="549" name="Google Shape;549;p75"/>
          <p:cNvSpPr/>
          <p:nvPr/>
        </p:nvSpPr>
        <p:spPr>
          <a:xfrm>
            <a:off x="8340550" y="877425"/>
            <a:ext cx="605100" cy="837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7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56" name="Google Shape;556;p7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Example</a:t>
            </a:r>
            <a:endParaRPr/>
          </a:p>
        </p:txBody>
      </p:sp>
      <p:sp>
        <p:nvSpPr>
          <p:cNvPr id="557" name="Google Shape;557;p7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t>Requirement:</a:t>
            </a:r>
            <a:endParaRPr b="1"/>
          </a:p>
          <a:p>
            <a:pPr indent="0" lvl="0" marL="0" rtl="0" algn="l">
              <a:spcBef>
                <a:spcPts val="1000"/>
              </a:spcBef>
              <a:spcAft>
                <a:spcPts val="0"/>
              </a:spcAft>
              <a:buNone/>
            </a:pPr>
            <a:r>
              <a:rPr lang="sv-SE"/>
              <a:t>The system shall display the </a:t>
            </a:r>
            <a:r>
              <a:rPr lang="sv-SE"/>
              <a:t>results</a:t>
            </a:r>
            <a:r>
              <a:rPr lang="sv-SE"/>
              <a:t> of a search query to the user’s screen within 5 seconds.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a:t>
            </a:r>
            <a:r>
              <a:rPr lang="sv-SE"/>
              <a:t>Performance Scenario</a:t>
            </a:r>
            <a:endParaRPr/>
          </a:p>
        </p:txBody>
      </p:sp>
      <p:sp>
        <p:nvSpPr>
          <p:cNvPr id="563" name="Google Shape;563;p77"/>
          <p:cNvSpPr txBox="1"/>
          <p:nvPr>
            <p:ph idx="1" type="body"/>
          </p:nvPr>
        </p:nvSpPr>
        <p:spPr>
          <a:xfrm>
            <a:off x="468900" y="1218900"/>
            <a:ext cx="8217900" cy="35439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b="1" lang="sv-SE" sz="2200">
                <a:solidFill>
                  <a:schemeClr val="accent3"/>
                </a:solidFill>
              </a:rPr>
              <a:t>Overview</a:t>
            </a:r>
            <a:r>
              <a:rPr b="1" lang="sv-SE" sz="2200"/>
              <a:t>:</a:t>
            </a:r>
            <a:r>
              <a:rPr lang="sv-SE" sz="2200"/>
              <a:t> Show that search queries can be completed completely under normal conditions.</a:t>
            </a:r>
            <a:endParaRPr sz="2200"/>
          </a:p>
          <a:p>
            <a:pPr indent="-368300" lvl="0" marL="457200" rtl="0" algn="l">
              <a:spcBef>
                <a:spcPts val="1000"/>
              </a:spcBef>
              <a:spcAft>
                <a:spcPts val="0"/>
              </a:spcAft>
              <a:buSzPts val="2200"/>
              <a:buChar char="•"/>
            </a:pPr>
            <a:r>
              <a:rPr b="1" lang="sv-SE" sz="2200">
                <a:solidFill>
                  <a:schemeClr val="accent3"/>
                </a:solidFill>
              </a:rPr>
              <a:t>System State</a:t>
            </a:r>
            <a:r>
              <a:rPr lang="sv-SE" sz="2200"/>
              <a:t>: A valid user is logged in. The system is under normal load (5000 concurrent users). </a:t>
            </a:r>
            <a:endParaRPr sz="2200"/>
          </a:p>
          <a:p>
            <a:pPr indent="-368300" lvl="0" marL="457200" rtl="0" algn="l">
              <a:spcBef>
                <a:spcPts val="1000"/>
              </a:spcBef>
              <a:spcAft>
                <a:spcPts val="0"/>
              </a:spcAft>
              <a:buSzPts val="2200"/>
              <a:buChar char="•"/>
            </a:pPr>
            <a:r>
              <a:rPr b="1" lang="sv-SE" sz="2200">
                <a:solidFill>
                  <a:schemeClr val="accent3"/>
                </a:solidFill>
              </a:rPr>
              <a:t>Environment State</a:t>
            </a:r>
            <a:r>
              <a:rPr lang="sv-SE" sz="2200"/>
              <a:t>: The network connection is adequate. The deployment environment is under normal conditions.</a:t>
            </a:r>
            <a:endParaRPr sz="2200"/>
          </a:p>
          <a:p>
            <a:pPr indent="-368300" lvl="0" marL="457200" rtl="0" algn="l">
              <a:spcBef>
                <a:spcPts val="1000"/>
              </a:spcBef>
              <a:spcAft>
                <a:spcPts val="0"/>
              </a:spcAft>
              <a:buSzPts val="2200"/>
              <a:buChar char="•"/>
            </a:pPr>
            <a:r>
              <a:rPr b="1" lang="sv-SE" sz="2200">
                <a:solidFill>
                  <a:schemeClr val="accent3"/>
                </a:solidFill>
              </a:rPr>
              <a:t>External Stimulus</a:t>
            </a:r>
            <a:r>
              <a:rPr lang="sv-SE" sz="2200"/>
              <a:t>: The user searches for all pizza restaurants within their delivery radius.</a:t>
            </a:r>
            <a:endParaRPr b="1" sz="2200">
              <a:solidFill>
                <a:schemeClr val="accent3"/>
              </a:solidFill>
            </a:endParaRPr>
          </a:p>
        </p:txBody>
      </p:sp>
      <p:sp>
        <p:nvSpPr>
          <p:cNvPr id="564" name="Google Shape;564;p7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Performance Scenario</a:t>
            </a:r>
            <a:endParaRPr/>
          </a:p>
        </p:txBody>
      </p:sp>
      <p:sp>
        <p:nvSpPr>
          <p:cNvPr id="570" name="Google Shape;570;p78"/>
          <p:cNvSpPr txBox="1"/>
          <p:nvPr>
            <p:ph idx="1" type="body"/>
          </p:nvPr>
        </p:nvSpPr>
        <p:spPr>
          <a:xfrm>
            <a:off x="468900" y="1218900"/>
            <a:ext cx="8217900" cy="35439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b="1" lang="sv-SE" sz="2200">
                <a:solidFill>
                  <a:schemeClr val="accent3"/>
                </a:solidFill>
              </a:rPr>
              <a:t>Required Response</a:t>
            </a:r>
            <a:r>
              <a:rPr lang="sv-SE" sz="2200"/>
              <a:t>: The search results are retrieved and displayed to the user. The results for this query should be </a:t>
            </a:r>
            <a:r>
              <a:rPr lang="sv-SE" sz="2200"/>
              <a:t>temporary </a:t>
            </a:r>
            <a:r>
              <a:rPr lang="sv-SE" sz="2200"/>
              <a:t>cached (until the restaurant list or the menu of any restaurant retrieved by the query changes) to reduce the calculation time for other users who issue the same query in the delivery area. </a:t>
            </a:r>
            <a:endParaRPr sz="2200"/>
          </a:p>
          <a:p>
            <a:pPr indent="-368300" lvl="0" marL="457200" rtl="0" algn="l">
              <a:spcBef>
                <a:spcPts val="1000"/>
              </a:spcBef>
              <a:spcAft>
                <a:spcPts val="0"/>
              </a:spcAft>
              <a:buSzPts val="2200"/>
              <a:buChar char="•"/>
            </a:pPr>
            <a:r>
              <a:rPr b="1" lang="sv-SE" sz="2200">
                <a:solidFill>
                  <a:schemeClr val="accent3"/>
                </a:solidFill>
              </a:rPr>
              <a:t>Response Measure</a:t>
            </a:r>
            <a:r>
              <a:rPr lang="sv-SE" sz="2200"/>
              <a:t>: The search results are displayed within 2 seconds in 95% of executions, and within 5 seconds in 99% of executions.</a:t>
            </a:r>
            <a:endParaRPr b="1" sz="2200">
              <a:solidFill>
                <a:schemeClr val="accent3"/>
              </a:solidFill>
            </a:endParaRPr>
          </a:p>
        </p:txBody>
      </p:sp>
      <p:sp>
        <p:nvSpPr>
          <p:cNvPr id="571" name="Google Shape;571;p7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Performance Scenario 2</a:t>
            </a:r>
            <a:endParaRPr/>
          </a:p>
        </p:txBody>
      </p:sp>
      <p:sp>
        <p:nvSpPr>
          <p:cNvPr id="577" name="Google Shape;577;p79"/>
          <p:cNvSpPr txBox="1"/>
          <p:nvPr>
            <p:ph idx="1" type="body"/>
          </p:nvPr>
        </p:nvSpPr>
        <p:spPr>
          <a:xfrm>
            <a:off x="468900" y="1218900"/>
            <a:ext cx="8217900" cy="35439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b="1" lang="sv-SE" sz="2200">
                <a:solidFill>
                  <a:schemeClr val="accent3"/>
                </a:solidFill>
              </a:rPr>
              <a:t>Overview</a:t>
            </a:r>
            <a:r>
              <a:rPr b="1" lang="sv-SE" sz="2200"/>
              <a:t>:</a:t>
            </a:r>
            <a:r>
              <a:rPr lang="sv-SE" sz="2200"/>
              <a:t> Show that search queries can be completed completely under heavy load.</a:t>
            </a:r>
            <a:endParaRPr sz="2200"/>
          </a:p>
          <a:p>
            <a:pPr indent="-368300" lvl="0" marL="457200" rtl="0" algn="l">
              <a:spcBef>
                <a:spcPts val="1000"/>
              </a:spcBef>
              <a:spcAft>
                <a:spcPts val="0"/>
              </a:spcAft>
              <a:buSzPts val="2200"/>
              <a:buChar char="•"/>
            </a:pPr>
            <a:r>
              <a:rPr b="1" lang="sv-SE" sz="2200">
                <a:solidFill>
                  <a:schemeClr val="accent3"/>
                </a:solidFill>
              </a:rPr>
              <a:t>System State</a:t>
            </a:r>
            <a:r>
              <a:rPr lang="sv-SE" sz="2200"/>
              <a:t>: The system is under heavy load (25000 concurrent users). </a:t>
            </a:r>
            <a:endParaRPr sz="2200"/>
          </a:p>
          <a:p>
            <a:pPr indent="-368300" lvl="0" marL="457200" rtl="0" algn="l">
              <a:spcBef>
                <a:spcPts val="1000"/>
              </a:spcBef>
              <a:spcAft>
                <a:spcPts val="0"/>
              </a:spcAft>
              <a:buSzPts val="2200"/>
              <a:buChar char="•"/>
            </a:pPr>
            <a:r>
              <a:rPr b="1" lang="sv-SE" sz="2200">
                <a:solidFill>
                  <a:schemeClr val="accent3"/>
                </a:solidFill>
              </a:rPr>
              <a:t>Environment State</a:t>
            </a:r>
            <a:r>
              <a:rPr lang="sv-SE" sz="2200"/>
              <a:t>: The network connection is adequate. The deployment environment is operating correctly, but each server is at or near-capacity.</a:t>
            </a:r>
            <a:endParaRPr sz="2200"/>
          </a:p>
          <a:p>
            <a:pPr indent="-368300" lvl="0" marL="457200" rtl="0" algn="l">
              <a:spcBef>
                <a:spcPts val="1000"/>
              </a:spcBef>
              <a:spcAft>
                <a:spcPts val="0"/>
              </a:spcAft>
              <a:buSzPts val="2200"/>
              <a:buChar char="•"/>
            </a:pPr>
            <a:r>
              <a:rPr b="1" lang="sv-SE" sz="2200">
                <a:solidFill>
                  <a:schemeClr val="accent3"/>
                </a:solidFill>
              </a:rPr>
              <a:t>External Stimulus</a:t>
            </a:r>
            <a:r>
              <a:rPr lang="sv-SE" sz="2200"/>
              <a:t>: 1000 users submit search requests in a 10 second window. </a:t>
            </a:r>
            <a:endParaRPr b="1" sz="2000">
              <a:solidFill>
                <a:schemeClr val="accent3"/>
              </a:solidFill>
            </a:endParaRPr>
          </a:p>
        </p:txBody>
      </p:sp>
      <p:sp>
        <p:nvSpPr>
          <p:cNvPr id="578" name="Google Shape;578;p7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8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Performance Scenario 2</a:t>
            </a:r>
            <a:endParaRPr/>
          </a:p>
        </p:txBody>
      </p:sp>
      <p:sp>
        <p:nvSpPr>
          <p:cNvPr id="584" name="Google Shape;584;p80"/>
          <p:cNvSpPr txBox="1"/>
          <p:nvPr>
            <p:ph idx="1" type="body"/>
          </p:nvPr>
        </p:nvSpPr>
        <p:spPr>
          <a:xfrm>
            <a:off x="468900" y="1218900"/>
            <a:ext cx="8217900" cy="35439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b="1" lang="sv-SE" sz="2200">
                <a:solidFill>
                  <a:schemeClr val="accent3"/>
                </a:solidFill>
              </a:rPr>
              <a:t>Required System Behavior</a:t>
            </a:r>
            <a:r>
              <a:rPr b="1" lang="sv-SE" sz="2200"/>
              <a:t>: </a:t>
            </a:r>
            <a:r>
              <a:rPr lang="sv-SE" sz="2200"/>
              <a:t>The search results are retrieved and displayed to all users. Results are cached for reuse for applicable users. Each server maintains a queue of requests and processes requests as resources become available. The load balancer distributes requests to servers, favoring servers with shorter queues.</a:t>
            </a:r>
            <a:r>
              <a:rPr b="1" lang="sv-SE" sz="2200"/>
              <a:t> </a:t>
            </a:r>
            <a:endParaRPr sz="2200"/>
          </a:p>
          <a:p>
            <a:pPr indent="-368300" lvl="0" marL="457200" rtl="0" algn="l">
              <a:spcBef>
                <a:spcPts val="1000"/>
              </a:spcBef>
              <a:spcAft>
                <a:spcPts val="0"/>
              </a:spcAft>
              <a:buSzPts val="2200"/>
              <a:buChar char="•"/>
            </a:pPr>
            <a:r>
              <a:rPr b="1" lang="sv-SE" sz="2200">
                <a:solidFill>
                  <a:schemeClr val="accent3"/>
                </a:solidFill>
              </a:rPr>
              <a:t>Response Measure</a:t>
            </a:r>
            <a:r>
              <a:rPr b="1" lang="sv-SE" sz="2200"/>
              <a:t>: </a:t>
            </a:r>
            <a:r>
              <a:rPr lang="sv-SE" sz="2200"/>
              <a:t>All 1000 requests are completed within 10 seconds, in 85% of executions, and within 20 seconds in 99% of executions.</a:t>
            </a:r>
            <a:endParaRPr sz="2200"/>
          </a:p>
        </p:txBody>
      </p:sp>
      <p:sp>
        <p:nvSpPr>
          <p:cNvPr id="585" name="Google Shape;585;p8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8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Scalability Scenarios</a:t>
            </a:r>
            <a:endParaRPr/>
          </a:p>
        </p:txBody>
      </p:sp>
      <p:sp>
        <p:nvSpPr>
          <p:cNvPr id="591" name="Google Shape;591;p81"/>
          <p:cNvSpPr txBox="1"/>
          <p:nvPr>
            <p:ph idx="1" type="body"/>
          </p:nvPr>
        </p:nvSpPr>
        <p:spPr>
          <a:xfrm>
            <a:off x="468900" y="1211025"/>
            <a:ext cx="8217900" cy="35517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T</a:t>
            </a:r>
            <a:r>
              <a:rPr b="1" lang="sv-SE">
                <a:solidFill>
                  <a:schemeClr val="accent3"/>
                </a:solidFill>
              </a:rPr>
              <a:t>he ability to effectively use available resources</a:t>
            </a:r>
            <a:endParaRPr/>
          </a:p>
          <a:p>
            <a:pPr indent="-393700" lvl="0" marL="457200" rtl="0" algn="l">
              <a:spcBef>
                <a:spcPts val="1000"/>
              </a:spcBef>
              <a:spcAft>
                <a:spcPts val="0"/>
              </a:spcAft>
              <a:buSzPts val="2600"/>
              <a:buChar char="•"/>
            </a:pPr>
            <a:r>
              <a:rPr lang="sv-SE"/>
              <a:t>Scenarios directly deal with impact of</a:t>
            </a:r>
            <a:r>
              <a:rPr lang="sv-SE">
                <a:solidFill>
                  <a:schemeClr val="accent3"/>
                </a:solidFill>
              </a:rPr>
              <a:t> </a:t>
            </a:r>
            <a:r>
              <a:rPr b="1" lang="sv-SE">
                <a:solidFill>
                  <a:schemeClr val="accent3"/>
                </a:solidFill>
              </a:rPr>
              <a:t>adding or removing resources</a:t>
            </a:r>
            <a:r>
              <a:rPr lang="sv-SE"/>
              <a:t>.</a:t>
            </a:r>
            <a:endParaRPr/>
          </a:p>
          <a:p>
            <a:pPr indent="-393700" lvl="0" marL="457200" rtl="0" algn="l">
              <a:spcBef>
                <a:spcPts val="1000"/>
              </a:spcBef>
              <a:spcAft>
                <a:spcPts val="0"/>
              </a:spcAft>
              <a:buSzPts val="2600"/>
              <a:buChar char="•"/>
            </a:pPr>
            <a:r>
              <a:rPr lang="sv-SE"/>
              <a:t>Response measures reflect:</a:t>
            </a:r>
            <a:endParaRPr/>
          </a:p>
          <a:p>
            <a:pPr indent="-368300" lvl="1" marL="914400" rtl="0" algn="l">
              <a:spcBef>
                <a:spcPts val="500"/>
              </a:spcBef>
              <a:spcAft>
                <a:spcPts val="0"/>
              </a:spcAft>
              <a:buSzPts val="2200"/>
              <a:buChar char="•"/>
            </a:pPr>
            <a:r>
              <a:rPr lang="sv-SE"/>
              <a:t>Changes to performance.</a:t>
            </a:r>
            <a:endParaRPr/>
          </a:p>
          <a:p>
            <a:pPr indent="-368300" lvl="1" marL="914400" rtl="0" algn="l">
              <a:spcBef>
                <a:spcPts val="500"/>
              </a:spcBef>
              <a:spcAft>
                <a:spcPts val="0"/>
              </a:spcAft>
              <a:buSzPts val="2200"/>
              <a:buChar char="•"/>
            </a:pPr>
            <a:r>
              <a:rPr lang="sv-SE"/>
              <a:t>Changes to reliability.</a:t>
            </a:r>
            <a:endParaRPr/>
          </a:p>
          <a:p>
            <a:pPr indent="-368300" lvl="1" marL="914400" rtl="0" algn="l">
              <a:spcBef>
                <a:spcPts val="500"/>
              </a:spcBef>
              <a:spcAft>
                <a:spcPts val="0"/>
              </a:spcAft>
              <a:buSzPts val="2200"/>
              <a:buChar char="•"/>
            </a:pPr>
            <a:r>
              <a:rPr lang="sv-SE"/>
              <a:t>Load assigned to existing and new resources.</a:t>
            </a:r>
            <a:endParaRPr/>
          </a:p>
        </p:txBody>
      </p:sp>
      <p:sp>
        <p:nvSpPr>
          <p:cNvPr id="592" name="Google Shape;592;p8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8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Scalability Scenario</a:t>
            </a:r>
            <a:endParaRPr/>
          </a:p>
        </p:txBody>
      </p:sp>
      <p:sp>
        <p:nvSpPr>
          <p:cNvPr id="598" name="Google Shape;598;p82"/>
          <p:cNvSpPr txBox="1"/>
          <p:nvPr>
            <p:ph idx="1" type="body"/>
          </p:nvPr>
        </p:nvSpPr>
        <p:spPr>
          <a:xfrm>
            <a:off x="468900" y="1282400"/>
            <a:ext cx="84264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b="1" lang="sv-SE" sz="2200">
                <a:solidFill>
                  <a:schemeClr val="accent3"/>
                </a:solidFill>
              </a:rPr>
              <a:t>Overview</a:t>
            </a:r>
            <a:r>
              <a:rPr b="1" lang="sv-SE" sz="2200"/>
              <a:t>:</a:t>
            </a:r>
            <a:r>
              <a:rPr lang="sv-SE" sz="2200"/>
              <a:t> Addition of new hardware improves order transaction speed.</a:t>
            </a:r>
            <a:endParaRPr sz="2200"/>
          </a:p>
          <a:p>
            <a:pPr indent="-368300" lvl="0" marL="457200" rtl="0" algn="l">
              <a:spcBef>
                <a:spcPts val="1000"/>
              </a:spcBef>
              <a:spcAft>
                <a:spcPts val="0"/>
              </a:spcAft>
              <a:buSzPts val="2200"/>
              <a:buChar char="•"/>
            </a:pPr>
            <a:r>
              <a:rPr b="1" lang="sv-SE" sz="2200">
                <a:solidFill>
                  <a:schemeClr val="accent3"/>
                </a:solidFill>
              </a:rPr>
              <a:t>System State</a:t>
            </a:r>
            <a:r>
              <a:rPr b="1" lang="sv-SE" sz="2200"/>
              <a:t>:</a:t>
            </a:r>
            <a:r>
              <a:rPr lang="sv-SE" sz="2200"/>
              <a:t> Before addition of new hardware, 90% of order submissions were completed within 10 seconds, 99% within 15s. </a:t>
            </a:r>
            <a:r>
              <a:rPr lang="sv-SE" sz="2200"/>
              <a:t>System is under normal load (5000 users). </a:t>
            </a:r>
            <a:endParaRPr sz="2200"/>
          </a:p>
          <a:p>
            <a:pPr indent="-368300" lvl="0" marL="457200" rtl="0" algn="l">
              <a:spcBef>
                <a:spcPts val="1000"/>
              </a:spcBef>
              <a:spcAft>
                <a:spcPts val="0"/>
              </a:spcAft>
              <a:buSzPts val="2200"/>
              <a:buChar char="•"/>
            </a:pPr>
            <a:r>
              <a:rPr b="1" lang="sv-SE" sz="2200">
                <a:solidFill>
                  <a:schemeClr val="accent3"/>
                </a:solidFill>
              </a:rPr>
              <a:t>Environment State</a:t>
            </a:r>
            <a:r>
              <a:rPr b="1" lang="sv-SE" sz="2200"/>
              <a:t>:</a:t>
            </a:r>
            <a:r>
              <a:rPr lang="sv-SE" sz="2200"/>
              <a:t> An additional server has doubled threads available for processing requests. Environment is otherwise operating normally, with adequate connectivity.</a:t>
            </a:r>
            <a:endParaRPr sz="2200"/>
          </a:p>
        </p:txBody>
      </p:sp>
      <p:sp>
        <p:nvSpPr>
          <p:cNvPr id="599" name="Google Shape;599;p8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Scalability Scenario</a:t>
            </a:r>
            <a:endParaRPr/>
          </a:p>
        </p:txBody>
      </p:sp>
      <p:sp>
        <p:nvSpPr>
          <p:cNvPr id="605" name="Google Shape;605;p8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b="1" lang="sv-SE" sz="2400">
                <a:solidFill>
                  <a:schemeClr val="accent3"/>
                </a:solidFill>
              </a:rPr>
              <a:t>External Stimulus</a:t>
            </a:r>
            <a:r>
              <a:rPr b="1" lang="sv-SE" sz="2400"/>
              <a:t>: </a:t>
            </a:r>
            <a:r>
              <a:rPr lang="sv-SE" sz="2400"/>
              <a:t>Customer submits a valid order.</a:t>
            </a:r>
            <a:endParaRPr sz="2400"/>
          </a:p>
          <a:p>
            <a:pPr indent="-381000" lvl="0" marL="457200" rtl="0" algn="l">
              <a:spcBef>
                <a:spcPts val="1000"/>
              </a:spcBef>
              <a:spcAft>
                <a:spcPts val="0"/>
              </a:spcAft>
              <a:buSzPts val="2400"/>
              <a:buChar char="•"/>
            </a:pPr>
            <a:r>
              <a:rPr b="1" lang="sv-SE" sz="2400">
                <a:solidFill>
                  <a:schemeClr val="accent3"/>
                </a:solidFill>
              </a:rPr>
              <a:t>Required System Behavior</a:t>
            </a:r>
            <a:r>
              <a:rPr b="1" lang="sv-SE" sz="2400"/>
              <a:t>: </a:t>
            </a:r>
            <a:r>
              <a:rPr lang="sv-SE" sz="2400"/>
              <a:t>Order confirmation is displayed, with a list of items purchased, expected delivery time, and total cost of items.</a:t>
            </a:r>
            <a:endParaRPr sz="2400"/>
          </a:p>
          <a:p>
            <a:pPr indent="-381000" lvl="0" marL="457200" rtl="0" algn="l">
              <a:spcBef>
                <a:spcPts val="1000"/>
              </a:spcBef>
              <a:spcAft>
                <a:spcPts val="0"/>
              </a:spcAft>
              <a:buSzPts val="2400"/>
              <a:buChar char="•"/>
            </a:pPr>
            <a:r>
              <a:rPr b="1" lang="sv-SE" sz="2400">
                <a:solidFill>
                  <a:schemeClr val="accent3"/>
                </a:solidFill>
              </a:rPr>
              <a:t>Response Measure</a:t>
            </a:r>
            <a:r>
              <a:rPr b="1" lang="sv-SE" sz="2400"/>
              <a:t>: </a:t>
            </a:r>
            <a:r>
              <a:rPr lang="sv-SE" sz="2400"/>
              <a:t>In 90% of requests, submission result is loaded and displayed to user within 5 seconds. In 99% of requests, the result is loaded and displayed to user within 7.5 seconds.</a:t>
            </a:r>
            <a:endParaRPr sz="2400"/>
          </a:p>
          <a:p>
            <a:pPr indent="0" lvl="0" marL="0" rtl="0" algn="l">
              <a:spcBef>
                <a:spcPts val="1000"/>
              </a:spcBef>
              <a:spcAft>
                <a:spcPts val="0"/>
              </a:spcAft>
              <a:buNone/>
            </a:pPr>
            <a:r>
              <a:t/>
            </a:r>
            <a:endParaRPr/>
          </a:p>
        </p:txBody>
      </p:sp>
      <p:sp>
        <p:nvSpPr>
          <p:cNvPr id="606" name="Google Shape;606;p8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8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13" name="Google Shape;613;p8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Key Points</a:t>
            </a:r>
            <a:endParaRPr/>
          </a:p>
        </p:txBody>
      </p:sp>
      <p:sp>
        <p:nvSpPr>
          <p:cNvPr id="614" name="Google Shape;614;p8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Defining and applying scenarios ensures that desired quality attributes are shown. </a:t>
            </a:r>
            <a:endParaRPr/>
          </a:p>
          <a:p>
            <a:pPr indent="-393700" lvl="0" marL="457200" rtl="0" algn="l">
              <a:spcBef>
                <a:spcPts val="1000"/>
              </a:spcBef>
              <a:spcAft>
                <a:spcPts val="0"/>
              </a:spcAft>
              <a:buSzPts val="2600"/>
              <a:buChar char="•"/>
            </a:pPr>
            <a:r>
              <a:rPr lang="sv-SE"/>
              <a:t>S</a:t>
            </a:r>
            <a:r>
              <a:rPr lang="sv-SE"/>
              <a:t>cenarios</a:t>
            </a:r>
            <a:r>
              <a:rPr lang="sv-SE"/>
              <a:t> define how the system responds to factors that affect quality properties.</a:t>
            </a:r>
            <a:endParaRPr/>
          </a:p>
          <a:p>
            <a:pPr indent="-393700" lvl="0" marL="457200" rtl="0" algn="l">
              <a:spcBef>
                <a:spcPts val="1000"/>
              </a:spcBef>
              <a:spcAft>
                <a:spcPts val="0"/>
              </a:spcAft>
              <a:buSzPts val="2600"/>
              <a:buChar char="•"/>
            </a:pPr>
            <a:r>
              <a:rPr lang="sv-SE"/>
              <a:t>Should include the initial system state and environment state, external stimulus, required system response, and how to assess response.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21" name="Google Shape;621;p8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622" name="Google Shape;622;p8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Testing Fundamentals</a:t>
            </a:r>
            <a:endParaRPr/>
          </a:p>
          <a:p>
            <a:pPr indent="-393700" lvl="0" marL="457200" rtl="0" algn="l">
              <a:spcBef>
                <a:spcPts val="0"/>
              </a:spcBef>
              <a:spcAft>
                <a:spcPts val="0"/>
              </a:spcAft>
              <a:buSzPts val="2600"/>
              <a:buChar char="•"/>
            </a:pPr>
            <a:r>
              <a:rPr lang="sv-SE"/>
              <a:t>Exercise session: Scenarios</a:t>
            </a:r>
            <a:endParaRPr/>
          </a:p>
          <a:p>
            <a:pPr indent="0" lvl="0" marL="0" rtl="0" algn="l">
              <a:spcBef>
                <a:spcPts val="1000"/>
              </a:spcBef>
              <a:spcAft>
                <a:spcPts val="0"/>
              </a:spcAft>
              <a:buNone/>
            </a:pPr>
            <a:r>
              <a:t/>
            </a:r>
            <a:endParaRPr b="1"/>
          </a:p>
          <a:p>
            <a:pPr indent="-393700" lvl="0" marL="457200" rtl="0" algn="l">
              <a:spcBef>
                <a:spcPts val="1000"/>
              </a:spcBef>
              <a:spcAft>
                <a:spcPts val="0"/>
              </a:spcAft>
              <a:buSzPts val="2600"/>
              <a:buChar char="•"/>
            </a:pPr>
            <a:r>
              <a:rPr b="1" lang="sv-SE"/>
              <a:t>Assignment 1 due Feb 8.</a:t>
            </a:r>
            <a:endParaRPr b="1"/>
          </a:p>
          <a:p>
            <a:pPr indent="-368300" lvl="1" marL="914400" rtl="0" algn="l">
              <a:spcBef>
                <a:spcPts val="0"/>
              </a:spcBef>
              <a:spcAft>
                <a:spcPts val="0"/>
              </a:spcAft>
              <a:buSzPts val="2200"/>
              <a:buChar char="•"/>
            </a:pPr>
            <a:r>
              <a:rPr b="1" lang="sv-SE"/>
              <a:t>Will be posted after team formation complete.</a:t>
            </a:r>
            <a:endParaRPr b="1"/>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