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5"/>
    <p:sldMasterId id="2147483657" r:id="rId6"/>
    <p:sldMasterId id="214748365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5E7F53-5B6F-45C4-B0E2-CE0FFD77A4AF}">
  <a:tblStyle styleId="{7A5E7F53-5B6F-45C4-B0E2-CE0FFD77A4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7e42206e74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 name="Google Shape;74;g7e42206e74_0_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15 minute break</a:t>
            </a:r>
            <a:endParaRPr/>
          </a:p>
        </p:txBody>
      </p:sp>
      <p:sp>
        <p:nvSpPr>
          <p:cNvPr id="75" name="Google Shape;75;g7e42206e74_0_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7e42206e74_0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0" name="Google Shape;90;g7e42206e74_0_2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go over</a:t>
            </a:r>
            <a:endParaRPr/>
          </a:p>
        </p:txBody>
      </p:sp>
      <p:sp>
        <p:nvSpPr>
          <p:cNvPr id="91" name="Google Shape;91;g7e42206e74_0_2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7e42206e74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9" name="Google Shape;99;g7e42206e74_0_2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g7e42206e74_0_2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7e42206e74_0_1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7e42206e74_0_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(go over)</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U and R are very similar, the difference is that U means that the first property can stop being true in the same state that the latter becomes true. </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R is stronger, R requires that both be true for at least one state, then in the next state, the first property can become false. If the latter property never becomes true, then the former can never be false.</a:t>
            </a:r>
            <a:endParaRPr sz="1050">
              <a:solidFill>
                <a:srgbClr val="252525"/>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e42206e74_0_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e42206e74_0_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050">
                <a:solidFill>
                  <a:srgbClr val="252525"/>
                </a:solidFill>
                <a:highlight>
                  <a:srgbClr val="FFFFFF"/>
                </a:highlight>
              </a:rPr>
              <a:t>As computation tree logic poses properties over all possible paths, not just over a specific path, there quantifiers get a little more complex. CTL has two quantifiers over all paths, and several over specific paths</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(go over)</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U and W are similar - the difference is that W is a weaker property - it never guarantees that the latter property will be verified. I could always be hungry and hunger W burger would be considered true. For hunger U burger to be verified, you must eventually eat a burger and you must be hungry until then.</a:t>
            </a:r>
            <a:endParaRPr sz="1050">
              <a:solidFill>
                <a:srgbClr val="252525"/>
              </a:solidFill>
              <a:highlight>
                <a:srgbClr val="FFFFFF"/>
              </a:highlight>
            </a:endParaRPr>
          </a:p>
          <a:p>
            <a:pPr indent="0" lvl="0" marL="0" rtl="0" algn="l">
              <a:spcBef>
                <a:spcPts val="0"/>
              </a:spcBef>
              <a:spcAft>
                <a:spcPts val="0"/>
              </a:spcAft>
              <a:buNone/>
            </a:pPr>
            <a:r>
              <a:rPr lang="sv-SE" sz="1050">
                <a:solidFill>
                  <a:srgbClr val="252525"/>
                </a:solidFill>
                <a:highlight>
                  <a:srgbClr val="FFFFFF"/>
                </a:highlight>
              </a:rPr>
              <a:t>The path specific and all path quantifiers are alwayscombined, so that you specify properties saying things like, along all path, something will happen next, or there exists some path where this becomes true.</a:t>
            </a:r>
            <a:endParaRPr sz="1050">
              <a:solidFill>
                <a:srgbClr val="252525"/>
              </a:solidFill>
              <a:highlight>
                <a:srgbClr val="FFFFFF"/>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7e42206e74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7e42206e74_0_2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g7e42206e74_0_26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65" name="Shape 6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pic>
        <p:nvPicPr>
          <p:cNvPr id="64" name="Google Shape;64;p10"/>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5"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nusmv.fbk.eu/"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Exercise 6: </a:t>
            </a:r>
            <a:endParaRPr sz="3000"/>
          </a:p>
          <a:p>
            <a:pPr indent="0" lvl="0" marL="0" rtl="0" algn="l">
              <a:spcBef>
                <a:spcPts val="0"/>
              </a:spcBef>
              <a:spcAft>
                <a:spcPts val="0"/>
              </a:spcAft>
              <a:buClr>
                <a:schemeClr val="lt1"/>
              </a:buClr>
              <a:buSzPts val="4000"/>
              <a:buNone/>
            </a:pPr>
            <a:r>
              <a:rPr lang="sv-SE" sz="3000"/>
              <a:t>Finite State Verification</a:t>
            </a:r>
            <a:endParaRPr sz="3000"/>
          </a:p>
        </p:txBody>
      </p:sp>
      <p:sp>
        <p:nvSpPr>
          <p:cNvPr id="71" name="Google Shape;71;p1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March 4,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78" name="Google Shape;78;p13"/>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Finish Lecture 13 Activity First!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sv-SE"/>
              <a:t>2018-08-27</a:t>
            </a:r>
            <a:endParaRPr/>
          </a:p>
        </p:txBody>
      </p:sp>
      <p:sp>
        <p:nvSpPr>
          <p:cNvPr id="84" name="Google Shape;84;p1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sv-SE"/>
              <a:t>Chalmers University of Technology</a:t>
            </a:r>
            <a:endParaRPr/>
          </a:p>
        </p:txBody>
      </p:sp>
      <p:sp>
        <p:nvSpPr>
          <p:cNvPr id="85" name="Google Shape;85;p1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86" name="Google Shape;86;p1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Microwave</a:t>
            </a:r>
            <a:endParaRPr/>
          </a:p>
        </p:txBody>
      </p:sp>
      <p:sp>
        <p:nvSpPr>
          <p:cNvPr id="87" name="Google Shape;87;p1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600"/>
              <a:buNone/>
            </a:pPr>
            <a:r>
              <a:rPr lang="sv-SE"/>
              <a:t>Consider a simple microwave controller modeled as a finite state machine using the following state variables:</a:t>
            </a:r>
            <a:endParaRPr/>
          </a:p>
          <a:p>
            <a:pPr indent="-393700" lvl="0" marL="457200" rtl="0" algn="l">
              <a:lnSpc>
                <a:spcPct val="90000"/>
              </a:lnSpc>
              <a:spcBef>
                <a:spcPts val="0"/>
              </a:spcBef>
              <a:spcAft>
                <a:spcPts val="0"/>
              </a:spcAft>
              <a:buSzPts val="2600"/>
              <a:buChar char="•"/>
            </a:pPr>
            <a:r>
              <a:rPr b="1" lang="sv-SE">
                <a:solidFill>
                  <a:schemeClr val="accent3"/>
                </a:solidFill>
                <a:latin typeface="Consolas"/>
                <a:ea typeface="Consolas"/>
                <a:cs typeface="Consolas"/>
                <a:sym typeface="Consolas"/>
              </a:rPr>
              <a:t>Door: {Open, Closed}</a:t>
            </a:r>
            <a:r>
              <a:rPr lang="sv-SE">
                <a:latin typeface="Consolas"/>
                <a:ea typeface="Consolas"/>
                <a:cs typeface="Consolas"/>
                <a:sym typeface="Consolas"/>
              </a:rPr>
              <a:t> </a:t>
            </a:r>
            <a:r>
              <a:rPr lang="sv-SE"/>
              <a:t>-- sensor input indicating state of the door</a:t>
            </a:r>
            <a:endParaRPr/>
          </a:p>
          <a:p>
            <a:pPr indent="-393700" lvl="0" marL="457200" rtl="0" algn="l">
              <a:lnSpc>
                <a:spcPct val="90000"/>
              </a:lnSpc>
              <a:spcBef>
                <a:spcPts val="0"/>
              </a:spcBef>
              <a:spcAft>
                <a:spcPts val="0"/>
              </a:spcAft>
              <a:buSzPts val="2600"/>
              <a:buChar char="•"/>
            </a:pPr>
            <a:r>
              <a:rPr b="1" lang="sv-SE">
                <a:solidFill>
                  <a:schemeClr val="accent3"/>
                </a:solidFill>
                <a:latin typeface="Consolas"/>
                <a:ea typeface="Consolas"/>
                <a:cs typeface="Consolas"/>
                <a:sym typeface="Consolas"/>
              </a:rPr>
              <a:t>Button: {None, Start, Stop}</a:t>
            </a:r>
            <a:r>
              <a:rPr lang="sv-SE"/>
              <a:t> -- button press (assumes at most one at a time)</a:t>
            </a:r>
            <a:endParaRPr/>
          </a:p>
          <a:p>
            <a:pPr indent="-393700" lvl="0" marL="457200" rtl="0" algn="l">
              <a:lnSpc>
                <a:spcPct val="90000"/>
              </a:lnSpc>
              <a:spcBef>
                <a:spcPts val="0"/>
              </a:spcBef>
              <a:spcAft>
                <a:spcPts val="0"/>
              </a:spcAft>
              <a:buSzPts val="2600"/>
              <a:buChar char="•"/>
            </a:pPr>
            <a:r>
              <a:rPr b="1" lang="sv-SE">
                <a:solidFill>
                  <a:schemeClr val="accent3"/>
                </a:solidFill>
                <a:latin typeface="Consolas"/>
                <a:ea typeface="Consolas"/>
                <a:cs typeface="Consolas"/>
                <a:sym typeface="Consolas"/>
              </a:rPr>
              <a:t>Timer: 0...999</a:t>
            </a:r>
            <a:r>
              <a:rPr lang="sv-SE"/>
              <a:t> -- (remaining) seconds to cook</a:t>
            </a:r>
            <a:endParaRPr/>
          </a:p>
          <a:p>
            <a:pPr indent="-393700" lvl="0" marL="457200" rtl="0" algn="l">
              <a:lnSpc>
                <a:spcPct val="90000"/>
              </a:lnSpc>
              <a:spcBef>
                <a:spcPts val="0"/>
              </a:spcBef>
              <a:spcAft>
                <a:spcPts val="0"/>
              </a:spcAft>
              <a:buSzPts val="2600"/>
              <a:buChar char="•"/>
            </a:pPr>
            <a:r>
              <a:rPr b="1" lang="sv-SE">
                <a:solidFill>
                  <a:schemeClr val="accent3"/>
                </a:solidFill>
                <a:latin typeface="Consolas"/>
                <a:ea typeface="Consolas"/>
                <a:cs typeface="Consolas"/>
                <a:sym typeface="Consolas"/>
              </a:rPr>
              <a:t>Cooking: Boolean</a:t>
            </a:r>
            <a:r>
              <a:rPr lang="sv-SE"/>
              <a:t> -- state of the heating element</a:t>
            </a:r>
            <a:endParaRPr/>
          </a:p>
          <a:p>
            <a:pPr indent="-63500" lvl="0" marL="228600" rtl="0" algn="l">
              <a:lnSpc>
                <a:spcPct val="90000"/>
              </a:lnSpc>
              <a:spcBef>
                <a:spcPts val="0"/>
              </a:spcBef>
              <a:spcAft>
                <a:spcPts val="0"/>
              </a:spcAft>
              <a:buClr>
                <a:schemeClr val="dk1"/>
              </a:buClr>
              <a:buSzPts val="26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94" name="Google Shape;94;p1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Partial Model</a:t>
            </a:r>
            <a:endParaRPr/>
          </a:p>
        </p:txBody>
      </p:sp>
      <p:sp>
        <p:nvSpPr>
          <p:cNvPr id="95" name="Google Shape;95;p15"/>
          <p:cNvSpPr txBox="1"/>
          <p:nvPr>
            <p:ph idx="1" type="body"/>
          </p:nvPr>
        </p:nvSpPr>
        <p:spPr>
          <a:xfrm>
            <a:off x="468896" y="1282400"/>
            <a:ext cx="4748100" cy="34803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MODULE microwave</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VAR</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Door: {Open, Closed};</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Button: {None, Start, Stop};</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Timer: 0..999;</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Cooking: boolean;</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ASSIGN</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init(Door) := Closed;</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init(Button) := None;</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init(Timer) := 0;</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next(Timer) :=</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case</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Timer &gt; 0 &amp; Cooking=TRUE : Timer - 1;</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Timer &gt; 0 &amp; Cooking=FALSE &amp; Button!=Stop : Timer;</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Button=Stop : 0;</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Timer=0 : 0..999;</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TRUE: Timer;</a:t>
            </a:r>
            <a:endParaRPr sz="1100">
              <a:solidFill>
                <a:srgbClr val="00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solidFill>
                  <a:srgbClr val="000000"/>
                </a:solidFill>
                <a:latin typeface="Consolas"/>
                <a:ea typeface="Consolas"/>
                <a:cs typeface="Consolas"/>
                <a:sym typeface="Consolas"/>
              </a:rPr>
              <a:t>    esac;</a:t>
            </a:r>
            <a:endParaRPr/>
          </a:p>
        </p:txBody>
      </p:sp>
      <p:sp>
        <p:nvSpPr>
          <p:cNvPr id="96" name="Google Shape;96;p15"/>
          <p:cNvSpPr txBox="1"/>
          <p:nvPr/>
        </p:nvSpPr>
        <p:spPr>
          <a:xfrm>
            <a:off x="4784825" y="1374075"/>
            <a:ext cx="3902100" cy="547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100">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init(Cooking) := FALSE;</a:t>
            </a:r>
            <a:endParaRPr sz="1100">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next(Cooking) :=</a:t>
            </a:r>
            <a:endParaRPr sz="1100">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case</a:t>
            </a:r>
            <a:endParaRPr sz="1100">
              <a:latin typeface="Consolas"/>
              <a:ea typeface="Consolas"/>
              <a:cs typeface="Consolas"/>
              <a:sym typeface="Consolas"/>
            </a:endParaRPr>
          </a:p>
          <a:p>
            <a:pPr indent="0" lvl="0" marL="0" rtl="0" algn="l">
              <a:lnSpc>
                <a:spcPct val="115000"/>
              </a:lnSpc>
              <a:spcBef>
                <a:spcPts val="0"/>
              </a:spcBef>
              <a:spcAft>
                <a:spcPts val="0"/>
              </a:spcAft>
              <a:buNone/>
            </a:pPr>
            <a:r>
              <a:rPr b="1" lang="sv-SE" sz="1100">
                <a:solidFill>
                  <a:srgbClr val="FF0000"/>
                </a:solidFill>
                <a:latin typeface="Consolas"/>
                <a:ea typeface="Consolas"/>
                <a:cs typeface="Consolas"/>
                <a:sym typeface="Consolas"/>
              </a:rPr>
              <a:t>        -- Suggestion: Start by defining the </a:t>
            </a:r>
            <a:br>
              <a:rPr b="1" lang="sv-SE" sz="1100">
                <a:solidFill>
                  <a:srgbClr val="FF0000"/>
                </a:solidFill>
                <a:latin typeface="Consolas"/>
                <a:ea typeface="Consolas"/>
                <a:cs typeface="Consolas"/>
                <a:sym typeface="Consolas"/>
              </a:rPr>
            </a:br>
            <a:r>
              <a:rPr b="1" lang="sv-SE" sz="1100">
                <a:solidFill>
                  <a:srgbClr val="FF0000"/>
                </a:solidFill>
                <a:latin typeface="Consolas"/>
                <a:ea typeface="Consolas"/>
                <a:cs typeface="Consolas"/>
                <a:sym typeface="Consolas"/>
              </a:rPr>
              <a:t>        -- conditions that would cause</a:t>
            </a:r>
            <a:endParaRPr b="1" sz="1100">
              <a:solidFill>
                <a:srgbClr val="FF0000"/>
              </a:solidFill>
              <a:latin typeface="Consolas"/>
              <a:ea typeface="Consolas"/>
              <a:cs typeface="Consolas"/>
              <a:sym typeface="Consolas"/>
            </a:endParaRPr>
          </a:p>
          <a:p>
            <a:pPr indent="0" lvl="0" marL="0" rtl="0" algn="l">
              <a:lnSpc>
                <a:spcPct val="115000"/>
              </a:lnSpc>
              <a:spcBef>
                <a:spcPts val="0"/>
              </a:spcBef>
              <a:spcAft>
                <a:spcPts val="0"/>
              </a:spcAft>
              <a:buNone/>
            </a:pPr>
            <a:r>
              <a:rPr b="1" lang="sv-SE" sz="1100">
                <a:solidFill>
                  <a:srgbClr val="FF0000"/>
                </a:solidFill>
                <a:latin typeface="Consolas"/>
                <a:ea typeface="Consolas"/>
                <a:cs typeface="Consolas"/>
                <a:sym typeface="Consolas"/>
              </a:rPr>
              <a:t>        -- cooking to start. Then add conditions </a:t>
            </a:r>
            <a:br>
              <a:rPr b="1" lang="sv-SE" sz="1100">
                <a:solidFill>
                  <a:srgbClr val="FF0000"/>
                </a:solidFill>
                <a:latin typeface="Consolas"/>
                <a:ea typeface="Consolas"/>
                <a:cs typeface="Consolas"/>
                <a:sym typeface="Consolas"/>
              </a:rPr>
            </a:br>
            <a:r>
              <a:rPr b="1" lang="sv-SE" sz="1100">
                <a:solidFill>
                  <a:srgbClr val="FF0000"/>
                </a:solidFill>
                <a:latin typeface="Consolas"/>
                <a:ea typeface="Consolas"/>
                <a:cs typeface="Consolas"/>
                <a:sym typeface="Consolas"/>
              </a:rPr>
              <a:t>        -- that would make it stop.</a:t>
            </a:r>
            <a:endParaRPr b="1" sz="1100">
              <a:solidFill>
                <a:srgbClr val="FF0000"/>
              </a:solidFill>
              <a:latin typeface="Consolas"/>
              <a:ea typeface="Consolas"/>
              <a:cs typeface="Consolas"/>
              <a:sym typeface="Consolas"/>
            </a:endParaRPr>
          </a:p>
          <a:p>
            <a:pPr indent="0" lvl="0" marL="0" rtl="0" algn="l">
              <a:lnSpc>
                <a:spcPct val="115000"/>
              </a:lnSpc>
              <a:spcBef>
                <a:spcPts val="0"/>
              </a:spcBef>
              <a:spcAft>
                <a:spcPts val="0"/>
              </a:spcAft>
              <a:buNone/>
            </a:pPr>
            <a:r>
              <a:rPr b="1" lang="sv-SE" sz="1100">
                <a:solidFill>
                  <a:srgbClr val="FF0000"/>
                </a:solidFill>
                <a:latin typeface="Consolas"/>
                <a:ea typeface="Consolas"/>
                <a:cs typeface="Consolas"/>
                <a:sym typeface="Consolas"/>
              </a:rPr>
              <a:t>        -- Finally, ensure it will continue </a:t>
            </a:r>
            <a:br>
              <a:rPr b="1" lang="sv-SE" sz="1100">
                <a:solidFill>
                  <a:srgbClr val="FF0000"/>
                </a:solidFill>
                <a:latin typeface="Consolas"/>
                <a:ea typeface="Consolas"/>
                <a:cs typeface="Consolas"/>
                <a:sym typeface="Consolas"/>
              </a:rPr>
            </a:br>
            <a:r>
              <a:rPr b="1" lang="sv-SE" sz="1100">
                <a:solidFill>
                  <a:srgbClr val="FF0000"/>
                </a:solidFill>
                <a:latin typeface="Consolas"/>
                <a:ea typeface="Consolas"/>
                <a:cs typeface="Consolas"/>
                <a:sym typeface="Consolas"/>
              </a:rPr>
              <a:t>        -- running if it is supposed to.</a:t>
            </a:r>
            <a:endParaRPr b="1" sz="1100">
              <a:solidFill>
                <a:srgbClr val="FF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a:t>
            </a:r>
            <a:r>
              <a:rPr lang="sv-SE" sz="1100">
                <a:solidFill>
                  <a:srgbClr val="FF0000"/>
                </a:solidFill>
                <a:latin typeface="Consolas"/>
                <a:ea typeface="Consolas"/>
                <a:cs typeface="Consolas"/>
                <a:sym typeface="Consolas"/>
              </a:rPr>
              <a:t>(</a:t>
            </a:r>
            <a:r>
              <a:rPr b="1" lang="sv-SE" sz="1100">
                <a:solidFill>
                  <a:srgbClr val="FF0000"/>
                </a:solidFill>
                <a:latin typeface="Consolas"/>
                <a:ea typeface="Consolas"/>
                <a:cs typeface="Consolas"/>
                <a:sym typeface="Consolas"/>
              </a:rPr>
              <a:t>FILL THIS IN)</a:t>
            </a:r>
            <a:endParaRPr b="1" sz="1100">
              <a:solidFill>
                <a:srgbClr val="FF0000"/>
              </a:solidFill>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TRUE: FALSE;</a:t>
            </a:r>
            <a:endParaRPr sz="1100">
              <a:latin typeface="Consolas"/>
              <a:ea typeface="Consolas"/>
              <a:cs typeface="Consolas"/>
              <a:sym typeface="Consolas"/>
            </a:endParaRPr>
          </a:p>
          <a:p>
            <a:pPr indent="0" lvl="0" marL="0" rtl="0" algn="l">
              <a:lnSpc>
                <a:spcPct val="115000"/>
              </a:lnSpc>
              <a:spcBef>
                <a:spcPts val="0"/>
              </a:spcBef>
              <a:spcAft>
                <a:spcPts val="0"/>
              </a:spcAft>
              <a:buNone/>
            </a:pPr>
            <a:r>
              <a:rPr lang="sv-SE" sz="1100">
                <a:latin typeface="Consolas"/>
                <a:ea typeface="Consolas"/>
                <a:cs typeface="Consolas"/>
                <a:sym typeface="Consolas"/>
              </a:rPr>
              <a:t>    esac;</a:t>
            </a:r>
            <a:endParaRPr sz="1100">
              <a:latin typeface="Consolas"/>
              <a:ea typeface="Consolas"/>
              <a:cs typeface="Consolas"/>
              <a:sym typeface="Consolas"/>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3" name="Google Shape;103;p1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 Properties</a:t>
            </a:r>
            <a:endParaRPr/>
          </a:p>
        </p:txBody>
      </p:sp>
      <p:sp>
        <p:nvSpPr>
          <p:cNvPr id="104" name="Google Shape;104;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CTL: </a:t>
            </a:r>
            <a:r>
              <a:rPr lang="sv-SE"/>
              <a:t>The microwave shall stop cooking after the door is opened.</a:t>
            </a:r>
            <a:endParaRPr/>
          </a:p>
          <a:p>
            <a:pPr indent="-368300" lvl="1" marL="914400" rtl="0" algn="l">
              <a:spcBef>
                <a:spcPts val="0"/>
              </a:spcBef>
              <a:spcAft>
                <a:spcPts val="0"/>
              </a:spcAft>
              <a:buClr>
                <a:schemeClr val="accent3"/>
              </a:buClr>
              <a:buSzPts val="2200"/>
              <a:buFont typeface="Consolas"/>
              <a:buChar char="•"/>
            </a:pPr>
            <a:r>
              <a:rPr b="1" lang="sv-SE">
                <a:solidFill>
                  <a:schemeClr val="accent3"/>
                </a:solidFill>
                <a:latin typeface="Consolas"/>
                <a:ea typeface="Consolas"/>
                <a:cs typeface="Consolas"/>
                <a:sym typeface="Consolas"/>
              </a:rPr>
              <a:t>AG (Door = Open -&gt; AX (!Cooking))</a:t>
            </a:r>
            <a:endParaRPr b="1">
              <a:solidFill>
                <a:schemeClr val="accent3"/>
              </a:solidFill>
              <a:latin typeface="Consolas"/>
              <a:ea typeface="Consolas"/>
              <a:cs typeface="Consolas"/>
              <a:sym typeface="Consolas"/>
            </a:endParaRPr>
          </a:p>
          <a:p>
            <a:pPr indent="-393700" lvl="0" marL="457200" rtl="0" algn="l">
              <a:spcBef>
                <a:spcPts val="0"/>
              </a:spcBef>
              <a:spcAft>
                <a:spcPts val="0"/>
              </a:spcAft>
              <a:buSzPts val="2600"/>
              <a:buChar char="•"/>
            </a:pPr>
            <a:r>
              <a:rPr lang="sv-SE"/>
              <a:t>LTL: It shall never be the case that the microwave can continue cooking indefinitely.</a:t>
            </a:r>
            <a:endParaRPr/>
          </a:p>
          <a:p>
            <a:pPr indent="-368300" lvl="1" marL="914400" rtl="0" algn="l">
              <a:spcBef>
                <a:spcPts val="0"/>
              </a:spcBef>
              <a:spcAft>
                <a:spcPts val="0"/>
              </a:spcAft>
              <a:buClr>
                <a:schemeClr val="accent3"/>
              </a:buClr>
              <a:buSzPts val="2200"/>
              <a:buFont typeface="Consolas"/>
              <a:buChar char="•"/>
            </a:pPr>
            <a:r>
              <a:rPr b="1" lang="sv-SE">
                <a:solidFill>
                  <a:schemeClr val="accent3"/>
                </a:solidFill>
                <a:latin typeface="Consolas"/>
                <a:ea typeface="Consolas"/>
                <a:cs typeface="Consolas"/>
                <a:sym typeface="Consolas"/>
              </a:rPr>
              <a:t>G (Cooking -&gt; F (!Cooking))</a:t>
            </a:r>
            <a:endParaRPr b="1">
              <a:solidFill>
                <a:schemeClr val="accent3"/>
              </a:solidFill>
              <a:latin typeface="Consolas"/>
              <a:ea typeface="Consolas"/>
              <a:cs typeface="Consolas"/>
              <a:sym typeface="Consolas"/>
            </a:endParaRPr>
          </a:p>
          <a:p>
            <a:pPr indent="-393700" lvl="0" marL="457200" rtl="0" algn="l">
              <a:spcBef>
                <a:spcPts val="0"/>
              </a:spcBef>
              <a:spcAft>
                <a:spcPts val="0"/>
              </a:spcAft>
              <a:buSzPts val="2600"/>
              <a:buChar char="•"/>
            </a:pPr>
            <a:r>
              <a:rPr lang="sv-SE"/>
              <a:t>Formulate the other informal requirements in temporal logic.</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Linear Time Logic Formulae</a:t>
            </a:r>
            <a:endParaRPr/>
          </a:p>
        </p:txBody>
      </p:sp>
      <p:sp>
        <p:nvSpPr>
          <p:cNvPr id="110" name="Google Shape;110;p1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lang="sv-SE"/>
              <a:t>Formulae written with propositional variables (boolean properties), logical operators (and, or, not, implication), and a set of modal operators:</a:t>
            </a:r>
            <a:endParaRPr/>
          </a:p>
          <a:p>
            <a:pPr indent="0" lvl="0" marL="0" marR="0" rtl="0" algn="l">
              <a:lnSpc>
                <a:spcPct val="100000"/>
              </a:lnSpc>
              <a:spcBef>
                <a:spcPts val="600"/>
              </a:spcBef>
              <a:spcAft>
                <a:spcPts val="0"/>
              </a:spcAft>
              <a:buNone/>
            </a:pPr>
            <a:r>
              <a:t/>
            </a:r>
            <a:endParaRPr sz="2400"/>
          </a:p>
        </p:txBody>
      </p:sp>
      <p:graphicFrame>
        <p:nvGraphicFramePr>
          <p:cNvPr id="111" name="Google Shape;111;p17"/>
          <p:cNvGraphicFramePr/>
          <p:nvPr/>
        </p:nvGraphicFramePr>
        <p:xfrm>
          <a:off x="571600" y="2723156"/>
          <a:ext cx="3000000" cy="3000000"/>
        </p:xfrm>
        <a:graphic>
          <a:graphicData uri="http://schemas.openxmlformats.org/drawingml/2006/table">
            <a:tbl>
              <a:tblPr>
                <a:noFill/>
                <a:tableStyleId>{7A5E7F53-5B6F-45C4-B0E2-CE0FFD77A4AF}</a:tableStyleId>
              </a:tblPr>
              <a:tblGrid>
                <a:gridCol w="1379450"/>
                <a:gridCol w="1770100"/>
                <a:gridCol w="4749650"/>
              </a:tblGrid>
              <a:tr h="285750">
                <a:tc>
                  <a:txBody>
                    <a:bodyPr/>
                    <a:lstStyle/>
                    <a:p>
                      <a:pPr indent="0" lvl="0" marL="0" rtl="0" algn="l">
                        <a:spcBef>
                          <a:spcPts val="0"/>
                        </a:spcBef>
                        <a:spcAft>
                          <a:spcPts val="0"/>
                        </a:spcAft>
                        <a:buNone/>
                      </a:pPr>
                      <a:r>
                        <a:rPr b="1" lang="sv-SE" sz="1100"/>
                        <a:t>X (next)</a:t>
                      </a:r>
                      <a:endParaRPr b="1" sz="1100"/>
                    </a:p>
                  </a:txBody>
                  <a:tcPr marT="68575" marB="68575" marR="91425" marL="91425"/>
                </a:tc>
                <a:tc>
                  <a:txBody>
                    <a:bodyPr/>
                    <a:lstStyle/>
                    <a:p>
                      <a:pPr indent="0" lvl="0" marL="0" rtl="0" algn="l">
                        <a:spcBef>
                          <a:spcPts val="0"/>
                        </a:spcBef>
                        <a:spcAft>
                          <a:spcPts val="0"/>
                        </a:spcAft>
                        <a:buNone/>
                      </a:pPr>
                      <a:r>
                        <a:rPr lang="sv-SE" sz="1100"/>
                        <a:t>X (weather == rain)</a:t>
                      </a:r>
                      <a:endParaRPr sz="1100"/>
                    </a:p>
                  </a:txBody>
                  <a:tcPr marT="68575" marB="68575" marR="91425" marL="91425"/>
                </a:tc>
                <a:tc>
                  <a:txBody>
                    <a:bodyPr/>
                    <a:lstStyle/>
                    <a:p>
                      <a:pPr indent="0" lvl="0" marL="0" rtl="0" algn="l">
                        <a:spcBef>
                          <a:spcPts val="0"/>
                        </a:spcBef>
                        <a:spcAft>
                          <a:spcPts val="0"/>
                        </a:spcAft>
                        <a:buNone/>
                      </a:pPr>
                      <a:r>
                        <a:rPr lang="sv-SE" sz="1100"/>
                        <a:t>In the next state,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G (globally)</a:t>
                      </a:r>
                      <a:endParaRPr b="1" sz="1100"/>
                    </a:p>
                  </a:txBody>
                  <a:tcPr marT="68575" marB="68575" marR="91425" marL="91425"/>
                </a:tc>
                <a:tc>
                  <a:txBody>
                    <a:bodyPr/>
                    <a:lstStyle/>
                    <a:p>
                      <a:pPr indent="0" lvl="0" marL="0" rtl="0" algn="l">
                        <a:spcBef>
                          <a:spcPts val="0"/>
                        </a:spcBef>
                        <a:spcAft>
                          <a:spcPts val="0"/>
                        </a:spcAft>
                        <a:buNone/>
                      </a:pPr>
                      <a:r>
                        <a:rPr lang="sv-SE" sz="1100"/>
                        <a:t>G (weather == rain)</a:t>
                      </a:r>
                      <a:endParaRPr sz="1100"/>
                    </a:p>
                  </a:txBody>
                  <a:tcPr marT="68575" marB="68575" marR="91425" marL="91425"/>
                </a:tc>
                <a:tc>
                  <a:txBody>
                    <a:bodyPr/>
                    <a:lstStyle/>
                    <a:p>
                      <a:pPr indent="0" lvl="0" marL="0" rtl="0" algn="l">
                        <a:spcBef>
                          <a:spcPts val="0"/>
                        </a:spcBef>
                        <a:spcAft>
                          <a:spcPts val="0"/>
                        </a:spcAft>
                        <a:buNone/>
                      </a:pPr>
                      <a:r>
                        <a:rPr lang="sv-SE" sz="1100"/>
                        <a:t>Now and in</a:t>
                      </a:r>
                      <a:r>
                        <a:rPr lang="sv-SE" sz="1100"/>
                        <a:t> all future states,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F (finally)</a:t>
                      </a:r>
                      <a:endParaRPr b="1" sz="1100"/>
                    </a:p>
                  </a:txBody>
                  <a:tcPr marT="68575" marB="68575" marR="91425" marL="91425"/>
                </a:tc>
                <a:tc>
                  <a:txBody>
                    <a:bodyPr/>
                    <a:lstStyle/>
                    <a:p>
                      <a:pPr indent="0" lvl="0" marL="0" rtl="0" algn="l">
                        <a:spcBef>
                          <a:spcPts val="0"/>
                        </a:spcBef>
                        <a:spcAft>
                          <a:spcPts val="0"/>
                        </a:spcAft>
                        <a:buNone/>
                      </a:pPr>
                      <a:r>
                        <a:rPr lang="sv-SE" sz="1100"/>
                        <a:t>F (weather == rain)</a:t>
                      </a:r>
                      <a:endParaRPr sz="1100"/>
                    </a:p>
                  </a:txBody>
                  <a:tcPr marT="68575" marB="68575" marR="91425" marL="91425"/>
                </a:tc>
                <a:tc>
                  <a:txBody>
                    <a:bodyPr/>
                    <a:lstStyle/>
                    <a:p>
                      <a:pPr indent="0" lvl="0" marL="0" rtl="0" algn="l">
                        <a:spcBef>
                          <a:spcPts val="0"/>
                        </a:spcBef>
                        <a:spcAft>
                          <a:spcPts val="0"/>
                        </a:spcAft>
                        <a:buNone/>
                      </a:pPr>
                      <a:r>
                        <a:rPr lang="sv-SE" sz="1100"/>
                        <a:t>Eventually, there will be a state where it is raining.</a:t>
                      </a:r>
                      <a:endParaRPr sz="1100"/>
                    </a:p>
                  </a:txBody>
                  <a:tcPr marT="68575" marB="68575" marR="91425" marL="91425"/>
                </a:tc>
              </a:tr>
              <a:tr h="285750">
                <a:tc>
                  <a:txBody>
                    <a:bodyPr/>
                    <a:lstStyle/>
                    <a:p>
                      <a:pPr indent="0" lvl="0" marL="0" rtl="0" algn="l">
                        <a:spcBef>
                          <a:spcPts val="0"/>
                        </a:spcBef>
                        <a:spcAft>
                          <a:spcPts val="0"/>
                        </a:spcAft>
                        <a:buNone/>
                      </a:pPr>
                      <a:r>
                        <a:rPr b="1" lang="sv-SE" sz="1100"/>
                        <a:t>U (until)</a:t>
                      </a:r>
                      <a:endParaRPr b="1" sz="1100"/>
                    </a:p>
                  </a:txBody>
                  <a:tcPr marT="68575" marB="68575" marR="91425" marL="91425"/>
                </a:tc>
                <a:tc>
                  <a:txBody>
                    <a:bodyPr/>
                    <a:lstStyle/>
                    <a:p>
                      <a:pPr indent="0" lvl="0" marL="0" rtl="0" algn="l">
                        <a:spcBef>
                          <a:spcPts val="0"/>
                        </a:spcBef>
                        <a:spcAft>
                          <a:spcPts val="0"/>
                        </a:spcAft>
                        <a:buNone/>
                      </a:pPr>
                      <a:r>
                        <a:rPr lang="sv-SE" sz="1100"/>
                        <a:t>(weather == rain)</a:t>
                      </a:r>
                      <a:r>
                        <a:rPr lang="sv-SE" sz="1100"/>
                        <a:t> U (temperature &lt; 0)</a:t>
                      </a:r>
                      <a:endParaRPr sz="1100"/>
                    </a:p>
                  </a:txBody>
                  <a:tcPr marT="68575" marB="68575" marR="91425" marL="91425"/>
                </a:tc>
                <a:tc>
                  <a:txBody>
                    <a:bodyPr/>
                    <a:lstStyle/>
                    <a:p>
                      <a:pPr indent="0" lvl="0" marL="0" rtl="0" algn="l">
                        <a:spcBef>
                          <a:spcPts val="0"/>
                        </a:spcBef>
                        <a:spcAft>
                          <a:spcPts val="0"/>
                        </a:spcAft>
                        <a:buNone/>
                      </a:pPr>
                      <a:r>
                        <a:rPr lang="sv-SE" sz="1100"/>
                        <a:t>It will rain until the temperature drops below 0. </a:t>
                      </a:r>
                      <a:endParaRPr sz="1100"/>
                    </a:p>
                    <a:p>
                      <a:pPr indent="0" lvl="0" marL="0" rtl="0" algn="l">
                        <a:spcBef>
                          <a:spcPts val="0"/>
                        </a:spcBef>
                        <a:spcAft>
                          <a:spcPts val="0"/>
                        </a:spcAft>
                        <a:buNone/>
                      </a:pPr>
                      <a:r>
                        <a:rPr lang="sv-SE" sz="1100"/>
                        <a:t>(The value of “weather” can change once temperature is less than 0)</a:t>
                      </a:r>
                      <a:endParaRPr sz="1100"/>
                    </a:p>
                  </a:txBody>
                  <a:tcPr marT="68575" marB="68575" marR="91425" marL="91425"/>
                </a:tc>
              </a:tr>
              <a:tr h="285750">
                <a:tc>
                  <a:txBody>
                    <a:bodyPr/>
                    <a:lstStyle/>
                    <a:p>
                      <a:pPr indent="0" lvl="0" marL="0" rtl="0" algn="l">
                        <a:spcBef>
                          <a:spcPts val="0"/>
                        </a:spcBef>
                        <a:spcAft>
                          <a:spcPts val="0"/>
                        </a:spcAft>
                        <a:buNone/>
                      </a:pPr>
                      <a:r>
                        <a:rPr b="1" lang="sv-SE" sz="1100"/>
                        <a:t>R (release)</a:t>
                      </a:r>
                      <a:endParaRPr b="1" sz="1100"/>
                    </a:p>
                  </a:txBody>
                  <a:tcPr marT="68575" marB="68575" marR="91425" marL="91425"/>
                </a:tc>
                <a:tc>
                  <a:txBody>
                    <a:bodyPr/>
                    <a:lstStyle/>
                    <a:p>
                      <a:pPr indent="0" lvl="0" marL="0" rtl="0" algn="l">
                        <a:spcBef>
                          <a:spcPts val="0"/>
                        </a:spcBef>
                        <a:spcAft>
                          <a:spcPts val="0"/>
                        </a:spcAft>
                        <a:buNone/>
                      </a:pPr>
                      <a:r>
                        <a:rPr lang="sv-SE" sz="1100"/>
                        <a:t>weather == rain)</a:t>
                      </a:r>
                      <a:r>
                        <a:rPr lang="sv-SE" sz="1100"/>
                        <a:t> R </a:t>
                      </a:r>
                      <a:r>
                        <a:rPr lang="sv-SE" sz="1100"/>
                        <a:t>(temperature &lt; 0)</a:t>
                      </a:r>
                      <a:endParaRPr sz="1100"/>
                    </a:p>
                  </a:txBody>
                  <a:tcPr marT="68575" marB="68575" marR="91425" marL="91425"/>
                </a:tc>
                <a:tc>
                  <a:txBody>
                    <a:bodyPr/>
                    <a:lstStyle/>
                    <a:p>
                      <a:pPr indent="0" lvl="0" marL="0" rtl="0" algn="l">
                        <a:spcBef>
                          <a:spcPts val="0"/>
                        </a:spcBef>
                        <a:spcAft>
                          <a:spcPts val="0"/>
                        </a:spcAft>
                        <a:buNone/>
                      </a:pPr>
                      <a:r>
                        <a:rPr lang="sv-SE" sz="1100"/>
                        <a:t>It will cease to rain after </a:t>
                      </a:r>
                      <a:r>
                        <a:rPr lang="sv-SE" sz="1100"/>
                        <a:t>the temperature drops below 0</a:t>
                      </a:r>
                      <a:r>
                        <a:rPr lang="sv-SE" sz="1100"/>
                        <a:t>. </a:t>
                      </a:r>
                      <a:endParaRPr sz="1100"/>
                    </a:p>
                    <a:p>
                      <a:pPr indent="0" lvl="0" marL="0" rtl="0" algn="l">
                        <a:spcBef>
                          <a:spcPts val="0"/>
                        </a:spcBef>
                        <a:spcAft>
                          <a:spcPts val="0"/>
                        </a:spcAft>
                        <a:buNone/>
                      </a:pPr>
                      <a:r>
                        <a:rPr lang="sv-SE" sz="1100"/>
                        <a:t>(Both operands must be true at the same time for at least one state before the value of “weather” can change)</a:t>
                      </a:r>
                      <a:endParaRPr sz="1100"/>
                    </a:p>
                  </a:txBody>
                  <a:tcPr marT="68575" marB="68575" marR="91425" marL="91425"/>
                </a:tc>
              </a:tr>
            </a:tbl>
          </a:graphicData>
        </a:graphic>
      </p:graphicFrame>
      <p:sp>
        <p:nvSpPr>
          <p:cNvPr id="112" name="Google Shape;112;p1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Computation Tree Logic Formulae</a:t>
            </a:r>
            <a:endParaRPr/>
          </a:p>
        </p:txBody>
      </p:sp>
      <p:sp>
        <p:nvSpPr>
          <p:cNvPr id="118" name="Google Shape;118;p18"/>
          <p:cNvSpPr txBox="1"/>
          <p:nvPr>
            <p:ph idx="1" type="body"/>
          </p:nvPr>
        </p:nvSpPr>
        <p:spPr>
          <a:xfrm>
            <a:off x="468900" y="1234100"/>
            <a:ext cx="8528100" cy="3528600"/>
          </a:xfrm>
          <a:prstGeom prst="rect">
            <a:avLst/>
          </a:prstGeom>
        </p:spPr>
        <p:txBody>
          <a:bodyPr anchorCtr="0" anchor="t" bIns="45700" lIns="91425" spcFirstLastPara="1" rIns="91425" wrap="square" tIns="45700">
            <a:noAutofit/>
          </a:bodyPr>
          <a:lstStyle/>
          <a:p>
            <a:pPr indent="0" lvl="0" marL="0" marR="0" rtl="0" algn="l">
              <a:lnSpc>
                <a:spcPct val="100000"/>
              </a:lnSpc>
              <a:spcBef>
                <a:spcPts val="600"/>
              </a:spcBef>
              <a:spcAft>
                <a:spcPts val="0"/>
              </a:spcAft>
              <a:buNone/>
            </a:pPr>
            <a:r>
              <a:rPr b="1" lang="sv-SE" sz="1800">
                <a:solidFill>
                  <a:schemeClr val="accent3"/>
                </a:solidFill>
              </a:rPr>
              <a:t>Combine path quantifier (A, E) with a temporal operator (X, G, F, U, W):</a:t>
            </a:r>
            <a:endParaRPr b="1" sz="1800">
              <a:solidFill>
                <a:schemeClr val="accent3"/>
              </a:solidFill>
            </a:endParaRPr>
          </a:p>
          <a:p>
            <a:pPr indent="0" lvl="0" marL="0" marR="0" rtl="0" algn="l">
              <a:lnSpc>
                <a:spcPct val="100000"/>
              </a:lnSpc>
              <a:spcBef>
                <a:spcPts val="600"/>
              </a:spcBef>
              <a:spcAft>
                <a:spcPts val="0"/>
              </a:spcAft>
              <a:buNone/>
            </a:pPr>
            <a:r>
              <a:t/>
            </a:r>
            <a:endParaRPr sz="2400"/>
          </a:p>
        </p:txBody>
      </p:sp>
      <p:graphicFrame>
        <p:nvGraphicFramePr>
          <p:cNvPr id="119" name="Google Shape;119;p18"/>
          <p:cNvGraphicFramePr/>
          <p:nvPr/>
        </p:nvGraphicFramePr>
        <p:xfrm>
          <a:off x="1769438" y="1892250"/>
          <a:ext cx="3000000" cy="3000000"/>
        </p:xfrm>
        <a:graphic>
          <a:graphicData uri="http://schemas.openxmlformats.org/drawingml/2006/table">
            <a:tbl>
              <a:tblPr>
                <a:noFill/>
                <a:tableStyleId>{7A5E7F53-5B6F-45C4-B0E2-CE0FFD77A4AF}</a:tableStyleId>
              </a:tblPr>
              <a:tblGrid>
                <a:gridCol w="1264150"/>
                <a:gridCol w="4352675"/>
              </a:tblGrid>
              <a:tr h="285750">
                <a:tc>
                  <a:txBody>
                    <a:bodyPr/>
                    <a:lstStyle/>
                    <a:p>
                      <a:pPr indent="0" lvl="0" marL="0" rtl="0" algn="l">
                        <a:spcBef>
                          <a:spcPts val="0"/>
                        </a:spcBef>
                        <a:spcAft>
                          <a:spcPts val="0"/>
                        </a:spcAft>
                        <a:buNone/>
                      </a:pPr>
                      <a:r>
                        <a:rPr b="1" lang="sv-SE" sz="1100"/>
                        <a:t>A (all)</a:t>
                      </a:r>
                      <a:endParaRPr b="1" sz="1100"/>
                    </a:p>
                  </a:txBody>
                  <a:tcPr marT="68575" marB="68575" marR="91425" marL="91425"/>
                </a:tc>
                <a:tc>
                  <a:txBody>
                    <a:bodyPr/>
                    <a:lstStyle/>
                    <a:p>
                      <a:pPr indent="0" lvl="0" marL="0" rtl="0" algn="l">
                        <a:spcBef>
                          <a:spcPts val="0"/>
                        </a:spcBef>
                        <a:spcAft>
                          <a:spcPts val="0"/>
                        </a:spcAft>
                        <a:buNone/>
                      </a:pPr>
                      <a:r>
                        <a:rPr lang="sv-SE" sz="1100"/>
                        <a:t>Affects </a:t>
                      </a:r>
                      <a:r>
                        <a:rPr b="1" lang="sv-SE" sz="1100"/>
                        <a:t>all paths</a:t>
                      </a:r>
                      <a:r>
                        <a:rPr lang="sv-SE" sz="1100"/>
                        <a:t> branching out from the current state.</a:t>
                      </a:r>
                      <a:endParaRPr sz="1100"/>
                    </a:p>
                  </a:txBody>
                  <a:tcPr marT="68575" marB="68575" marR="91425" marL="91425"/>
                </a:tc>
              </a:tr>
              <a:tr h="285750">
                <a:tc>
                  <a:txBody>
                    <a:bodyPr/>
                    <a:lstStyle/>
                    <a:p>
                      <a:pPr indent="0" lvl="0" marL="0" rtl="0" algn="l">
                        <a:spcBef>
                          <a:spcPts val="0"/>
                        </a:spcBef>
                        <a:spcAft>
                          <a:spcPts val="0"/>
                        </a:spcAft>
                        <a:buNone/>
                      </a:pPr>
                      <a:r>
                        <a:rPr b="1" lang="sv-SE" sz="1100"/>
                        <a:t>E (exists)</a:t>
                      </a:r>
                      <a:endParaRPr b="1" sz="1100"/>
                    </a:p>
                  </a:txBody>
                  <a:tcPr marT="68575" marB="68575" marR="91425" marL="91425"/>
                </a:tc>
                <a:tc>
                  <a:txBody>
                    <a:bodyPr/>
                    <a:lstStyle/>
                    <a:p>
                      <a:pPr indent="0" lvl="0" marL="0" rtl="0" algn="l">
                        <a:spcBef>
                          <a:spcPts val="0"/>
                        </a:spcBef>
                        <a:spcAft>
                          <a:spcPts val="0"/>
                        </a:spcAft>
                        <a:buNone/>
                      </a:pPr>
                      <a:r>
                        <a:rPr lang="sv-SE" sz="1100"/>
                        <a:t>Affects </a:t>
                      </a:r>
                      <a:r>
                        <a:rPr b="1" lang="sv-SE" sz="1100"/>
                        <a:t>at least one path</a:t>
                      </a:r>
                      <a:r>
                        <a:rPr lang="sv-SE" sz="1100"/>
                        <a:t> branching out from the current state.</a:t>
                      </a:r>
                      <a:endParaRPr sz="1100"/>
                    </a:p>
                  </a:txBody>
                  <a:tcPr marT="68575" marB="68575" marR="91425" marL="91425"/>
                </a:tc>
              </a:tr>
            </a:tbl>
          </a:graphicData>
        </a:graphic>
      </p:graphicFrame>
      <p:sp>
        <p:nvSpPr>
          <p:cNvPr id="120" name="Google Shape;120;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graphicFrame>
        <p:nvGraphicFramePr>
          <p:cNvPr id="121" name="Google Shape;121;p18"/>
          <p:cNvGraphicFramePr/>
          <p:nvPr/>
        </p:nvGraphicFramePr>
        <p:xfrm>
          <a:off x="622400" y="2840456"/>
          <a:ext cx="3000000" cy="3000000"/>
        </p:xfrm>
        <a:graphic>
          <a:graphicData uri="http://schemas.openxmlformats.org/drawingml/2006/table">
            <a:tbl>
              <a:tblPr>
                <a:noFill/>
                <a:tableStyleId>{7A5E7F53-5B6F-45C4-B0E2-CE0FFD77A4AF}</a:tableStyleId>
              </a:tblPr>
              <a:tblGrid>
                <a:gridCol w="1379450"/>
                <a:gridCol w="1770100"/>
                <a:gridCol w="4749650"/>
              </a:tblGrid>
              <a:tr h="285750">
                <a:tc>
                  <a:txBody>
                    <a:bodyPr/>
                    <a:lstStyle/>
                    <a:p>
                      <a:pPr indent="0" lvl="0" marL="0" rtl="0" algn="l">
                        <a:spcBef>
                          <a:spcPts val="0"/>
                        </a:spcBef>
                        <a:spcAft>
                          <a:spcPts val="0"/>
                        </a:spcAft>
                        <a:buNone/>
                      </a:pPr>
                      <a:r>
                        <a:rPr b="1" lang="sv-SE" sz="1100"/>
                        <a:t>X (next)</a:t>
                      </a:r>
                      <a:endParaRPr b="1" sz="1100"/>
                    </a:p>
                  </a:txBody>
                  <a:tcPr marT="68575" marB="68575" marR="91425" marL="91425"/>
                </a:tc>
                <a:tc>
                  <a:txBody>
                    <a:bodyPr/>
                    <a:lstStyle/>
                    <a:p>
                      <a:pPr indent="0" lvl="0" marL="0" rtl="0" algn="l">
                        <a:spcBef>
                          <a:spcPts val="0"/>
                        </a:spcBef>
                        <a:spcAft>
                          <a:spcPts val="0"/>
                        </a:spcAft>
                        <a:buNone/>
                      </a:pPr>
                      <a:r>
                        <a:rPr lang="sv-SE" sz="1100"/>
                        <a:t>X (weather == rain)</a:t>
                      </a:r>
                      <a:endParaRPr sz="1100"/>
                    </a:p>
                  </a:txBody>
                  <a:tcPr marT="68575" marB="68575" marR="91425" marL="91425"/>
                </a:tc>
                <a:tc>
                  <a:txBody>
                    <a:bodyPr/>
                    <a:lstStyle/>
                    <a:p>
                      <a:pPr indent="0" lvl="0" marL="0" rtl="0" algn="l">
                        <a:spcBef>
                          <a:spcPts val="0"/>
                        </a:spcBef>
                        <a:spcAft>
                          <a:spcPts val="0"/>
                        </a:spcAft>
                        <a:buNone/>
                      </a:pPr>
                      <a:r>
                        <a:rPr lang="sv-SE" sz="1100"/>
                        <a:t>In the next state on this path,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G (globally)</a:t>
                      </a:r>
                      <a:endParaRPr b="1" sz="1100"/>
                    </a:p>
                  </a:txBody>
                  <a:tcPr marT="68575" marB="68575" marR="91425" marL="91425"/>
                </a:tc>
                <a:tc>
                  <a:txBody>
                    <a:bodyPr/>
                    <a:lstStyle/>
                    <a:p>
                      <a:pPr indent="0" lvl="0" marL="0" rtl="0" algn="l">
                        <a:spcBef>
                          <a:spcPts val="0"/>
                        </a:spcBef>
                        <a:spcAft>
                          <a:spcPts val="0"/>
                        </a:spcAft>
                        <a:buNone/>
                      </a:pPr>
                      <a:r>
                        <a:rPr lang="sv-SE" sz="1100"/>
                        <a:t>G (weather == rain)</a:t>
                      </a:r>
                      <a:endParaRPr sz="1100"/>
                    </a:p>
                  </a:txBody>
                  <a:tcPr marT="68575" marB="68575" marR="91425" marL="91425"/>
                </a:tc>
                <a:tc>
                  <a:txBody>
                    <a:bodyPr/>
                    <a:lstStyle/>
                    <a:p>
                      <a:pPr indent="0" lvl="0" marL="0" rtl="0" algn="l">
                        <a:spcBef>
                          <a:spcPts val="0"/>
                        </a:spcBef>
                        <a:spcAft>
                          <a:spcPts val="0"/>
                        </a:spcAft>
                        <a:buNone/>
                      </a:pPr>
                      <a:r>
                        <a:rPr lang="sv-SE" sz="1100"/>
                        <a:t>Now and in all future states on this path, it will be raining.</a:t>
                      </a:r>
                      <a:endParaRPr sz="1100"/>
                    </a:p>
                  </a:txBody>
                  <a:tcPr marT="68575" marB="68575" marR="91425" marL="91425"/>
                </a:tc>
              </a:tr>
              <a:tr h="285750">
                <a:tc>
                  <a:txBody>
                    <a:bodyPr/>
                    <a:lstStyle/>
                    <a:p>
                      <a:pPr indent="0" lvl="0" marL="0" rtl="0" algn="l">
                        <a:spcBef>
                          <a:spcPts val="0"/>
                        </a:spcBef>
                        <a:spcAft>
                          <a:spcPts val="0"/>
                        </a:spcAft>
                        <a:buNone/>
                      </a:pPr>
                      <a:r>
                        <a:rPr b="1" lang="sv-SE" sz="1100"/>
                        <a:t>F (finally)</a:t>
                      </a:r>
                      <a:endParaRPr b="1" sz="1100"/>
                    </a:p>
                  </a:txBody>
                  <a:tcPr marT="68575" marB="68575" marR="91425" marL="91425"/>
                </a:tc>
                <a:tc>
                  <a:txBody>
                    <a:bodyPr/>
                    <a:lstStyle/>
                    <a:p>
                      <a:pPr indent="0" lvl="0" marL="0" rtl="0" algn="l">
                        <a:spcBef>
                          <a:spcPts val="0"/>
                        </a:spcBef>
                        <a:spcAft>
                          <a:spcPts val="0"/>
                        </a:spcAft>
                        <a:buNone/>
                      </a:pPr>
                      <a:r>
                        <a:rPr lang="sv-SE" sz="1100"/>
                        <a:t>F (weather == rain)</a:t>
                      </a:r>
                      <a:endParaRPr sz="1100"/>
                    </a:p>
                  </a:txBody>
                  <a:tcPr marT="68575" marB="68575" marR="91425" marL="91425"/>
                </a:tc>
                <a:tc>
                  <a:txBody>
                    <a:bodyPr/>
                    <a:lstStyle/>
                    <a:p>
                      <a:pPr indent="0" lvl="0" marL="0" rtl="0" algn="l">
                        <a:spcBef>
                          <a:spcPts val="0"/>
                        </a:spcBef>
                        <a:spcAft>
                          <a:spcPts val="0"/>
                        </a:spcAft>
                        <a:buNone/>
                      </a:pPr>
                      <a:r>
                        <a:rPr lang="sv-SE" sz="1100"/>
                        <a:t>Eventually on this path, there will be a state where it is raining.</a:t>
                      </a:r>
                      <a:endParaRPr sz="1100"/>
                    </a:p>
                  </a:txBody>
                  <a:tcPr marT="68575" marB="68575" marR="91425" marL="91425"/>
                </a:tc>
              </a:tr>
              <a:tr h="285750">
                <a:tc>
                  <a:txBody>
                    <a:bodyPr/>
                    <a:lstStyle/>
                    <a:p>
                      <a:pPr indent="0" lvl="0" marL="0" rtl="0" algn="l">
                        <a:spcBef>
                          <a:spcPts val="0"/>
                        </a:spcBef>
                        <a:spcAft>
                          <a:spcPts val="0"/>
                        </a:spcAft>
                        <a:buNone/>
                      </a:pPr>
                      <a:r>
                        <a:rPr b="1" lang="sv-SE" sz="1100"/>
                        <a:t>U (until)</a:t>
                      </a:r>
                      <a:endParaRPr b="1" sz="1100"/>
                    </a:p>
                  </a:txBody>
                  <a:tcPr marT="68575" marB="68575" marR="91425" marL="91425"/>
                </a:tc>
                <a:tc>
                  <a:txBody>
                    <a:bodyPr/>
                    <a:lstStyle/>
                    <a:p>
                      <a:pPr indent="0" lvl="0" marL="0" rtl="0" algn="l">
                        <a:spcBef>
                          <a:spcPts val="0"/>
                        </a:spcBef>
                        <a:spcAft>
                          <a:spcPts val="0"/>
                        </a:spcAft>
                        <a:buNone/>
                      </a:pPr>
                      <a:r>
                        <a:rPr lang="sv-SE" sz="1100"/>
                        <a:t>(weather == rain) U (temperature &lt; 0)</a:t>
                      </a:r>
                      <a:endParaRPr sz="1100"/>
                    </a:p>
                  </a:txBody>
                  <a:tcPr marT="68575" marB="68575" marR="91425" marL="91425"/>
                </a:tc>
                <a:tc>
                  <a:txBody>
                    <a:bodyPr/>
                    <a:lstStyle/>
                    <a:p>
                      <a:pPr indent="0" lvl="0" marL="0" rtl="0" algn="l">
                        <a:spcBef>
                          <a:spcPts val="0"/>
                        </a:spcBef>
                        <a:spcAft>
                          <a:spcPts val="0"/>
                        </a:spcAft>
                        <a:buNone/>
                      </a:pPr>
                      <a:r>
                        <a:rPr lang="sv-SE" sz="1100"/>
                        <a:t>On this path, i</a:t>
                      </a:r>
                      <a:r>
                        <a:rPr lang="sv-SE" sz="1100"/>
                        <a:t>t will rain until the temperature drops below 0. </a:t>
                      </a:r>
                      <a:endParaRPr sz="1100"/>
                    </a:p>
                    <a:p>
                      <a:pPr indent="0" lvl="0" marL="0" rtl="0" algn="l">
                        <a:spcBef>
                          <a:spcPts val="0"/>
                        </a:spcBef>
                        <a:spcAft>
                          <a:spcPts val="0"/>
                        </a:spcAft>
                        <a:buNone/>
                      </a:pPr>
                      <a:r>
                        <a:rPr lang="sv-SE" sz="1100"/>
                        <a:t>(The temperature must eventually be less than 0)</a:t>
                      </a:r>
                      <a:endParaRPr sz="1100"/>
                    </a:p>
                  </a:txBody>
                  <a:tcPr marT="68575" marB="68575" marR="91425" marL="91425"/>
                </a:tc>
              </a:tr>
              <a:tr h="285750">
                <a:tc>
                  <a:txBody>
                    <a:bodyPr/>
                    <a:lstStyle/>
                    <a:p>
                      <a:pPr indent="0" lvl="0" marL="0" rtl="0" algn="l">
                        <a:spcBef>
                          <a:spcPts val="0"/>
                        </a:spcBef>
                        <a:spcAft>
                          <a:spcPts val="0"/>
                        </a:spcAft>
                        <a:buNone/>
                      </a:pPr>
                      <a:r>
                        <a:rPr b="1" lang="sv-SE" sz="1100"/>
                        <a:t>W (weak until)</a:t>
                      </a:r>
                      <a:endParaRPr b="1" sz="1100"/>
                    </a:p>
                  </a:txBody>
                  <a:tcPr marT="68575" marB="68575" marR="91425" marL="91425"/>
                </a:tc>
                <a:tc>
                  <a:txBody>
                    <a:bodyPr/>
                    <a:lstStyle/>
                    <a:p>
                      <a:pPr indent="0" lvl="0" marL="0" rtl="0" algn="l">
                        <a:spcBef>
                          <a:spcPts val="0"/>
                        </a:spcBef>
                        <a:spcAft>
                          <a:spcPts val="0"/>
                        </a:spcAft>
                        <a:buNone/>
                      </a:pPr>
                      <a:r>
                        <a:rPr lang="sv-SE" sz="1100"/>
                        <a:t>weather == rain) W (temperature &lt; 0)</a:t>
                      </a:r>
                      <a:endParaRPr sz="1100"/>
                    </a:p>
                  </a:txBody>
                  <a:tcPr marT="68575" marB="68575" marR="91425" marL="91425"/>
                </a:tc>
                <a:tc>
                  <a:txBody>
                    <a:bodyPr/>
                    <a:lstStyle/>
                    <a:p>
                      <a:pPr indent="0" lvl="0" marL="0" rtl="0" algn="l">
                        <a:spcBef>
                          <a:spcPts val="0"/>
                        </a:spcBef>
                        <a:spcAft>
                          <a:spcPts val="0"/>
                        </a:spcAft>
                        <a:buNone/>
                      </a:pPr>
                      <a:r>
                        <a:rPr lang="sv-SE" sz="1100"/>
                        <a:t>On this path, it will rain until the temperature drops below 0. </a:t>
                      </a:r>
                      <a:endParaRPr sz="1100"/>
                    </a:p>
                    <a:p>
                      <a:pPr indent="0" lvl="0" marL="0" rtl="0" algn="l">
                        <a:spcBef>
                          <a:spcPts val="0"/>
                        </a:spcBef>
                        <a:spcAft>
                          <a:spcPts val="0"/>
                        </a:spcAft>
                        <a:buNone/>
                      </a:pPr>
                      <a:r>
                        <a:rPr lang="sv-SE" sz="1100"/>
                        <a:t>(The temperature could remain above 0 forever)</a:t>
                      </a:r>
                      <a:endParaRPr sz="1100"/>
                    </a:p>
                  </a:txBody>
                  <a:tcPr marT="68575" marB="6857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28" name="Google Shape;128;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500"/>
              <a:t>Try to Verify the Model and Properties</a:t>
            </a:r>
            <a:endParaRPr sz="3500"/>
          </a:p>
        </p:txBody>
      </p:sp>
      <p:sp>
        <p:nvSpPr>
          <p:cNvPr id="129" name="Google Shape;129;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u="sng">
                <a:solidFill>
                  <a:schemeClr val="hlink"/>
                </a:solidFill>
                <a:hlinkClick r:id="rId3"/>
              </a:rPr>
              <a:t>http://nusmv.fbk.eu/</a:t>
            </a:r>
            <a:endParaRPr/>
          </a:p>
          <a:p>
            <a:pPr indent="-368300" lvl="1" marL="914400" rtl="0" algn="l">
              <a:spcBef>
                <a:spcPts val="0"/>
              </a:spcBef>
              <a:spcAft>
                <a:spcPts val="0"/>
              </a:spcAft>
              <a:buSzPts val="2200"/>
              <a:buChar char="•"/>
            </a:pPr>
            <a:r>
              <a:rPr lang="sv-SE"/>
              <a:t>NuSMV homepage (tool download, tutorials, etc.)</a:t>
            </a:r>
            <a:endParaRPr/>
          </a:p>
          <a:p>
            <a:pPr indent="-368300" lvl="1" marL="914400" rtl="0" algn="l">
              <a:spcBef>
                <a:spcPts val="0"/>
              </a:spcBef>
              <a:spcAft>
                <a:spcPts val="0"/>
              </a:spcAft>
              <a:buSzPts val="2200"/>
              <a:buChar char="•"/>
            </a:pPr>
            <a:r>
              <a:rPr lang="sv-SE"/>
              <a:t>Use NuSMV 2.6.</a:t>
            </a:r>
            <a:endParaRPr/>
          </a:p>
          <a:p>
            <a:pPr indent="-393700" lvl="0" marL="457200" rtl="0" algn="l">
              <a:spcBef>
                <a:spcPts val="0"/>
              </a:spcBef>
              <a:spcAft>
                <a:spcPts val="0"/>
              </a:spcAft>
              <a:buSzPts val="2600"/>
              <a:buChar char="•"/>
            </a:pPr>
            <a:r>
              <a:rPr lang="sv-SE"/>
              <a:t>Define </a:t>
            </a:r>
            <a:r>
              <a:rPr b="1" lang="sv-SE">
                <a:solidFill>
                  <a:schemeClr val="accent3"/>
                </a:solidFill>
                <a:latin typeface="Consolas"/>
                <a:ea typeface="Consolas"/>
                <a:cs typeface="Consolas"/>
                <a:sym typeface="Consolas"/>
              </a:rPr>
              <a:t>next(Cooking)</a:t>
            </a:r>
            <a:r>
              <a:rPr lang="sv-SE"/>
              <a:t> such that the two example properties hold. See if your properties hold.</a:t>
            </a:r>
            <a:endParaRPr/>
          </a:p>
          <a:p>
            <a:pPr indent="-368300" lvl="1" marL="914400" rtl="0" algn="l">
              <a:spcBef>
                <a:spcPts val="0"/>
              </a:spcBef>
              <a:spcAft>
                <a:spcPts val="0"/>
              </a:spcAft>
              <a:buSzPts val="2200"/>
              <a:buChar char="•"/>
            </a:pPr>
            <a:r>
              <a:rPr lang="sv-SE"/>
              <a:t>If they don’t, make sure the properties are correct.</a:t>
            </a:r>
            <a:endParaRPr/>
          </a:p>
          <a:p>
            <a:pPr indent="-368300" lvl="1" marL="914400" rtl="0" algn="l">
              <a:spcBef>
                <a:spcPts val="0"/>
              </a:spcBef>
              <a:spcAft>
                <a:spcPts val="0"/>
              </a:spcAft>
              <a:buSzPts val="2200"/>
              <a:buChar char="•"/>
            </a:pPr>
            <a:r>
              <a:rPr lang="sv-SE"/>
              <a:t>Then, make sure the model is complete and correct.</a:t>
            </a:r>
            <a:endParaRPr/>
          </a:p>
          <a:p>
            <a:pPr indent="-393700" lvl="0" marL="457200" rtl="0" algn="l">
              <a:spcBef>
                <a:spcPts val="0"/>
              </a:spcBef>
              <a:spcAft>
                <a:spcPts val="0"/>
              </a:spcAft>
              <a:buSzPts val="2600"/>
              <a:buChar char="•"/>
            </a:pPr>
            <a:r>
              <a:rPr lang="sv-SE"/>
              <a:t>If you get stuck, a sample solution is on Canvas.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