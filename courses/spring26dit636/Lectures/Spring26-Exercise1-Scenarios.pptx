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5"/>
    <p:sldMasterId id="2147483657" r:id="rId6"/>
    <p:sldMasterId id="214748365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5A99B5B-E9A3-446E-95AF-A5553DD498A8}">
  <a:tblStyle styleId="{E5A99B5B-E9A3-446E-95AF-A5553DD498A8}"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5" Type="http://schemas.openxmlformats.org/officeDocument/2006/relationships/slide" Target="slides/slide17.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(breakout rooms - just ask me or a TA)</a:t>
            </a:r>
            <a:endParaRPr/>
          </a:p>
        </p:txBody>
      </p:sp>
      <p:sp>
        <p:nvSpPr>
          <p:cNvPr id="74" name="Google Shape;7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76911151f1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1" name="Google Shape;81;g76911151f1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sz="1100">
                <a:solidFill>
                  <a:srgbClr val="000000"/>
                </a:solidFill>
                <a:latin typeface="Arial"/>
                <a:ea typeface="Arial"/>
                <a:cs typeface="Arial"/>
                <a:sym typeface="Arial"/>
              </a:rPr>
              <a:t>You have been asked to develop a new automated parking system at the Landvetter airport. </a:t>
            </a:r>
            <a:endParaRPr sz="1100">
              <a:solidFill>
                <a:srgbClr val="000000"/>
              </a:solidFill>
              <a:latin typeface="Arial"/>
              <a:ea typeface="Arial"/>
              <a:cs typeface="Arial"/>
              <a:sym typeface="Arial"/>
            </a:endParaRPr>
          </a:p>
          <a:p>
            <a:pPr indent="0" lvl="0" marL="0" rtl="0" algn="l">
              <a:spcBef>
                <a:spcPts val="600"/>
              </a:spcBef>
              <a:spcAft>
                <a:spcPts val="0"/>
              </a:spcAft>
              <a:buNone/>
            </a:pPr>
            <a:r>
              <a:rPr lang="sv-SE" sz="1100">
                <a:solidFill>
                  <a:srgbClr val="000000"/>
                </a:solidFill>
                <a:latin typeface="Arial"/>
                <a:ea typeface="Arial"/>
                <a:cs typeface="Arial"/>
                <a:sym typeface="Arial"/>
              </a:rPr>
              <a:t>In this new system, a user can simply insert their credit or debit card into the card reader at the ramp entrance. This will record the time they entered airport parking. They then can use the same credit or debit card to pay at an exit lane. The system should be fully automated; there is no waiting in line for a cashier. The system should also support ticketed parking: where the user receives a ticket and pays either by credit card or cash on exiting.</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82" name="Google Shape;82;g76911151f1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64f8c70c8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0" name="Google Shape;90;g264f8c70c8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298450" lvl="0" marL="457200" rtl="0" algn="l">
              <a:spcBef>
                <a:spcPts val="600"/>
              </a:spcBef>
              <a:spcAft>
                <a:spcPts val="0"/>
              </a:spcAft>
              <a:buClr>
                <a:schemeClr val="dk1"/>
              </a:buClr>
              <a:buSzPts val="1100"/>
              <a:buChar char="●"/>
            </a:pPr>
            <a:r>
              <a:rPr lang="sv-SE" sz="1100">
                <a:latin typeface="Arial"/>
                <a:ea typeface="Arial"/>
                <a:cs typeface="Arial"/>
                <a:sym typeface="Arial"/>
              </a:rPr>
              <a:t>Customers parking in the ramp</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sv-SE" sz="1100">
                <a:latin typeface="Arial"/>
                <a:ea typeface="Arial"/>
                <a:cs typeface="Arial"/>
                <a:sym typeface="Arial"/>
              </a:rPr>
              <a:t>Airport police and emergency responders (who should be able to enter without paying or getting a ticket).</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sv-SE" sz="1100">
                <a:latin typeface="Arial"/>
                <a:ea typeface="Arial"/>
                <a:cs typeface="Arial"/>
                <a:sym typeface="Arial"/>
              </a:rPr>
              <a:t>External systems for validating credit card payments</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sv-SE" sz="1100">
                <a:latin typeface="Arial"/>
                <a:ea typeface="Arial"/>
                <a:cs typeface="Arial"/>
                <a:sym typeface="Arial"/>
              </a:rPr>
              <a:t>An accounting database.</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sv-SE" sz="1100">
                <a:latin typeface="Arial"/>
                <a:ea typeface="Arial"/>
                <a:cs typeface="Arial"/>
                <a:sym typeface="Arial"/>
              </a:rPr>
              <a:t>Physical gate hardware with basic controllers (raise / lower).</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sv-SE" sz="1100">
                <a:latin typeface="Arial"/>
                <a:ea typeface="Arial"/>
                <a:cs typeface="Arial"/>
                <a:sym typeface="Arial"/>
              </a:rPr>
              <a:t>Physical signs with displays indicating the number of remaining parking spots.</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sv-SE" sz="1100">
                <a:latin typeface="Arial"/>
                <a:ea typeface="Arial"/>
                <a:cs typeface="Arial"/>
                <a:sym typeface="Arial"/>
              </a:rPr>
              <a:t>Security systems, including cameras and alarms</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91" name="Google Shape;91;g264f8c70c8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682e97884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2682e97884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t>There are different formats for writing scenarios. I know you used one in the architecture class, but we are going to use a slightly different one here that prepares us nicely for writing test cases. When creating a scenario, you define six pieces of information. (click) First, you give a brief overview, desribing the goal of the scenario. What do you hope to show about the system using a scenario? What are the execution conditions you want to highlight for that part of the system? (click) Then, we set pre-considitions. What is the the internal state of the system when the stimulus occurs (if significant). This may revolve around information stored in the system that will affect the execution, current number of concurrent users, number of waiting tasks in a queue, that could influence the resulting quality with regard to the attribute we care about. (click) we then look at the relevant factors in the system’s external environment - any significant observations about the environment that the system is running in, related to other pieces of software, infrastructure, even the physical world - such as the unavailability of external systems, current network conditions, particular infrastructure behavior, whether we can access a piece of hardware, if there is a fire in a room, and so on. Is there any special external factor that might influence system quality beyond the direct stimulus.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2682e97884_0_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2682e97884_0_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solidFill>
                  <a:srgbClr val="4F4F4F"/>
                </a:solidFill>
              </a:rPr>
              <a:t>then, we define the stimulus. All scenarios start with a stimulus. This is some kind of event that forces the systme to act. This can be a request made to the system by a user or exernal system, or some change in the system’s environment that forces it to act, like a timer going off or a sensor getting a reading. It could be a failure of the system that triggers a sequence of events. This is some kind of trigger that makes the system act. This could be a user request, infrastructure changes or failures, changes in external system behavior, security attacks, required modifications, or any of the other factor that requires the system to act and to possess a particular quality property in order to deal with the stimulus successfully.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2682e97884_0_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2682e97884_0_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solidFill>
                  <a:srgbClr val="4F4F4F"/>
                </a:solidFill>
              </a:rPr>
              <a:t>Finally, the last two items. (click) The required system response is a definition of how the system must behave in response to the stimulus. This is the functional response - what does it do when faced with this stimulus in this environment and state? This should include specifically how the system meets the quality goal -  for instance, how does the system respond, from a functional point of view, to a defined increase in the number of requests arriving per minute (click) the response measure - this is how we judge whether the sysgtem met the quality goal. This should include a measurement - throuhput, timing, availability, mean time to repair, time to detect an intruder, etc - and a threshold that must be met. This is how we prove the system met our quality goal successfullly.</a:t>
            </a:r>
            <a:endParaRPr/>
          </a:p>
          <a:p>
            <a:pPr indent="0" lvl="0" marL="0" rtl="0" algn="l">
              <a:spcBef>
                <a:spcPts val="0"/>
              </a:spcBef>
              <a:spcAft>
                <a:spcPts val="0"/>
              </a:spcAft>
              <a:buNone/>
            </a:pPr>
            <a:r>
              <a:t/>
            </a:r>
            <a:endParaRPr>
              <a:solidFill>
                <a:srgbClr val="4F4F4F"/>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76911151f1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76911151f1_0_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solidFill>
                  <a:srgbClr val="4F4F4F"/>
                </a:solidFill>
              </a:rPr>
              <a:t>let’s do some examples together. Then, you can spend the rest of the time working on your own scenarios.</a:t>
            </a:r>
            <a:endParaRPr>
              <a:solidFill>
                <a:srgbClr val="4F4F4F"/>
              </a:solidFill>
            </a:endParaRPr>
          </a:p>
          <a:p>
            <a:pPr indent="0" lvl="0" marL="0" rtl="0" algn="l">
              <a:spcBef>
                <a:spcPts val="0"/>
              </a:spcBef>
              <a:spcAft>
                <a:spcPts val="0"/>
              </a:spcAft>
              <a:buNone/>
            </a:pPr>
            <a:r>
              <a:t/>
            </a:r>
            <a:endParaRPr/>
          </a:p>
        </p:txBody>
      </p:sp>
      <p:sp>
        <p:nvSpPr>
          <p:cNvPr id="126" name="Google Shape;126;g76911151f1_0_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b56cd651f5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b56cd651f5_0_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b56cd651f5_0_8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b56cd651f5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b56cd651f5_0_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b56cd651f5_0_9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b56cd651f5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b56cd651f5_0_1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b56cd651f5_0_1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b56cd651f5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b56cd651f5_0_1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b56cd651f5_0_1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b56cd651f5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b56cd651f5_0_1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b56cd651f5_0_1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6660c8a63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b6660c8a63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b6660c8a63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6660c8a63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6660c8a63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b6660c8a63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76911151f1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76911151f1_0_1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76911151f1_0_1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65" name="Shape 6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8.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pic>
        <p:nvPicPr>
          <p:cNvPr id="64" name="Google Shape;64;p10"/>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5"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Exercise Session 1: </a:t>
            </a:r>
            <a:br>
              <a:rPr lang="sv-SE" sz="3000"/>
            </a:br>
            <a:r>
              <a:rPr lang="sv-SE" sz="3000"/>
              <a:t>Quality Scenarios</a:t>
            </a:r>
            <a:endParaRPr/>
          </a:p>
        </p:txBody>
      </p:sp>
      <p:sp>
        <p:nvSpPr>
          <p:cNvPr id="71" name="Google Shape;71;p1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January 28,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77" name="Google Shape;77;p13"/>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p>
            <a:pPr indent="0" lvl="0" marL="0" rtl="0" algn="l">
              <a:lnSpc>
                <a:spcPct val="108333"/>
              </a:lnSpc>
              <a:spcBef>
                <a:spcPts val="0"/>
              </a:spcBef>
              <a:spcAft>
                <a:spcPts val="0"/>
              </a:spcAft>
              <a:buClr>
                <a:schemeClr val="dk1"/>
              </a:buClr>
              <a:buSzPts val="3600"/>
              <a:buFont typeface="Arial"/>
              <a:buNone/>
            </a:pPr>
            <a:r>
              <a:rPr lang="sv-SE"/>
              <a:t>Exercise Sessions</a:t>
            </a:r>
            <a:endParaRPr/>
          </a:p>
        </p:txBody>
      </p:sp>
      <p:sp>
        <p:nvSpPr>
          <p:cNvPr id="78" name="Google Shape;78;p13"/>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Builds on the lectures with interactive activities.</a:t>
            </a:r>
            <a:endParaRPr/>
          </a:p>
          <a:p>
            <a:pPr indent="-368300" lvl="1" marL="914400" rtl="0" algn="l">
              <a:spcBef>
                <a:spcPts val="500"/>
              </a:spcBef>
              <a:spcAft>
                <a:spcPts val="0"/>
              </a:spcAft>
              <a:buSzPts val="2200"/>
              <a:buChar char="•"/>
            </a:pPr>
            <a:r>
              <a:rPr lang="sv-SE"/>
              <a:t>Work in groups. Feel free to come and go, split off into breakout rooms.</a:t>
            </a:r>
            <a:endParaRPr/>
          </a:p>
          <a:p>
            <a:pPr indent="-368300" lvl="1" marL="914400" rtl="0" algn="l">
              <a:spcBef>
                <a:spcPts val="500"/>
              </a:spcBef>
              <a:spcAft>
                <a:spcPts val="0"/>
              </a:spcAft>
              <a:buSzPts val="2200"/>
              <a:buChar char="•"/>
            </a:pPr>
            <a:r>
              <a:rPr lang="sv-SE"/>
              <a:t>Not graded - intended to build skills that will be helpful on assignments and in the future.</a:t>
            </a:r>
            <a:endParaRPr/>
          </a:p>
          <a:p>
            <a:pPr indent="-393700" lvl="0" marL="457200" rtl="0" algn="l">
              <a:spcBef>
                <a:spcPts val="1000"/>
              </a:spcBef>
              <a:spcAft>
                <a:spcPts val="0"/>
              </a:spcAft>
              <a:buSzPts val="2600"/>
              <a:buChar char="•"/>
            </a:pPr>
            <a:r>
              <a:rPr lang="sv-SE"/>
              <a:t>Professor + TAs will answer questions.</a:t>
            </a:r>
            <a:endParaRPr/>
          </a:p>
          <a:p>
            <a:pPr indent="-368300" lvl="1" marL="914400" rtl="0" algn="l">
              <a:spcBef>
                <a:spcPts val="500"/>
              </a:spcBef>
              <a:spcAft>
                <a:spcPts val="0"/>
              </a:spcAft>
              <a:buSzPts val="2200"/>
              <a:buChar char="•"/>
            </a:pPr>
            <a:r>
              <a:rPr lang="sv-SE"/>
              <a:t>Also a good time to ask us homework questions!</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85" name="Google Shape;85;p1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Exercise - Airport Parking</a:t>
            </a:r>
            <a:endParaRPr/>
          </a:p>
        </p:txBody>
      </p:sp>
      <p:sp>
        <p:nvSpPr>
          <p:cNvPr id="86" name="Google Shape;86;p14"/>
          <p:cNvSpPr txBox="1"/>
          <p:nvPr>
            <p:ph idx="1" type="body"/>
          </p:nvPr>
        </p:nvSpPr>
        <p:spPr>
          <a:xfrm>
            <a:off x="468900" y="1282400"/>
            <a:ext cx="4902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a:t>
            </a:r>
            <a:r>
              <a:rPr lang="sv-SE"/>
              <a:t>utomated parking system.</a:t>
            </a:r>
            <a:endParaRPr/>
          </a:p>
          <a:p>
            <a:pPr indent="-368300" lvl="1" marL="914400" rtl="0" algn="l">
              <a:spcBef>
                <a:spcPts val="500"/>
              </a:spcBef>
              <a:spcAft>
                <a:spcPts val="0"/>
              </a:spcAft>
              <a:buSzPts val="2200"/>
              <a:buChar char="•"/>
            </a:pPr>
            <a:r>
              <a:rPr lang="sv-SE"/>
              <a:t>User can insert credit card into a reader at parking ramp entrance or get a ticket. Records time of entry.</a:t>
            </a:r>
            <a:endParaRPr/>
          </a:p>
          <a:p>
            <a:pPr indent="-368300" lvl="1" marL="914400" rtl="0" algn="l">
              <a:spcBef>
                <a:spcPts val="500"/>
              </a:spcBef>
              <a:spcAft>
                <a:spcPts val="0"/>
              </a:spcAft>
              <a:buSzPts val="2200"/>
              <a:buChar char="•"/>
            </a:pPr>
            <a:r>
              <a:rPr lang="sv-SE"/>
              <a:t>User presents same card or ticket on exit.</a:t>
            </a:r>
            <a:endParaRPr/>
          </a:p>
          <a:p>
            <a:pPr indent="-368300" lvl="1" marL="914400" rtl="0" algn="l">
              <a:spcBef>
                <a:spcPts val="500"/>
              </a:spcBef>
              <a:spcAft>
                <a:spcPts val="0"/>
              </a:spcAft>
              <a:buSzPts val="2200"/>
              <a:buChar char="•"/>
            </a:pPr>
            <a:r>
              <a:rPr lang="sv-SE"/>
              <a:t>Once they pay, they can leave the garage</a:t>
            </a:r>
            <a:endParaRPr/>
          </a:p>
        </p:txBody>
      </p:sp>
      <p:graphicFrame>
        <p:nvGraphicFramePr>
          <p:cNvPr id="87" name="Google Shape;87;p14"/>
          <p:cNvGraphicFramePr/>
          <p:nvPr/>
        </p:nvGraphicFramePr>
        <p:xfrm>
          <a:off x="5582725" y="1847350"/>
          <a:ext cx="3000000" cy="3000000"/>
        </p:xfrm>
        <a:graphic>
          <a:graphicData uri="http://schemas.openxmlformats.org/drawingml/2006/table">
            <a:tbl>
              <a:tblPr>
                <a:noFill/>
                <a:tableStyleId>{E5A99B5B-E9A3-446E-95AF-A5553DD498A8}</a:tableStyleId>
              </a:tblPr>
              <a:tblGrid>
                <a:gridCol w="3453450"/>
              </a:tblGrid>
              <a:tr h="409100">
                <a:tc>
                  <a:txBody>
                    <a:bodyPr/>
                    <a:lstStyle/>
                    <a:p>
                      <a:pPr indent="0" lvl="0" marL="0" rtl="0" algn="ctr">
                        <a:spcBef>
                          <a:spcPts val="0"/>
                        </a:spcBef>
                        <a:spcAft>
                          <a:spcPts val="0"/>
                        </a:spcAft>
                        <a:buNone/>
                      </a:pPr>
                      <a:r>
                        <a:rPr b="1" lang="sv-SE" sz="1100"/>
                        <a:t>Entrance Kiosks</a:t>
                      </a:r>
                      <a:endParaRPr b="1" sz="1100"/>
                    </a:p>
                    <a:p>
                      <a:pPr indent="0" lvl="0" marL="0" rtl="0" algn="ctr">
                        <a:spcBef>
                          <a:spcPts val="0"/>
                        </a:spcBef>
                        <a:spcAft>
                          <a:spcPts val="0"/>
                        </a:spcAft>
                        <a:buNone/>
                      </a:pPr>
                      <a:r>
                        <a:rPr b="1" lang="sv-SE" sz="1100"/>
                        <a:t>(Credit Card, Ticket)</a:t>
                      </a:r>
                      <a:endParaRPr b="1" sz="1100"/>
                    </a:p>
                  </a:txBody>
                  <a:tcPr marT="63500" marB="63500" marR="63500" marL="63500">
                    <a:solidFill>
                      <a:srgbClr val="CFE2F3"/>
                    </a:solidFill>
                  </a:tcPr>
                </a:tc>
              </a:tr>
              <a:tr h="1155400">
                <a:tc>
                  <a:txBody>
                    <a:bodyPr/>
                    <a:lstStyle/>
                    <a:p>
                      <a:pPr indent="0" lvl="0" marL="0" rtl="0" algn="ctr">
                        <a:spcBef>
                          <a:spcPts val="0"/>
                        </a:spcBef>
                        <a:spcAft>
                          <a:spcPts val="0"/>
                        </a:spcAft>
                        <a:buNone/>
                      </a:pPr>
                      <a:r>
                        <a:t/>
                      </a:r>
                      <a:endParaRPr b="1" sz="1100"/>
                    </a:p>
                    <a:p>
                      <a:pPr indent="0" lvl="0" marL="0" rtl="0" algn="ctr">
                        <a:spcBef>
                          <a:spcPts val="0"/>
                        </a:spcBef>
                        <a:spcAft>
                          <a:spcPts val="0"/>
                        </a:spcAft>
                        <a:buNone/>
                      </a:pPr>
                      <a:r>
                        <a:t/>
                      </a:r>
                      <a:endParaRPr b="1" sz="1100"/>
                    </a:p>
                    <a:p>
                      <a:pPr indent="0" lvl="0" marL="0" rtl="0" algn="ctr">
                        <a:spcBef>
                          <a:spcPts val="0"/>
                        </a:spcBef>
                        <a:spcAft>
                          <a:spcPts val="0"/>
                        </a:spcAft>
                        <a:buNone/>
                      </a:pPr>
                      <a:r>
                        <a:t/>
                      </a:r>
                      <a:endParaRPr b="1" sz="1100"/>
                    </a:p>
                    <a:p>
                      <a:pPr indent="0" lvl="0" marL="0" rtl="0" algn="ctr">
                        <a:spcBef>
                          <a:spcPts val="0"/>
                        </a:spcBef>
                        <a:spcAft>
                          <a:spcPts val="0"/>
                        </a:spcAft>
                        <a:buNone/>
                      </a:pPr>
                      <a:r>
                        <a:rPr b="1" lang="sv-SE" sz="1100"/>
                        <a:t>Parking Spots</a:t>
                      </a:r>
                      <a:endParaRPr b="1" sz="1100"/>
                    </a:p>
                    <a:p>
                      <a:pPr indent="0" lvl="0" marL="0" rtl="0" algn="ctr">
                        <a:spcBef>
                          <a:spcPts val="0"/>
                        </a:spcBef>
                        <a:spcAft>
                          <a:spcPts val="0"/>
                        </a:spcAft>
                        <a:buNone/>
                      </a:pPr>
                      <a:r>
                        <a:t/>
                      </a:r>
                      <a:endParaRPr b="1" sz="1100"/>
                    </a:p>
                    <a:p>
                      <a:pPr indent="0" lvl="0" marL="0" rtl="0" algn="ctr">
                        <a:spcBef>
                          <a:spcPts val="0"/>
                        </a:spcBef>
                        <a:spcAft>
                          <a:spcPts val="0"/>
                        </a:spcAft>
                        <a:buNone/>
                      </a:pPr>
                      <a:r>
                        <a:t/>
                      </a:r>
                      <a:endParaRPr b="1" sz="1100"/>
                    </a:p>
                    <a:p>
                      <a:pPr indent="0" lvl="0" marL="0" rtl="0" algn="ctr">
                        <a:spcBef>
                          <a:spcPts val="0"/>
                        </a:spcBef>
                        <a:spcAft>
                          <a:spcPts val="0"/>
                        </a:spcAft>
                        <a:buNone/>
                      </a:pPr>
                      <a:r>
                        <a:t/>
                      </a:r>
                      <a:endParaRPr b="1" sz="1100"/>
                    </a:p>
                  </a:txBody>
                  <a:tcPr marT="63500" marB="63500" marR="63500" marL="63500">
                    <a:solidFill>
                      <a:srgbClr val="F3F3F3"/>
                    </a:solidFill>
                  </a:tcPr>
                </a:tc>
              </a:tr>
              <a:tr h="409100">
                <a:tc>
                  <a:txBody>
                    <a:bodyPr/>
                    <a:lstStyle/>
                    <a:p>
                      <a:pPr indent="0" lvl="0" marL="0" rtl="0" algn="ctr">
                        <a:spcBef>
                          <a:spcPts val="0"/>
                        </a:spcBef>
                        <a:spcAft>
                          <a:spcPts val="0"/>
                        </a:spcAft>
                        <a:buNone/>
                      </a:pPr>
                      <a:r>
                        <a:rPr b="1" lang="sv-SE" sz="1100"/>
                        <a:t>Exit Kiosks</a:t>
                      </a:r>
                      <a:endParaRPr b="1" sz="1100"/>
                    </a:p>
                    <a:p>
                      <a:pPr indent="0" lvl="0" marL="0" rtl="0" algn="ctr">
                        <a:spcBef>
                          <a:spcPts val="0"/>
                        </a:spcBef>
                        <a:spcAft>
                          <a:spcPts val="0"/>
                        </a:spcAft>
                        <a:buNone/>
                      </a:pPr>
                      <a:r>
                        <a:rPr b="1" lang="sv-SE" sz="1100"/>
                        <a:t>(Credit Card, Ticket)</a:t>
                      </a:r>
                      <a:endParaRPr sz="1100"/>
                    </a:p>
                  </a:txBody>
                  <a:tcPr marT="63500" marB="63500" marR="63500" marL="63500">
                    <a:solidFill>
                      <a:srgbClr val="CFE2F3"/>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94" name="Google Shape;94;p1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Exercise - Airport Parking</a:t>
            </a:r>
            <a:endParaRPr/>
          </a:p>
        </p:txBody>
      </p:sp>
      <p:sp>
        <p:nvSpPr>
          <p:cNvPr id="95" name="Google Shape;95;p1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Interacts with: </a:t>
            </a:r>
            <a:endParaRPr/>
          </a:p>
          <a:p>
            <a:pPr indent="-368300" lvl="1" marL="914400" rtl="0" algn="l">
              <a:spcBef>
                <a:spcPts val="500"/>
              </a:spcBef>
              <a:spcAft>
                <a:spcPts val="0"/>
              </a:spcAft>
              <a:buSzPts val="2200"/>
              <a:buChar char="•"/>
            </a:pPr>
            <a:r>
              <a:rPr lang="sv-SE"/>
              <a:t>customers</a:t>
            </a:r>
            <a:endParaRPr/>
          </a:p>
          <a:p>
            <a:pPr indent="-368300" lvl="1" marL="914400" rtl="0" algn="l">
              <a:spcBef>
                <a:spcPts val="500"/>
              </a:spcBef>
              <a:spcAft>
                <a:spcPts val="0"/>
              </a:spcAft>
              <a:buSzPts val="2200"/>
              <a:buChar char="•"/>
            </a:pPr>
            <a:r>
              <a:rPr lang="sv-SE"/>
              <a:t>police and emergency responders</a:t>
            </a:r>
            <a:endParaRPr/>
          </a:p>
          <a:p>
            <a:pPr indent="-368300" lvl="1" marL="914400" rtl="0" algn="l">
              <a:spcBef>
                <a:spcPts val="500"/>
              </a:spcBef>
              <a:spcAft>
                <a:spcPts val="0"/>
              </a:spcAft>
              <a:buSzPts val="2200"/>
              <a:buChar char="•"/>
            </a:pPr>
            <a:r>
              <a:rPr lang="sv-SE"/>
              <a:t>external payment systems</a:t>
            </a:r>
            <a:endParaRPr/>
          </a:p>
          <a:p>
            <a:pPr indent="-368300" lvl="1" marL="914400" rtl="0" algn="l">
              <a:spcBef>
                <a:spcPts val="500"/>
              </a:spcBef>
              <a:spcAft>
                <a:spcPts val="0"/>
              </a:spcAft>
              <a:buSzPts val="2200"/>
              <a:buChar char="•"/>
            </a:pPr>
            <a:r>
              <a:rPr lang="sv-SE"/>
              <a:t>accounting databases</a:t>
            </a:r>
            <a:endParaRPr/>
          </a:p>
          <a:p>
            <a:pPr indent="-368300" lvl="1" marL="914400" rtl="0" algn="l">
              <a:spcBef>
                <a:spcPts val="500"/>
              </a:spcBef>
              <a:spcAft>
                <a:spcPts val="0"/>
              </a:spcAft>
              <a:buSzPts val="2200"/>
              <a:buChar char="•"/>
            </a:pPr>
            <a:r>
              <a:rPr lang="sv-SE"/>
              <a:t>physical gates and signs</a:t>
            </a:r>
            <a:endParaRPr/>
          </a:p>
          <a:p>
            <a:pPr indent="-368300" lvl="1" marL="914400" rtl="0" algn="l">
              <a:spcBef>
                <a:spcPts val="500"/>
              </a:spcBef>
              <a:spcAft>
                <a:spcPts val="0"/>
              </a:spcAft>
              <a:buSzPts val="2200"/>
              <a:buChar char="•"/>
            </a:pPr>
            <a:r>
              <a:rPr lang="sv-SE"/>
              <a:t>security equipment (cameras, alarms)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Scenario Format</a:t>
            </a:r>
            <a:endParaRPr/>
          </a:p>
        </p:txBody>
      </p:sp>
      <p:sp>
        <p:nvSpPr>
          <p:cNvPr id="101" name="Google Shape;101;p1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102" name="Google Shape;102;p16"/>
          <p:cNvPicPr preferRelativeResize="0"/>
          <p:nvPr/>
        </p:nvPicPr>
        <p:blipFill>
          <a:blip r:embed="rId3">
            <a:alphaModFix/>
          </a:blip>
          <a:stretch>
            <a:fillRect/>
          </a:stretch>
        </p:blipFill>
        <p:spPr>
          <a:xfrm>
            <a:off x="326775" y="1952000"/>
            <a:ext cx="3594950" cy="1606100"/>
          </a:xfrm>
          <a:prstGeom prst="rect">
            <a:avLst/>
          </a:prstGeom>
          <a:noFill/>
          <a:ln>
            <a:noFill/>
          </a:ln>
        </p:spPr>
      </p:pic>
      <p:sp>
        <p:nvSpPr>
          <p:cNvPr id="103" name="Google Shape;103;p16"/>
          <p:cNvSpPr/>
          <p:nvPr/>
        </p:nvSpPr>
        <p:spPr>
          <a:xfrm>
            <a:off x="5029875" y="596175"/>
            <a:ext cx="3983700" cy="95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Overview:</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Brief description of the scenario.</a:t>
            </a:r>
            <a:endParaRPr/>
          </a:p>
        </p:txBody>
      </p:sp>
      <p:sp>
        <p:nvSpPr>
          <p:cNvPr id="104" name="Google Shape;104;p16"/>
          <p:cNvSpPr/>
          <p:nvPr/>
        </p:nvSpPr>
        <p:spPr>
          <a:xfrm>
            <a:off x="4638075" y="1639850"/>
            <a:ext cx="4375500" cy="152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System State:</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Aspects of internal state that affect quality (e,g., important information stored in the system, current load)</a:t>
            </a:r>
            <a:endParaRPr sz="2000">
              <a:solidFill>
                <a:schemeClr val="dk1"/>
              </a:solidFill>
            </a:endParaRPr>
          </a:p>
        </p:txBody>
      </p:sp>
      <p:sp>
        <p:nvSpPr>
          <p:cNvPr id="105" name="Google Shape;105;p16"/>
          <p:cNvSpPr/>
          <p:nvPr/>
        </p:nvSpPr>
        <p:spPr>
          <a:xfrm>
            <a:off x="4638075" y="3256225"/>
            <a:ext cx="4375500" cy="152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Environment State:</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Observations about the environment (e.g., network connection, external system availability).</a:t>
            </a:r>
            <a:endParaRPr sz="2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Scenario Format</a:t>
            </a:r>
            <a:endParaRPr/>
          </a:p>
        </p:txBody>
      </p:sp>
      <p:sp>
        <p:nvSpPr>
          <p:cNvPr id="111" name="Google Shape;111;p1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12" name="Google Shape;112;p17"/>
          <p:cNvSpPr/>
          <p:nvPr/>
        </p:nvSpPr>
        <p:spPr>
          <a:xfrm>
            <a:off x="698850" y="1491625"/>
            <a:ext cx="3983700" cy="269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External Stimulus:</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Event (input or environmental factor) that triggers a response from the system.</a:t>
            </a:r>
            <a:endParaRPr sz="2000">
              <a:solidFill>
                <a:schemeClr val="dk1"/>
              </a:solidFill>
            </a:endParaRPr>
          </a:p>
          <a:p>
            <a:pPr indent="0" lvl="0" marL="0" rtl="0" algn="l">
              <a:lnSpc>
                <a:spcPct val="90000"/>
              </a:lnSpc>
              <a:spcBef>
                <a:spcPts val="1000"/>
              </a:spcBef>
              <a:spcAft>
                <a:spcPts val="0"/>
              </a:spcAft>
              <a:buNone/>
            </a:pPr>
            <a:r>
              <a:rPr lang="sv-SE" sz="2000">
                <a:solidFill>
                  <a:schemeClr val="dk1"/>
                </a:solidFill>
              </a:rPr>
              <a:t>(e.g., user request, infrastructure changes or failures, attacks, expiration of time limit)</a:t>
            </a:r>
            <a:endParaRPr sz="2000">
              <a:solidFill>
                <a:schemeClr val="dk1"/>
              </a:solidFill>
            </a:endParaRPr>
          </a:p>
        </p:txBody>
      </p:sp>
      <p:pic>
        <p:nvPicPr>
          <p:cNvPr id="113" name="Google Shape;113;p17"/>
          <p:cNvPicPr preferRelativeResize="0"/>
          <p:nvPr/>
        </p:nvPicPr>
        <p:blipFill>
          <a:blip r:embed="rId3">
            <a:alphaModFix/>
          </a:blip>
          <a:stretch>
            <a:fillRect/>
          </a:stretch>
        </p:blipFill>
        <p:spPr>
          <a:xfrm>
            <a:off x="5288725" y="1867275"/>
            <a:ext cx="3594950" cy="1606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Scenario Format</a:t>
            </a:r>
            <a:endParaRPr/>
          </a:p>
        </p:txBody>
      </p:sp>
      <p:sp>
        <p:nvSpPr>
          <p:cNvPr id="119" name="Google Shape;119;p1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20" name="Google Shape;120;p18"/>
          <p:cNvSpPr/>
          <p:nvPr/>
        </p:nvSpPr>
        <p:spPr>
          <a:xfrm>
            <a:off x="5022500" y="568650"/>
            <a:ext cx="3755100" cy="211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Required System Response:</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How does the system respond and meet the quality goal?</a:t>
            </a:r>
            <a:endParaRPr sz="2000">
              <a:solidFill>
                <a:schemeClr val="dk1"/>
              </a:solidFill>
            </a:endParaRPr>
          </a:p>
          <a:p>
            <a:pPr indent="0" lvl="0" marL="0" rtl="0" algn="l">
              <a:lnSpc>
                <a:spcPct val="90000"/>
              </a:lnSpc>
              <a:spcBef>
                <a:spcPts val="1000"/>
              </a:spcBef>
              <a:spcAft>
                <a:spcPts val="0"/>
              </a:spcAft>
              <a:buNone/>
            </a:pPr>
            <a:r>
              <a:rPr lang="sv-SE" sz="2000">
                <a:solidFill>
                  <a:schemeClr val="dk1"/>
                </a:solidFill>
              </a:rPr>
              <a:t>(e.g., how should it handle a defined increase in requests?)</a:t>
            </a:r>
            <a:endParaRPr sz="2000">
              <a:solidFill>
                <a:schemeClr val="dk1"/>
              </a:solidFill>
            </a:endParaRPr>
          </a:p>
        </p:txBody>
      </p:sp>
      <p:sp>
        <p:nvSpPr>
          <p:cNvPr id="121" name="Google Shape;121;p18"/>
          <p:cNvSpPr/>
          <p:nvPr/>
        </p:nvSpPr>
        <p:spPr>
          <a:xfrm>
            <a:off x="4572000" y="2733100"/>
            <a:ext cx="4417800" cy="200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Response Measure:</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How we judge whether the system meets the quality goal.</a:t>
            </a:r>
            <a:endParaRPr sz="2000">
              <a:solidFill>
                <a:schemeClr val="dk1"/>
              </a:solidFill>
            </a:endParaRPr>
          </a:p>
          <a:p>
            <a:pPr indent="0" lvl="0" marL="0" rtl="0" algn="l">
              <a:lnSpc>
                <a:spcPct val="90000"/>
              </a:lnSpc>
              <a:spcBef>
                <a:spcPts val="1000"/>
              </a:spcBef>
              <a:spcAft>
                <a:spcPts val="0"/>
              </a:spcAft>
              <a:buNone/>
            </a:pPr>
            <a:r>
              <a:rPr lang="sv-SE" sz="2000">
                <a:solidFill>
                  <a:schemeClr val="dk1"/>
                </a:solidFill>
              </a:rPr>
              <a:t>Measurement + Threshold</a:t>
            </a:r>
            <a:endParaRPr sz="2000">
              <a:solidFill>
                <a:schemeClr val="dk1"/>
              </a:solidFill>
            </a:endParaRPr>
          </a:p>
          <a:p>
            <a:pPr indent="0" lvl="0" marL="0" rtl="0" algn="l">
              <a:lnSpc>
                <a:spcPct val="90000"/>
              </a:lnSpc>
              <a:spcBef>
                <a:spcPts val="1000"/>
              </a:spcBef>
              <a:spcAft>
                <a:spcPts val="0"/>
              </a:spcAft>
              <a:buNone/>
            </a:pPr>
            <a:r>
              <a:rPr lang="sv-SE" sz="2000">
                <a:solidFill>
                  <a:schemeClr val="dk1"/>
                </a:solidFill>
              </a:rPr>
              <a:t>(e.g., throughput, PODOF, latency)</a:t>
            </a:r>
            <a:endParaRPr sz="2000">
              <a:solidFill>
                <a:schemeClr val="dk1"/>
              </a:solidFill>
            </a:endParaRPr>
          </a:p>
        </p:txBody>
      </p:sp>
      <p:pic>
        <p:nvPicPr>
          <p:cNvPr id="122" name="Google Shape;122;p18"/>
          <p:cNvPicPr preferRelativeResize="0"/>
          <p:nvPr/>
        </p:nvPicPr>
        <p:blipFill>
          <a:blip r:embed="rId3">
            <a:alphaModFix/>
          </a:blip>
          <a:stretch>
            <a:fillRect/>
          </a:stretch>
        </p:blipFill>
        <p:spPr>
          <a:xfrm>
            <a:off x="774550" y="2000400"/>
            <a:ext cx="3594950" cy="1606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29" name="Google Shape;129;p1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130" name="Google Shape;130;p1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Scenarios centered around the following:</a:t>
            </a:r>
            <a:endParaRPr/>
          </a:p>
          <a:p>
            <a:pPr indent="-368300" lvl="1" marL="914400" rtl="0" algn="l">
              <a:spcBef>
                <a:spcPts val="500"/>
              </a:spcBef>
              <a:spcAft>
                <a:spcPts val="0"/>
              </a:spcAft>
              <a:buSzPts val="2200"/>
              <a:buChar char="•"/>
            </a:pPr>
            <a:r>
              <a:rPr lang="sv-SE"/>
              <a:t>Reliability</a:t>
            </a:r>
            <a:endParaRPr/>
          </a:p>
          <a:p>
            <a:pPr indent="-368300" lvl="1" marL="914400" rtl="0" algn="l">
              <a:spcBef>
                <a:spcPts val="500"/>
              </a:spcBef>
              <a:spcAft>
                <a:spcPts val="0"/>
              </a:spcAft>
              <a:buSzPts val="2200"/>
              <a:buChar char="•"/>
            </a:pPr>
            <a:r>
              <a:rPr lang="sv-SE"/>
              <a:t>Availability</a:t>
            </a:r>
            <a:endParaRPr/>
          </a:p>
          <a:p>
            <a:pPr indent="-368300" lvl="1" marL="914400" rtl="0" algn="l">
              <a:spcBef>
                <a:spcPts val="500"/>
              </a:spcBef>
              <a:spcAft>
                <a:spcPts val="0"/>
              </a:spcAft>
              <a:buSzPts val="2200"/>
              <a:buChar char="•"/>
            </a:pPr>
            <a:r>
              <a:rPr lang="sv-SE"/>
              <a:t>Performance</a:t>
            </a:r>
            <a:endParaRPr/>
          </a:p>
          <a:p>
            <a:pPr indent="-368300" lvl="1" marL="914400" rtl="0" algn="l">
              <a:spcBef>
                <a:spcPts val="500"/>
              </a:spcBef>
              <a:spcAft>
                <a:spcPts val="0"/>
              </a:spcAft>
              <a:buSzPts val="2200"/>
              <a:buChar char="•"/>
            </a:pPr>
            <a:r>
              <a:rPr lang="sv-SE"/>
              <a:t>Scalability</a:t>
            </a:r>
            <a:endParaRPr/>
          </a:p>
          <a:p>
            <a:pPr indent="-393700" lvl="0" marL="457200" rtl="0" algn="l">
              <a:spcBef>
                <a:spcPts val="1000"/>
              </a:spcBef>
              <a:spcAft>
                <a:spcPts val="0"/>
              </a:spcAft>
              <a:buSzPts val="2600"/>
              <a:buChar char="•"/>
            </a:pPr>
            <a:r>
              <a:rPr lang="sv-SE"/>
              <a:t>Remember to include both a response and a response measure (with acceptable threshold)!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37" name="Google Shape;137;p2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Reliability Example</a:t>
            </a:r>
            <a:endParaRPr/>
          </a:p>
        </p:txBody>
      </p:sp>
      <p:sp>
        <p:nvSpPr>
          <p:cNvPr id="138" name="Google Shape;138;p2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30200" lvl="0" marL="457200" rtl="0" algn="l">
              <a:spcBef>
                <a:spcPts val="1000"/>
              </a:spcBef>
              <a:spcAft>
                <a:spcPts val="0"/>
              </a:spcAft>
              <a:buSzPts val="1600"/>
              <a:buChar char="•"/>
            </a:pPr>
            <a:r>
              <a:rPr b="1" lang="sv-SE" sz="1600">
                <a:solidFill>
                  <a:schemeClr val="accent3"/>
                </a:solidFill>
              </a:rPr>
              <a:t>Overview</a:t>
            </a:r>
            <a:r>
              <a:rPr lang="sv-SE" sz="1600"/>
              <a:t>: A user attempts to enter the ramp, using the credit card option. Shows reliability of entry functionality under normal conditions.</a:t>
            </a:r>
            <a:endParaRPr sz="1600"/>
          </a:p>
          <a:p>
            <a:pPr indent="-330200" lvl="0" marL="457200" rtl="0" algn="l">
              <a:spcBef>
                <a:spcPts val="1000"/>
              </a:spcBef>
              <a:spcAft>
                <a:spcPts val="0"/>
              </a:spcAft>
              <a:buSzPts val="1600"/>
              <a:buChar char="•"/>
            </a:pPr>
            <a:r>
              <a:rPr b="1" lang="sv-SE" sz="1600">
                <a:solidFill>
                  <a:schemeClr val="accent3"/>
                </a:solidFill>
              </a:rPr>
              <a:t>System State</a:t>
            </a:r>
            <a:r>
              <a:rPr lang="sv-SE" sz="1600"/>
              <a:t>: System has been operating normally for over 12 hours, with an average of 10 users entering and exiting per hour.  </a:t>
            </a:r>
            <a:endParaRPr sz="1600"/>
          </a:p>
          <a:p>
            <a:pPr indent="-330200" lvl="0" marL="457200" rtl="0" algn="l">
              <a:spcBef>
                <a:spcPts val="1000"/>
              </a:spcBef>
              <a:spcAft>
                <a:spcPts val="0"/>
              </a:spcAft>
              <a:buSzPts val="1600"/>
              <a:buChar char="•"/>
            </a:pPr>
            <a:r>
              <a:rPr b="1" lang="sv-SE" sz="1600">
                <a:solidFill>
                  <a:schemeClr val="accent3"/>
                </a:solidFill>
              </a:rPr>
              <a:t>Environment State</a:t>
            </a:r>
            <a:r>
              <a:rPr lang="sv-SE" sz="1600"/>
              <a:t>: The garage is not empty or full (0 &lt; N &lt; 100). All physical devices are functioning properly.</a:t>
            </a:r>
            <a:endParaRPr sz="1600"/>
          </a:p>
          <a:p>
            <a:pPr indent="-330200" lvl="0" marL="457200" rtl="0" algn="l">
              <a:spcBef>
                <a:spcPts val="1000"/>
              </a:spcBef>
              <a:spcAft>
                <a:spcPts val="0"/>
              </a:spcAft>
              <a:buSzPts val="1600"/>
              <a:buChar char="•"/>
            </a:pPr>
            <a:r>
              <a:rPr b="1" lang="sv-SE" sz="1600">
                <a:solidFill>
                  <a:schemeClr val="accent3"/>
                </a:solidFill>
              </a:rPr>
              <a:t>External Stimulus</a:t>
            </a:r>
            <a:r>
              <a:rPr lang="sv-SE" sz="1600"/>
              <a:t>: The user inserts a valid credit card at an entrance kiosk.</a:t>
            </a:r>
            <a:endParaRPr sz="1600"/>
          </a:p>
          <a:p>
            <a:pPr indent="-330200" lvl="0" marL="457200" rtl="0" algn="l">
              <a:spcBef>
                <a:spcPts val="1000"/>
              </a:spcBef>
              <a:spcAft>
                <a:spcPts val="0"/>
              </a:spcAft>
              <a:buSzPts val="1600"/>
              <a:buChar char="•"/>
            </a:pPr>
            <a:r>
              <a:rPr b="1" lang="sv-SE" sz="1600">
                <a:solidFill>
                  <a:schemeClr val="accent3"/>
                </a:solidFill>
              </a:rPr>
              <a:t>Required Response</a:t>
            </a:r>
            <a:r>
              <a:rPr lang="sv-SE" sz="1600"/>
              <a:t>: The system authenticates the card. Once accepted, the system sends the command to raise the physical gate. If the garage is now full, the ramp sign is updated to FULL.</a:t>
            </a:r>
            <a:endParaRPr sz="1600"/>
          </a:p>
          <a:p>
            <a:pPr indent="-330200" lvl="0" marL="457200" rtl="0" algn="l">
              <a:spcBef>
                <a:spcPts val="1000"/>
              </a:spcBef>
              <a:spcAft>
                <a:spcPts val="0"/>
              </a:spcAft>
              <a:buSzPts val="1600"/>
              <a:buChar char="•"/>
            </a:pPr>
            <a:r>
              <a:rPr b="1" lang="sv-SE" sz="1600">
                <a:solidFill>
                  <a:schemeClr val="accent3"/>
                </a:solidFill>
              </a:rPr>
              <a:t>Response Measure</a:t>
            </a:r>
            <a:r>
              <a:rPr lang="sv-SE" sz="1600"/>
              <a:t>: The ROCOF must be less than two failures per day, with MTBF of at least 16 hours. </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45" name="Google Shape;145;p2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Example</a:t>
            </a:r>
            <a:endParaRPr/>
          </a:p>
        </p:txBody>
      </p:sp>
      <p:sp>
        <p:nvSpPr>
          <p:cNvPr id="146" name="Google Shape;146;p2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55600" lvl="0" marL="457200" rtl="0" algn="l">
              <a:spcBef>
                <a:spcPts val="1000"/>
              </a:spcBef>
              <a:spcAft>
                <a:spcPts val="0"/>
              </a:spcAft>
              <a:buSzPts val="2000"/>
              <a:buChar char="•"/>
            </a:pPr>
            <a:r>
              <a:rPr b="1" lang="sv-SE" sz="2000">
                <a:solidFill>
                  <a:schemeClr val="accent3"/>
                </a:solidFill>
              </a:rPr>
              <a:t>Overview</a:t>
            </a:r>
            <a:r>
              <a:rPr lang="sv-SE" sz="2000"/>
              <a:t>: Shows that the system can recovery when connection to the entry gate is disrupted.</a:t>
            </a:r>
            <a:endParaRPr sz="2000"/>
          </a:p>
          <a:p>
            <a:pPr indent="-355600" lvl="0" marL="457200" rtl="0" algn="l">
              <a:spcBef>
                <a:spcPts val="1000"/>
              </a:spcBef>
              <a:spcAft>
                <a:spcPts val="0"/>
              </a:spcAft>
              <a:buSzPts val="2000"/>
              <a:buChar char="•"/>
            </a:pPr>
            <a:r>
              <a:rPr b="1" lang="sv-SE" sz="2000">
                <a:solidFill>
                  <a:schemeClr val="accent3"/>
                </a:solidFill>
              </a:rPr>
              <a:t>System State</a:t>
            </a:r>
            <a:r>
              <a:rPr lang="sv-SE" sz="2000"/>
              <a:t>: Operating normally for 14 hours, with an average of 10 users entering and exiting per hour.</a:t>
            </a:r>
            <a:endParaRPr sz="2000"/>
          </a:p>
          <a:p>
            <a:pPr indent="-355600" lvl="0" marL="457200" rtl="0" algn="l">
              <a:spcBef>
                <a:spcPts val="1000"/>
              </a:spcBef>
              <a:spcAft>
                <a:spcPts val="0"/>
              </a:spcAft>
              <a:buSzPts val="2000"/>
              <a:buChar char="•"/>
            </a:pPr>
            <a:r>
              <a:rPr b="1" lang="sv-SE" sz="2000">
                <a:solidFill>
                  <a:schemeClr val="accent3"/>
                </a:solidFill>
              </a:rPr>
              <a:t>Environment State</a:t>
            </a:r>
            <a:r>
              <a:rPr lang="sv-SE" sz="2000"/>
              <a:t>: Connectivity is normal. Garage is not empty or full (0 &lt; N &lt; 100). All physical equipment is functioning.</a:t>
            </a:r>
            <a:endParaRPr sz="2000"/>
          </a:p>
          <a:p>
            <a:pPr indent="-355600" lvl="0" marL="457200" rtl="0" algn="l">
              <a:spcBef>
                <a:spcPts val="1000"/>
              </a:spcBef>
              <a:spcAft>
                <a:spcPts val="0"/>
              </a:spcAft>
              <a:buSzPts val="2000"/>
              <a:buChar char="•"/>
            </a:pPr>
            <a:r>
              <a:rPr b="1" lang="sv-SE" sz="2000">
                <a:solidFill>
                  <a:schemeClr val="accent3"/>
                </a:solidFill>
              </a:rPr>
              <a:t>External Stimulus</a:t>
            </a:r>
            <a:r>
              <a:rPr lang="sv-SE" sz="2000"/>
              <a:t>: The system fails to connect to an entry gate for a sustained length of time (either two minutes, or 100 missed heartbeat messages, have elapsed). </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53" name="Google Shape;153;p2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Example</a:t>
            </a:r>
            <a:endParaRPr/>
          </a:p>
        </p:txBody>
      </p:sp>
      <p:sp>
        <p:nvSpPr>
          <p:cNvPr id="154" name="Google Shape;154;p2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49250" lvl="0" marL="457200" rtl="0" algn="l">
              <a:spcBef>
                <a:spcPts val="1000"/>
              </a:spcBef>
              <a:spcAft>
                <a:spcPts val="0"/>
              </a:spcAft>
              <a:buSzPts val="1900"/>
              <a:buChar char="•"/>
            </a:pPr>
            <a:r>
              <a:rPr b="1" lang="sv-SE" sz="1900">
                <a:solidFill>
                  <a:schemeClr val="accent3"/>
                </a:solidFill>
              </a:rPr>
              <a:t>Required Response</a:t>
            </a:r>
            <a:r>
              <a:rPr lang="sv-SE" sz="1900"/>
              <a:t>: </a:t>
            </a:r>
            <a:endParaRPr sz="1900"/>
          </a:p>
          <a:p>
            <a:pPr indent="-323850" lvl="1" marL="914400" rtl="0" algn="l">
              <a:spcBef>
                <a:spcPts val="500"/>
              </a:spcBef>
              <a:spcAft>
                <a:spcPts val="0"/>
              </a:spcAft>
              <a:buSzPts val="1500"/>
              <a:buChar char="•"/>
            </a:pPr>
            <a:r>
              <a:rPr lang="sv-SE" sz="1500"/>
              <a:t>The system will update the sign to CLOSED for that kiosk. The screen will display an error message, and no credit cards will be accepted or tickets dispensed. The system will notify managers and personnel. </a:t>
            </a:r>
            <a:endParaRPr sz="1500"/>
          </a:p>
          <a:p>
            <a:pPr indent="-323850" lvl="1" marL="914400" rtl="0" algn="l">
              <a:spcBef>
                <a:spcPts val="500"/>
              </a:spcBef>
              <a:spcAft>
                <a:spcPts val="0"/>
              </a:spcAft>
              <a:buSzPts val="1500"/>
              <a:buChar char="•"/>
            </a:pPr>
            <a:r>
              <a:rPr lang="sv-SE" sz="1500"/>
              <a:t>The system will continue to send messages until a sustained connection is </a:t>
            </a:r>
            <a:r>
              <a:rPr lang="sv-SE" sz="1500"/>
              <a:t>established</a:t>
            </a:r>
            <a:r>
              <a:rPr lang="sv-SE" sz="1500"/>
              <a:t>. When a connection is established, the entrance will be reopened and resume normal operations.</a:t>
            </a:r>
            <a:endParaRPr sz="1500"/>
          </a:p>
          <a:p>
            <a:pPr indent="-349250" lvl="0" marL="457200" rtl="0" algn="l">
              <a:spcBef>
                <a:spcPts val="1000"/>
              </a:spcBef>
              <a:spcAft>
                <a:spcPts val="0"/>
              </a:spcAft>
              <a:buSzPts val="1900"/>
              <a:buChar char="•"/>
            </a:pPr>
            <a:r>
              <a:rPr b="1" lang="sv-SE" sz="1900">
                <a:solidFill>
                  <a:schemeClr val="accent3"/>
                </a:solidFill>
              </a:rPr>
              <a:t>Response Measure</a:t>
            </a:r>
            <a:r>
              <a:rPr lang="sv-SE" sz="1900"/>
              <a:t>: The entrance must be closed within 30 seconds of detecting the loss of connection (95% of the time), within 45 seconds 99% of the time. On establishing a connection again, it must be reopened within 30/45 seconds (95/99% of the time). </a:t>
            </a:r>
            <a:endParaRPr sz="1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61" name="Google Shape;161;p2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Example</a:t>
            </a:r>
            <a:endParaRPr/>
          </a:p>
        </p:txBody>
      </p:sp>
      <p:sp>
        <p:nvSpPr>
          <p:cNvPr id="162" name="Google Shape;162;p2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b="1" lang="sv-SE" sz="2400">
                <a:solidFill>
                  <a:schemeClr val="accent3"/>
                </a:solidFill>
              </a:rPr>
              <a:t>Overview</a:t>
            </a:r>
            <a:r>
              <a:rPr lang="sv-SE" sz="2400"/>
              <a:t>: Ensure that system can handle cars exiting garage at rush hour (high throughput).</a:t>
            </a:r>
            <a:endParaRPr sz="2400"/>
          </a:p>
          <a:p>
            <a:pPr indent="-381000" lvl="0" marL="457200" rtl="0" algn="l">
              <a:spcBef>
                <a:spcPts val="1000"/>
              </a:spcBef>
              <a:spcAft>
                <a:spcPts val="0"/>
              </a:spcAft>
              <a:buSzPts val="2400"/>
              <a:buChar char="•"/>
            </a:pPr>
            <a:r>
              <a:rPr b="1" lang="sv-SE" sz="2400">
                <a:solidFill>
                  <a:schemeClr val="accent3"/>
                </a:solidFill>
              </a:rPr>
              <a:t>System State</a:t>
            </a:r>
            <a:r>
              <a:rPr lang="sv-SE" sz="2400"/>
              <a:t>: System is operating under heavy load (&gt; 1000 exit requests per hour).</a:t>
            </a:r>
            <a:endParaRPr sz="2400"/>
          </a:p>
          <a:p>
            <a:pPr indent="-381000" lvl="0" marL="457200" rtl="0" algn="l">
              <a:spcBef>
                <a:spcPts val="1000"/>
              </a:spcBef>
              <a:spcAft>
                <a:spcPts val="0"/>
              </a:spcAft>
              <a:buSzPts val="2400"/>
              <a:buChar char="•"/>
            </a:pPr>
            <a:r>
              <a:rPr b="1" lang="sv-SE" sz="2400">
                <a:solidFill>
                  <a:schemeClr val="accent3"/>
                </a:solidFill>
              </a:rPr>
              <a:t>Environment State</a:t>
            </a:r>
            <a:r>
              <a:rPr lang="sv-SE" sz="2400"/>
              <a:t>: All 10 exit kiosks are occupied, with additional cars waiting to exit at each.</a:t>
            </a:r>
            <a:endParaRPr sz="2400"/>
          </a:p>
          <a:p>
            <a:pPr indent="-381000" lvl="0" marL="457200" rtl="0" algn="l">
              <a:spcBef>
                <a:spcPts val="1000"/>
              </a:spcBef>
              <a:spcAft>
                <a:spcPts val="0"/>
              </a:spcAft>
              <a:buSzPts val="2400"/>
              <a:buChar char="•"/>
            </a:pPr>
            <a:r>
              <a:rPr b="1" lang="sv-SE" sz="2400">
                <a:solidFill>
                  <a:schemeClr val="accent3"/>
                </a:solidFill>
              </a:rPr>
              <a:t>External Stimulus</a:t>
            </a:r>
            <a:r>
              <a:rPr lang="sv-SE" sz="2400"/>
              <a:t>: A large number of card processing/exit requests come within a short window of time (10 within a one minute window).</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69" name="Google Shape;169;p2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Example</a:t>
            </a:r>
            <a:endParaRPr/>
          </a:p>
        </p:txBody>
      </p:sp>
      <p:sp>
        <p:nvSpPr>
          <p:cNvPr id="170" name="Google Shape;170;p2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Required Response</a:t>
            </a:r>
            <a:r>
              <a:rPr lang="sv-SE"/>
              <a:t>: All valid card payments posted successfully. All cars are released (system lifts gate and recloses it once car leaves). </a:t>
            </a:r>
            <a:endParaRPr/>
          </a:p>
          <a:p>
            <a:pPr indent="-393700" lvl="0" marL="457200" rtl="0" algn="l">
              <a:spcBef>
                <a:spcPts val="1000"/>
              </a:spcBef>
              <a:spcAft>
                <a:spcPts val="0"/>
              </a:spcAft>
              <a:buSzPts val="2600"/>
              <a:buChar char="•"/>
            </a:pPr>
            <a:r>
              <a:rPr b="1" lang="sv-SE">
                <a:solidFill>
                  <a:schemeClr val="accent3"/>
                </a:solidFill>
              </a:rPr>
              <a:t>Response Measure</a:t>
            </a:r>
            <a:r>
              <a:rPr lang="sv-SE"/>
              <a:t>: 95% of the time, all 10 kiosks release the waiting car within 30 seconds of the request. 99% of the time, all kiosks release within 45 seconds of the request.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77" name="Google Shape;177;p2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Scalability Example</a:t>
            </a:r>
            <a:endParaRPr/>
          </a:p>
        </p:txBody>
      </p:sp>
      <p:sp>
        <p:nvSpPr>
          <p:cNvPr id="178" name="Google Shape;178;p2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30200" lvl="0" marL="457200" rtl="0" algn="l">
              <a:spcBef>
                <a:spcPts val="1000"/>
              </a:spcBef>
              <a:spcAft>
                <a:spcPts val="0"/>
              </a:spcAft>
              <a:buSzPts val="1600"/>
              <a:buChar char="•"/>
            </a:pPr>
            <a:r>
              <a:rPr b="1" lang="sv-SE" sz="1600">
                <a:solidFill>
                  <a:schemeClr val="accent3"/>
                </a:solidFill>
              </a:rPr>
              <a:t>Overview</a:t>
            </a:r>
            <a:r>
              <a:rPr lang="sv-SE" sz="1600"/>
              <a:t>: Impact on performance when we upgrade CPUs in each entry kiosk.</a:t>
            </a:r>
            <a:endParaRPr sz="1600"/>
          </a:p>
          <a:p>
            <a:pPr indent="-330200" lvl="0" marL="457200" rtl="0" algn="l">
              <a:spcBef>
                <a:spcPts val="1000"/>
              </a:spcBef>
              <a:spcAft>
                <a:spcPts val="0"/>
              </a:spcAft>
              <a:buSzPts val="1600"/>
              <a:buChar char="•"/>
            </a:pPr>
            <a:r>
              <a:rPr b="1" lang="sv-SE" sz="1600">
                <a:solidFill>
                  <a:schemeClr val="accent3"/>
                </a:solidFill>
              </a:rPr>
              <a:t>System State</a:t>
            </a:r>
            <a:r>
              <a:rPr lang="sv-SE" sz="1600"/>
              <a:t>: System has been operating normally for over 12 hours, with an average of 10 users entering and exiting per hour. Before the update, in 95% of executions, credit card authentication was completed within 25 seconds, with 99% of executions completing within 35 seconds. </a:t>
            </a:r>
            <a:endParaRPr sz="1600"/>
          </a:p>
          <a:p>
            <a:pPr indent="-330200" lvl="0" marL="457200" rtl="0" algn="l">
              <a:spcBef>
                <a:spcPts val="1000"/>
              </a:spcBef>
              <a:spcAft>
                <a:spcPts val="0"/>
              </a:spcAft>
              <a:buSzPts val="1600"/>
              <a:buChar char="•"/>
            </a:pPr>
            <a:r>
              <a:rPr b="1" lang="sv-SE" sz="1600">
                <a:solidFill>
                  <a:schemeClr val="accent3"/>
                </a:solidFill>
              </a:rPr>
              <a:t>Environment State</a:t>
            </a:r>
            <a:r>
              <a:rPr lang="sv-SE" sz="1600"/>
              <a:t>: The garage is not empty or full (0 &lt; N &lt; 100). All physical devices are functioning properly. The CPU in each entry kiosk has been upgraded.</a:t>
            </a:r>
            <a:endParaRPr sz="1600"/>
          </a:p>
          <a:p>
            <a:pPr indent="-330200" lvl="0" marL="457200" rtl="0" algn="l">
              <a:spcBef>
                <a:spcPts val="1000"/>
              </a:spcBef>
              <a:spcAft>
                <a:spcPts val="0"/>
              </a:spcAft>
              <a:buSzPts val="1600"/>
              <a:buChar char="•"/>
            </a:pPr>
            <a:r>
              <a:rPr b="1" lang="sv-SE" sz="1600">
                <a:solidFill>
                  <a:schemeClr val="accent3"/>
                </a:solidFill>
              </a:rPr>
              <a:t>External Stimulus</a:t>
            </a:r>
            <a:r>
              <a:rPr lang="sv-SE" sz="1600"/>
              <a:t>: The user inserts a valid credit card at an entrance kiosk.</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85" name="Google Shape;185;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Scalability Example</a:t>
            </a:r>
            <a:endParaRPr/>
          </a:p>
        </p:txBody>
      </p:sp>
      <p:sp>
        <p:nvSpPr>
          <p:cNvPr id="186" name="Google Shape;186;p2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30200" lvl="0" marL="457200" rtl="0" algn="l">
              <a:spcBef>
                <a:spcPts val="1000"/>
              </a:spcBef>
              <a:spcAft>
                <a:spcPts val="0"/>
              </a:spcAft>
              <a:buSzPts val="1600"/>
              <a:buChar char="•"/>
            </a:pPr>
            <a:r>
              <a:rPr b="1" lang="sv-SE" sz="1600">
                <a:solidFill>
                  <a:schemeClr val="accent3"/>
                </a:solidFill>
              </a:rPr>
              <a:t>Required Response</a:t>
            </a:r>
            <a:r>
              <a:rPr lang="sv-SE" sz="1600"/>
              <a:t>: The system authenticates the card. Once accepted, the system sends the command to raise the physical gate. If the garage is now full, the ramp sign is updated to FULL. </a:t>
            </a:r>
            <a:endParaRPr sz="1600"/>
          </a:p>
          <a:p>
            <a:pPr indent="-330200" lvl="1" marL="914400" rtl="0" algn="l">
              <a:spcBef>
                <a:spcPts val="500"/>
              </a:spcBef>
              <a:spcAft>
                <a:spcPts val="0"/>
              </a:spcAft>
              <a:buSzPts val="1600"/>
              <a:buChar char="•"/>
            </a:pPr>
            <a:r>
              <a:rPr lang="sv-SE" sz="1600"/>
              <a:t>The system takes advantage of the CPU by refactoring the design to execute on multiple, concurrent threads. Credit card authentication is handled in a dedicated thread, while other functionality is executed in additional threads.</a:t>
            </a:r>
            <a:endParaRPr sz="1600"/>
          </a:p>
          <a:p>
            <a:pPr indent="-330200" lvl="0" marL="457200" rtl="0" algn="l">
              <a:spcBef>
                <a:spcPts val="1000"/>
              </a:spcBef>
              <a:spcAft>
                <a:spcPts val="0"/>
              </a:spcAft>
              <a:buSzPts val="1600"/>
              <a:buChar char="•"/>
            </a:pPr>
            <a:r>
              <a:rPr b="1" lang="sv-SE" sz="1600">
                <a:solidFill>
                  <a:schemeClr val="accent3"/>
                </a:solidFill>
              </a:rPr>
              <a:t>Response Measure</a:t>
            </a:r>
            <a:r>
              <a:rPr lang="sv-SE" sz="1600"/>
              <a:t>: I</a:t>
            </a:r>
            <a:r>
              <a:rPr lang="sv-SE" sz="1600"/>
              <a:t>n 95% of executions, credit card authentication should be completed within 15 seconds, with 99% of executions completing within 20 seconds. </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93" name="Google Shape;193;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Some Starting Ideas</a:t>
            </a:r>
            <a:endParaRPr/>
          </a:p>
        </p:txBody>
      </p:sp>
      <p:sp>
        <p:nvSpPr>
          <p:cNvPr id="194" name="Google Shape;194;p2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lang="sv-SE" sz="2200"/>
              <a:t>Performance</a:t>
            </a:r>
            <a:endParaRPr sz="2200"/>
          </a:p>
          <a:p>
            <a:pPr indent="-342900" lvl="1" marL="914400" rtl="0" algn="l">
              <a:spcBef>
                <a:spcPts val="500"/>
              </a:spcBef>
              <a:spcAft>
                <a:spcPts val="0"/>
              </a:spcAft>
              <a:buSzPts val="1800"/>
              <a:buChar char="•"/>
            </a:pPr>
            <a:r>
              <a:rPr lang="sv-SE" sz="1800"/>
              <a:t>Time to exit ramp</a:t>
            </a:r>
            <a:endParaRPr sz="1800"/>
          </a:p>
          <a:p>
            <a:pPr indent="-368300" lvl="0" marL="457200" rtl="0" algn="l">
              <a:spcBef>
                <a:spcPts val="1000"/>
              </a:spcBef>
              <a:spcAft>
                <a:spcPts val="0"/>
              </a:spcAft>
              <a:buSzPts val="2200"/>
              <a:buChar char="•"/>
            </a:pPr>
            <a:r>
              <a:rPr lang="sv-SE" sz="2200"/>
              <a:t>Availability</a:t>
            </a:r>
            <a:endParaRPr sz="2200"/>
          </a:p>
          <a:p>
            <a:pPr indent="-342900" lvl="1" marL="914400" rtl="0" algn="l">
              <a:spcBef>
                <a:spcPts val="500"/>
              </a:spcBef>
              <a:spcAft>
                <a:spcPts val="0"/>
              </a:spcAft>
              <a:buSzPts val="1800"/>
              <a:buChar char="•"/>
            </a:pPr>
            <a:r>
              <a:rPr lang="sv-SE" sz="1800"/>
              <a:t>Exit Kiosk Malfunction</a:t>
            </a:r>
            <a:endParaRPr sz="1800"/>
          </a:p>
          <a:p>
            <a:pPr indent="-342900" lvl="1" marL="914400" rtl="0" algn="l">
              <a:spcBef>
                <a:spcPts val="500"/>
              </a:spcBef>
              <a:spcAft>
                <a:spcPts val="0"/>
              </a:spcAft>
              <a:buSzPts val="1800"/>
              <a:buChar char="•"/>
            </a:pPr>
            <a:r>
              <a:rPr lang="sv-SE" sz="1800"/>
              <a:t>Loss of Connection to Credit Card Processing</a:t>
            </a:r>
            <a:endParaRPr sz="1800"/>
          </a:p>
          <a:p>
            <a:pPr indent="-368300" lvl="0" marL="457200" rtl="0" algn="l">
              <a:spcBef>
                <a:spcPts val="1000"/>
              </a:spcBef>
              <a:spcAft>
                <a:spcPts val="0"/>
              </a:spcAft>
              <a:buSzPts val="2200"/>
              <a:buChar char="•"/>
            </a:pPr>
            <a:r>
              <a:rPr lang="sv-SE" sz="2200"/>
              <a:t>Scalability</a:t>
            </a:r>
            <a:endParaRPr sz="2200"/>
          </a:p>
          <a:p>
            <a:pPr indent="-342900" lvl="1" marL="914400" rtl="0" algn="l">
              <a:spcBef>
                <a:spcPts val="500"/>
              </a:spcBef>
              <a:spcAft>
                <a:spcPts val="0"/>
              </a:spcAft>
              <a:buSzPts val="1800"/>
              <a:buChar char="•"/>
            </a:pPr>
            <a:r>
              <a:rPr lang="sv-SE" sz="1800"/>
              <a:t>Removal of resources</a:t>
            </a:r>
            <a:endParaRPr sz="2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