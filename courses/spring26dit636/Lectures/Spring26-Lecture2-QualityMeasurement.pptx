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3" Type="http://schemas.openxmlformats.org/officeDocument/2006/relationships/slide" Target="slides/slide56.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35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sv-SE"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25b1aad6cc_0_6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25b1aad6cc_0_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Last time I posed a question </a:t>
            </a:r>
            <a:r>
              <a:rPr lang="sv-SE">
                <a:solidFill>
                  <a:schemeClr val="dk1"/>
                </a:solidFill>
              </a:rPr>
              <a:t>is (title)</a:t>
            </a:r>
            <a:r>
              <a:rPr lang="sv-SE"/>
              <a:t>. And the basic, but not really simple answer, is </a:t>
            </a:r>
            <a:r>
              <a:rPr lang="sv-SE">
                <a:solidFill>
                  <a:schemeClr val="dk1"/>
                </a:solidFill>
              </a:rPr>
              <a:t>that (</a:t>
            </a:r>
            <a:r>
              <a:rPr lang="sv-SE"/>
              <a:t>go over)</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5b1aad6cc_0_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25b1aad6cc_0_1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all want high-quality software, we all agree that quality is necessary. However, we don’t all agree on what quality means. Ask ten people, and they may describe ten things. Why? (3) what a system does and how it does it. </a:t>
            </a:r>
            <a:r>
              <a:rPr lang="sv-SE" sz="1100">
                <a:solidFill>
                  <a:srgbClr val="000000"/>
                </a:solidFill>
                <a:latin typeface="Arial"/>
                <a:ea typeface="Arial"/>
                <a:cs typeface="Arial"/>
                <a:sym typeface="Arial"/>
              </a:rPr>
              <a:t>what a system does is only part of the story and that how the system provides its services often has a huge impact on the perceptions that stakeholders have of it. (rest) </a:t>
            </a:r>
            <a:endParaRPr/>
          </a:p>
          <a:p>
            <a:pPr indent="0" lvl="0" marL="0" rtl="0" algn="l">
              <a:spcBef>
                <a:spcPts val="0"/>
              </a:spcBef>
              <a:spcAft>
                <a:spcPts val="0"/>
              </a:spcAft>
              <a:buNone/>
            </a:pPr>
            <a:r>
              <a:t/>
            </a:r>
            <a:endParaRPr/>
          </a:p>
        </p:txBody>
      </p:sp>
      <p:sp>
        <p:nvSpPr>
          <p:cNvPr id="104" name="Google Shape;104;g325b1aad6cc_0_1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25b1aad6cc_0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25b1aad6cc_0_1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 attributes describe desired properties of the system under development.  Developers must prioritize quality attributes and design a system that meets chosen thresholds.</a:t>
            </a:r>
            <a:endParaRPr/>
          </a:p>
          <a:p>
            <a:pPr indent="0" lvl="0" marL="0" rtl="0" algn="l">
              <a:spcBef>
                <a:spcPts val="0"/>
              </a:spcBef>
              <a:spcAft>
                <a:spcPts val="0"/>
              </a:spcAft>
              <a:buNone/>
            </a:pPr>
            <a:r>
              <a:rPr lang="sv-SE"/>
              <a:t>Most relevant for this course: dependability. Ability of the system to consistently offer correct functionality, even under unforeseen or unsafe conditions.</a:t>
            </a:r>
            <a:endParaRPr/>
          </a:p>
        </p:txBody>
      </p:sp>
      <p:sp>
        <p:nvSpPr>
          <p:cNvPr id="112" name="Google Shape;112;g325b1aad6cc_0_1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25b1aad6cc_0_1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25b1aad6cc_0_1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related to dependability, how systems recover</a:t>
            </a:r>
            <a:endParaRPr/>
          </a:p>
          <a:p>
            <a:pPr indent="0" lvl="0" marL="0" rtl="0" algn="l">
              <a:spcBef>
                <a:spcPts val="0"/>
              </a:spcBef>
              <a:spcAft>
                <a:spcPts val="0"/>
              </a:spcAft>
              <a:buNone/>
            </a:pPr>
            <a:r>
              <a:rPr lang="sv-SE"/>
              <a:t>scalability, </a:t>
            </a:r>
            <a:r>
              <a:rPr lang="sv-SE"/>
              <a:t>related</a:t>
            </a:r>
            <a:r>
              <a:rPr lang="sv-SE"/>
              <a:t> to performance, how the system is designed to scale its resource usage to maointan performance at a consistent level as the userbase increases</a:t>
            </a:r>
            <a:endParaRPr/>
          </a:p>
          <a:p>
            <a:pPr indent="0" lvl="0" marL="0" rtl="0" algn="l">
              <a:spcBef>
                <a:spcPts val="0"/>
              </a:spcBef>
              <a:spcAft>
                <a:spcPts val="0"/>
              </a:spcAft>
              <a:buNone/>
            </a:pPr>
            <a:r>
              <a:rPr lang="sv-SE"/>
              <a:t>there are others, but these are the four we will focus on - dependability, availability, performance, scalability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25b1aad6cc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25b1aad6cc_0_2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Before we talk about these attributes, it’s important to establish one crucial common point. Quality </a:t>
            </a:r>
            <a:r>
              <a:rPr lang="sv-SE"/>
              <a:t> is measured situationally.Y ou cannot establish a general level of quality, or present one number for the whole system. Each “part” of the system may have its own quality requirements. That can be a class, a service, an API endpoint, whatever. Generally, you start by talking about user-facing functionality, and establish quality goals for each function. As we get into testing, we may talk about lower-level code segments. Still, we always talk about quality of part of the system. In addition to that segmentation, we also often look at different usage profiles. That can be a number of concurrent users (heavy versus normal load) or types of users (experienced versus new users) as those situations also may differ and may have different experiences or expectations. Some users might never trigger a crash, while some might see crashes all the time, based on how they work with the system. </a:t>
            </a:r>
            <a:endParaRPr/>
          </a:p>
        </p:txBody>
      </p:sp>
      <p:sp>
        <p:nvSpPr>
          <p:cNvPr id="127" name="Google Shape;127;g325b1aad6cc_0_2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766ac90cdc_0_1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766ac90cdc_0_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Quality</a:t>
            </a:r>
            <a:r>
              <a:rPr lang="sv-SE"/>
              <a:t> is improved when software faults that occur in the most frequently-used parts of the software are removed. </a:t>
            </a:r>
            <a:r>
              <a:rPr lang="sv-SE">
                <a:solidFill>
                  <a:schemeClr val="dk1"/>
                </a:solidFill>
              </a:rPr>
              <a:t> </a:t>
            </a:r>
            <a:r>
              <a:rPr lang="sv-SE"/>
              <a:t>N</a:t>
            </a:r>
            <a:r>
              <a:rPr lang="sv-SE">
                <a:solidFill>
                  <a:schemeClr val="dk1"/>
                </a:solidFill>
              </a:rPr>
              <a:t>ot all faults impact</a:t>
            </a:r>
            <a:r>
              <a:rPr lang="sv-SE"/>
              <a:t> quality</a:t>
            </a:r>
            <a:r>
              <a:rPr lang="sv-SE">
                <a:solidFill>
                  <a:schemeClr val="dk1"/>
                </a:solidFill>
              </a:rPr>
              <a:t> equally - some faults are rarer than others, and </a:t>
            </a:r>
            <a:r>
              <a:rPr lang="sv-SE"/>
              <a:t>Removing X% of  faults will not necessarily lead to an X% improvement in quality (3)</a:t>
            </a:r>
            <a:r>
              <a:rPr lang="sv-SE">
                <a:solidFill>
                  <a:schemeClr val="dk1"/>
                </a:solidFill>
              </a:rPr>
              <a:t>. Not all faults are equal and often don’t affect the system in the same way.</a:t>
            </a:r>
            <a:r>
              <a:rPr lang="sv-SE"/>
              <a:t> </a:t>
            </a:r>
            <a:r>
              <a:rPr lang="sv-SE">
                <a:solidFill>
                  <a:srgbClr val="4F4F4F"/>
                </a:solidFill>
              </a:rPr>
              <a:t>Unfortunately, quality depends on how users work with the system. Different users access different functions, have different settings, and use the system in different environments. So, quality depends on the user. We can’t actually check and improve this for everyone, but we can think about representative types of users and situations and focus on those.</a:t>
            </a:r>
            <a:r>
              <a:rPr lang="sv-SE"/>
              <a:t>(4), as those have the biggest impact on perceived quality.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766ac90cdc_0_2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766ac90cdc_0_2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a:t>
            </a:r>
            <a:r>
              <a:rPr lang="sv-SE"/>
              <a:t>Raising quality is expensive. It may be cheaper to accept unreliability and pay for failure costs.</a:t>
            </a:r>
            <a:r>
              <a:rPr lang="sv-SE">
                <a:solidFill>
                  <a:schemeClr val="dk1"/>
                </a:solidFill>
              </a:rPr>
              <a:t>) - this is an optimization problem. How do we balance </a:t>
            </a:r>
            <a:r>
              <a:rPr lang="sv-SE"/>
              <a:t>quality </a:t>
            </a:r>
            <a:r>
              <a:rPr lang="sv-SE">
                <a:solidFill>
                  <a:schemeClr val="dk1"/>
                </a:solidFill>
              </a:rPr>
              <a:t> improvement over accepting liability. We should improve </a:t>
            </a:r>
            <a:r>
              <a:rPr lang="sv-SE"/>
              <a:t>quality</a:t>
            </a:r>
            <a:r>
              <a:rPr lang="sv-SE">
                <a:solidFill>
                  <a:schemeClr val="dk1"/>
                </a:solidFill>
              </a:rPr>
              <a:t> but there is a tipping point.</a:t>
            </a:r>
            <a:r>
              <a:rPr lang="sv-SE"/>
              <a:t>The balancing point depends on social and political factors and the system type. A reputation for unreliable products may hurt more than the cost of improving reliability. Cost of failure depends on risks of failure. (last points)</a:t>
            </a:r>
            <a:endParaRPr/>
          </a:p>
          <a:p>
            <a:pPr indent="0" lvl="0" marL="0" rtl="0" algn="l">
              <a:lnSpc>
                <a:spcPct val="120000"/>
              </a:lnSpc>
              <a:spcBef>
                <a:spcPts val="0"/>
              </a:spcBef>
              <a:spcAft>
                <a:spcPts val="0"/>
              </a:spcAft>
              <a:buNone/>
            </a:pPr>
            <a:r>
              <a:rPr lang="sv-SE"/>
              <a:t>Minor annoyances (crashes, occasional data loss) (rest)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766ac90cdc_0_8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766ac90cdc_0_8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Just start with a question - want you to start thinking about this. (read) </a:t>
            </a:r>
            <a:endParaRPr sz="1100">
              <a:solidFill>
                <a:srgbClr val="000000"/>
              </a:solidFill>
              <a:latin typeface="Arial"/>
              <a:ea typeface="Arial"/>
              <a:cs typeface="Arial"/>
              <a:sym typeface="Arial"/>
            </a:endParaRPr>
          </a:p>
          <a:p>
            <a:pPr indent="0" lvl="0" marL="0" rtl="0" algn="l">
              <a:spcBef>
                <a:spcPts val="0"/>
              </a:spcBef>
              <a:spcAft>
                <a:spcPts val="0"/>
              </a:spcAft>
              <a:buNone/>
            </a:pPr>
            <a:r>
              <a:rPr lang="sv-SE" sz="1100">
                <a:solidFill>
                  <a:srgbClr val="000000"/>
                </a:solidFill>
                <a:latin typeface="Arial"/>
                <a:ea typeface="Arial"/>
                <a:cs typeface="Arial"/>
                <a:sym typeface="Arial"/>
              </a:rPr>
              <a:t>This isn’t something with one answer, or even a right answer. It’s something we’ll keep returning to</a:t>
            </a:r>
            <a:endParaRPr/>
          </a:p>
        </p:txBody>
      </p:sp>
      <p:sp>
        <p:nvSpPr>
          <p:cNvPr id="154" name="Google Shape;154;g766ac90cdc_0_86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766ac90cdc_0_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766ac90cdc_0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Dependability is the primary factor that we use to determine quality</a:t>
            </a:r>
            <a:r>
              <a:rPr lang="sv-SE">
                <a:solidFill>
                  <a:schemeClr val="dk1"/>
                </a:solidFill>
              </a:rPr>
              <a:t>.</a:t>
            </a:r>
            <a:r>
              <a:rPr lang="sv-SE"/>
              <a:t> However, when we talk about dependability,</a:t>
            </a:r>
            <a:r>
              <a:rPr lang="sv-SE"/>
              <a:t> Dependability is a sort of meta-quality attribute. It actiually encompasses four dimensions. We don’t typically achieve all four, but all four are </a:t>
            </a:r>
            <a:r>
              <a:rPr lang="sv-SE"/>
              <a:t>important</a:t>
            </a:r>
            <a:r>
              <a:rPr lang="sv-SE"/>
              <a:t> (go over)</a:t>
            </a:r>
            <a:endParaRPr>
              <a:solidFill>
                <a:schemeClr val="dk1"/>
              </a:solidFill>
            </a:endParaRPr>
          </a:p>
          <a:p>
            <a:pPr indent="0" lvl="0" marL="0" rtl="0" algn="l">
              <a:lnSpc>
                <a:spcPct val="120000"/>
              </a:lnSpc>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766ac90cdc_0_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766ac90cdc_0_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simplest of these properties in definition, if not in use, is correctness - A program is correct if it is consistent with its specifications. By definition, a specification divides all system behaviors into two classes - successful or correct executions - those that match what was specified in the requirements - and failures, or incorrect executions - all of those that are inconsistent. All possible behaviors of a correct system result in successful executions that are consistent with the specifications.  A program cannot be 30% correct. It is either correct or not correct. The difficulty and utility of showing correctness depend on the completeness of your requirements. </a:t>
            </a:r>
            <a:endParaRPr/>
          </a:p>
          <a:p>
            <a:pPr indent="0" lvl="0" marL="0" rtl="0" algn="l">
              <a:spcBef>
                <a:spcPts val="0"/>
              </a:spcBef>
              <a:spcAft>
                <a:spcPts val="0"/>
              </a:spcAft>
              <a:buNone/>
            </a:pPr>
            <a:r>
              <a:rPr lang="sv-SE"/>
              <a:t>A program can easily be shown to be correct with respect to a weak specification. However, it is often impossible to prove correctness with a good, detailed specification, as that would require showing every possible behavior of the program. Correctness is a goal to aim for, but is rarely provably achieved.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766ac90cdc_0_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766ac90cdc_0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Instead, we often aim for </a:t>
            </a:r>
            <a:r>
              <a:rPr b="1" lang="sv-SE"/>
              <a:t>reliability </a:t>
            </a:r>
            <a:r>
              <a:rPr lang="sv-SE"/>
              <a:t>as a specific quality goal, as it is an approximation of acceptable correctness. (go over)Testing can demonstrate reliability, but not correctness.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766ac90cdc_0_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766ac90cdc_0_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Those definitions of correctness and reliability have two properties that lead into the concepts of safety and correctness - first, success or failure is relative to a specification, they are only as strong as the specification. If you have an incomplete spec, lacking detail, then it’s easy to say the system is correct or reliable. If the specification is detailed, we cannot show correctness and only can build some evidence for reliability. Second, those two qualities make no distinction between failures that are minorly annoying and failures that are life-threatening. Not all failures  are equally </a:t>
            </a:r>
            <a:r>
              <a:rPr lang="sv-SE"/>
              <a:t>annoying</a:t>
            </a:r>
            <a:r>
              <a:rPr lang="sv-SE"/>
              <a:t>.. For some kinds of systems, it is really important to consider the severity of a fault. Our last two properties - safety and robustness - help deal with both of these issues. Safety revolves around a limited specificaition of a set of major safety hazards that we must avoid above all else. Robustness revolves around everything we haven’t thought of specifying. Of course, we don’t need to be psychics, we don’t need to handle everything possible, but robustness tasks us with putting safeguards in place to prevent these unforeseen risks from causing catastrophic errors.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b4f2e93b77_0_30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b4f2e93b77_0_3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where, by hazard, I mean a known, defined undesirable situation, generally prioritized by the severity of the problem. It might be annoying any time your word processor crashes, but it it corrupts your document - preventing recovery - then that is a hazard you want to avoid. If there is a brief graphical glitch on your aircraft display, that’s fine. If a software bug prevents the altitude from ever being displayed to the screen, then that is a serious hazard to avoid. Demonstrating safety (4). Rather than fosucsing on the full specification, we create a small ,focused hazard specification that defines what each hazard is and imposes requirements on how it will be avoided. We then, ideally, prove that the software does avoid the hazard by doing what we promised. If proofs are not possible, we at least will gather observations and build evidence, like in reliability. </a:t>
            </a:r>
            <a:endParaRPr/>
          </a:p>
          <a:p>
            <a:pPr indent="0" lvl="0" marL="0" rtl="0" algn="l">
              <a:spcBef>
                <a:spcPts val="0"/>
              </a:spcBef>
              <a:spcAft>
                <a:spcPts val="0"/>
              </a:spcAft>
              <a:buNone/>
            </a:pPr>
            <a:r>
              <a:rPr lang="sv-SE"/>
              <a:t>By ignoring other elements of correctness, a safety specification is often easier to analyze than the full specification. And, by looking at hazards  in isolation, you can better think through what those hazards are and how to avoid them. Because we have this small, focused specification, we can often prove safety, unlike correctness.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766ac90cdc_0_6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766ac90cdc_0_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Correctness, reliability, and safety are contingent on normal operating conditions. They depend on specifications to define what “normal” is - what conditions we expect to use the system under, and how behavior occurs in those situations. All specifications make assumptions, implicit or explicit. What happens when those assumptions are violated? What happens when we land outside of the specification? that is where robustness comes in. (1)  it’s not reasonable to expect file changes to save when there’s no harddrive space, or money to be dispensed by an atm when there is none in the machine, or a sale to take place when there’s no network connection or too many server connections. Software that is “correct” might still fail. When you design software ,when you write a specification, you make assumptions on how the software will operate and be used. When those assumptions are violated, the software will fail. In those situations, how it fails becomes important. (read 3) This is not something you prove or can even demonstrate in a meaningful way. Instead, this is something you aspire to in the software design.  When designing software to be robust, you accept that failure might occur. and you try to control how it fails. (4) You can design software to be able to recover some portion of a document if something that happens that causes a crash, or use redundancy to recover if part of an app crashes or if there is some data loss,  or design a webpage that will turn away users when load is too high. You design the software to recover from or prevent issues that could come up if there is a problem. You don’t know what will happen - but you may know how many problems would manifest - crashes, slowdown, inability to connect to a service - and you design the software to react to those problems.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b56e01aec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b56e01aec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g3b56e01aec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766ac90cdc_0_7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766ac90cdc_0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ideally would have all four. Software that is correct is also reliable, but not vice-versa (top-left). Software that is safe is also robust, but not vice-versa (top-right). Software can be correct but not safe (bottom left). It can also be safe, but not correct (bottom right).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766ac90cdc_0_9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766ac90cdc_0_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we need to establish criteria for when we are done - when we can claim to be dependable enough. Correctness is not a good basis for this, your software is either correct or not, and it’s unlikely to ever be provably correct if your specification is complex. That’s an aim, but not realistically 100% achieveable. </a:t>
            </a:r>
            <a:endParaRPr/>
          </a:p>
          <a:p>
            <a:pPr indent="0" lvl="0" marL="0" rtl="0" algn="l">
              <a:spcBef>
                <a:spcPts val="0"/>
              </a:spcBef>
              <a:spcAft>
                <a:spcPts val="0"/>
              </a:spcAft>
              <a:buNone/>
            </a:pPr>
            <a:r>
              <a:rPr lang="sv-SE"/>
              <a:t>Robustness and Safety are important, but hard to measure, and not necessarily the best grounds to base your release on - you could be safe, but the rest of your software could be an mess, putting out the wrong output constantly. It doesn’t show dependability under normal circumstances. Reliability is the best basis for establishing the level of dependability of your software. (last three points). Next, we will talk about how you measure reliability.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766ac90cdc_0_8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766ac90cdc_0_8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Just start with a question - want you to start thinking about this. (read) </a:t>
            </a:r>
            <a:endParaRPr sz="1100">
              <a:solidFill>
                <a:srgbClr val="000000"/>
              </a:solidFill>
              <a:latin typeface="Arial"/>
              <a:ea typeface="Arial"/>
              <a:cs typeface="Arial"/>
              <a:sym typeface="Arial"/>
            </a:endParaRPr>
          </a:p>
          <a:p>
            <a:pPr indent="0" lvl="0" marL="0" rtl="0" algn="l">
              <a:spcBef>
                <a:spcPts val="0"/>
              </a:spcBef>
              <a:spcAft>
                <a:spcPts val="0"/>
              </a:spcAft>
              <a:buNone/>
            </a:pPr>
            <a:r>
              <a:rPr lang="sv-SE" sz="1100">
                <a:solidFill>
                  <a:srgbClr val="000000"/>
                </a:solidFill>
                <a:latin typeface="Arial"/>
                <a:ea typeface="Arial"/>
                <a:cs typeface="Arial"/>
                <a:sym typeface="Arial"/>
              </a:rPr>
              <a:t>This isn’t something with one answer, or even a right answer. It’s something we’ll keep returning to</a:t>
            </a:r>
            <a:endParaRPr/>
          </a:p>
        </p:txBody>
      </p:sp>
      <p:sp>
        <p:nvSpPr>
          <p:cNvPr id="251" name="Google Shape;251;g766ac90cdc_0_8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b4f2e93b77_0_3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b4f2e93b77_0_3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rgbClr val="4F4F4F"/>
                </a:solidFill>
              </a:rPr>
              <a:t>Availability is both a part of </a:t>
            </a:r>
            <a:r>
              <a:rPr lang="sv-SE">
                <a:solidFill>
                  <a:srgbClr val="4F4F4F"/>
                </a:solidFill>
              </a:rPr>
              <a:t>reliability</a:t>
            </a:r>
            <a:r>
              <a:rPr lang="sv-SE">
                <a:solidFill>
                  <a:srgbClr val="4F4F4F"/>
                </a:solidFill>
              </a:rPr>
              <a:t> and a standalone quality attribute on its own. </a:t>
            </a:r>
            <a:r>
              <a:rPr lang="sv-SE">
                <a:solidFill>
                  <a:srgbClr val="4F4F4F"/>
                </a:solidFill>
              </a:rPr>
              <a:t>Availability essentially asks whether the software can carry out a task when it is needed, and when it fails, its ability to cover up and work around the fault or recover fully from the fault. Essentially, when something happens, how fast does the system return to normal operation. </a:t>
            </a:r>
            <a:r>
              <a:rPr lang="sv-SE"/>
              <a:t>As part of reliability, high availability helps ensure that the reliability is seen as good - if the system does fail, perhaps that failure can be stopped, recovered from, or at least worked around before the user notives it. </a:t>
            </a:r>
            <a:r>
              <a:rPr lang="sv-SE"/>
              <a:t>as a standalone quality attribute, availability shows that - when something bad </a:t>
            </a:r>
            <a:r>
              <a:rPr lang="sv-SE"/>
              <a:t>happenes - the system can recover quickly and get back to operation.</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b4f2e93b77_0_6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b4f2e93b77_0_6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(1). </a:t>
            </a:r>
            <a:r>
              <a:rPr lang="sv-SE">
                <a:solidFill>
                  <a:schemeClr val="dk1"/>
                </a:solidFill>
              </a:rPr>
              <a:t>One of the most demanding tasks in building a high-availability, fault-tolerant system is to understand the nature of the failures that can arise during operation. Once those are understood, mitigation strategies can be designed into the software. Faults can be prevented, tolerated, </a:t>
            </a:r>
            <a:r>
              <a:rPr lang="sv-SE"/>
              <a:t>or recovered from.</a:t>
            </a:r>
            <a:r>
              <a:rPr lang="sv-SE">
                <a:solidFill>
                  <a:schemeClr val="dk1"/>
                </a:solidFill>
              </a:rPr>
              <a:t> In this way a system becomes “resilient” to faults. Among the areas with which we are concerned are how system faults are detected, how frequently failures may occur, what happens when a failure occurs, how long a system is allowed to be out of operation, when faults or failures may occur safely, how faults or failures can be prevented, and what kinds of notifications are required when a failure occurs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b4f2e93b77_0_6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b4f2e93b77_0_6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Because a system failure is observable by users, the time to repair is the time until the failure is no longer observable. This may be a brief delay in the response time or it may be the time it takes someone to fly to a remote location in the Andes to repair a piece of mining machinery (as was recounted to us by a person responsible for repairing the software in a mining machine engine). The notion of “observability” can be a tricky one: the Stuxnet virus, as an example, went unobserved for a very long time even though it was doing damage. In addition, unlike hardware, we are often concerned with the level of capability that remains when a failure has occurred—a degraded operating mode.</a:t>
            </a:r>
            <a:endParaRPr/>
          </a:p>
          <a:p>
            <a:pPr indent="0" lvl="0" marL="0" rtl="0" algn="l">
              <a:spcBef>
                <a:spcPts val="0"/>
              </a:spcBef>
              <a:spcAft>
                <a:spcPts val="0"/>
              </a:spcAft>
              <a:buNone/>
            </a:pPr>
            <a:r>
              <a:rPr lang="sv-SE"/>
              <a:t>The distinction between faults and failures allows discussion of automatic repair strategies. That is, if code containing a fault is executed but the system is able to recover from the fault without any deviation from specified behavior being observable, there is no failure.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25b1aad6cc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25b1aad6cc_0_2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How do we measure these? We group reliability and availability, as they have common measurements.</a:t>
            </a:r>
            <a:endParaRPr/>
          </a:p>
        </p:txBody>
      </p:sp>
      <p:sp>
        <p:nvSpPr>
          <p:cNvPr id="280" name="Google Shape;280;g325b1aad6cc_0_2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766ac90cdc_0_1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766ac90cdc_0_1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Measuring reliability is normal when building hardware, but hardware metrics often aren’t suitable for software. </a:t>
            </a:r>
            <a:r>
              <a:rPr lang="sv-SE">
                <a:solidFill>
                  <a:schemeClr val="dk1"/>
                </a:solidFill>
              </a:rPr>
              <a:t> (2) once the hardware fails, it has failed until you replace the part. How it failed didn’t really matter. It’s working or not. Software isn’t quite so binary. In software, failure can be more easily recovered from, and may only be partial. You can fail in degrees. </a:t>
            </a:r>
            <a:r>
              <a:rPr lang="sv-SE"/>
              <a:t> </a:t>
            </a:r>
            <a:r>
              <a:rPr lang="sv-SE">
                <a:solidFill>
                  <a:schemeClr val="dk1"/>
                </a:solidFill>
              </a:rPr>
              <a:t>- the thing is, with hardware, the design is assumed to be correct - you just had a component wear out or go bad. in software, parts don’t fail - there’s no hardware degradation. (read </a:t>
            </a:r>
            <a:r>
              <a:rPr lang="sv-SE"/>
              <a:t>4-6</a:t>
            </a:r>
            <a:r>
              <a:rPr lang="sv-SE">
                <a:solidFill>
                  <a:schemeClr val="dk1"/>
                </a:solidFill>
              </a:rPr>
              <a:t>)</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766ac90cdc_0_1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766ac90cdc_0_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t>Our first metric is the “time available” - the percentage of the time that the system is up and running. As a measurement of reliability, </a:t>
            </a:r>
            <a:r>
              <a:rPr lang="sv-SE"/>
              <a:t>(1) </a:t>
            </a:r>
            <a:r>
              <a:rPr lang="sv-SE"/>
              <a:t>(2)</a:t>
            </a:r>
            <a:r>
              <a:rPr lang="sv-SE"/>
              <a:t>), and gives us a clear indicator of when the system is able to respond. now, this is important, but not perfect on its own, as Does not tend to take incorrect computations (partial failures) into account. If the system doesn’y crash, it doesn’t affect the availability. </a:t>
            </a:r>
            <a:r>
              <a:rPr lang="sv-SE">
                <a:solidFill>
                  <a:schemeClr val="dk1"/>
                </a:solidFill>
              </a:rPr>
              <a:t>be careful when looking at availability figures, keep an eye on the number of digits. One decimal point makes a huge difference.</a:t>
            </a:r>
            <a:r>
              <a:rPr lang="sv-SE"/>
              <a:t> (go over last bit)</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766ac90cdc_0_1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766ac90cdc_0_1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 1-3)- This is measured independently of the frequency of requests, which is something you should consider. Often, a system that monitors a chemical reactor and shuts down the reaction if it is overheating should have reliability measured using POFOD. Generally, requests will be infrequent - will be a last line of defense - but any failures on that request would result in terrible consequences.</a:t>
            </a:r>
            <a:r>
              <a:rPr lang="sv-SE"/>
              <a:t> </a:t>
            </a:r>
            <a:r>
              <a:rPr lang="sv-SE">
                <a:solidFill>
                  <a:schemeClr val="dk1"/>
                </a:solidFill>
              </a:rPr>
              <a:t>(read 5)</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766ac90cdc_0_1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766ac90cdc_0_1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Another factor to consider is how often failures occur, which you can do through ROCOF. (read 1-</a:t>
            </a:r>
            <a:r>
              <a:rPr lang="sv-SE"/>
              <a:t>4</a:t>
            </a:r>
            <a:r>
              <a:rPr lang="sv-SE">
                <a:solidFill>
                  <a:schemeClr val="dk1"/>
                </a:solidFill>
              </a:rPr>
              <a:t>). So, in a online store, you might want to set a ROCOF of 10 transactions per day that fail. You’re willing to accept 10 failed transactions per day. As opposed to </a:t>
            </a:r>
            <a:r>
              <a:rPr lang="sv-SE"/>
              <a:t>POFOD, where you might seta threshold of </a:t>
            </a:r>
            <a:r>
              <a:rPr lang="sv-SE">
                <a:solidFill>
                  <a:schemeClr val="dk1"/>
                </a:solidFill>
              </a:rPr>
              <a:t>10 failed transactions out of every 1000.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766ac90cdc_0_16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766ac90cdc_0_1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 1-3) This is important in situations where the time in operation is crucially important</a:t>
            </a:r>
            <a:r>
              <a:rPr lang="sv-SE"/>
              <a:t>, like when users have long sessions where crashes can cause problems. </a:t>
            </a:r>
            <a:r>
              <a:rPr lang="sv-SE">
                <a:solidFill>
                  <a:schemeClr val="dk1"/>
                </a:solidFill>
              </a:rPr>
              <a:t>For instance, in a CAD system, an architect might spend the whole day on a design. Saving work takes rendering time and might take up a lot of storage space, so you might no</a:t>
            </a:r>
            <a:r>
              <a:rPr lang="sv-SE"/>
              <a:t>t</a:t>
            </a:r>
            <a:r>
              <a:rPr lang="sv-SE">
                <a:solidFill>
                  <a:schemeClr val="dk1"/>
                </a:solidFill>
              </a:rPr>
              <a:t> save often. So, you want a MT</a:t>
            </a:r>
            <a:r>
              <a:rPr lang="sv-SE"/>
              <a:t>B</a:t>
            </a:r>
            <a:r>
              <a:rPr lang="sv-SE">
                <a:solidFill>
                  <a:schemeClr val="dk1"/>
                </a:solidFill>
              </a:rPr>
              <a:t>F that is higher than the average time a user spends working on their design model. You want it to be unlikely that they lose their work before saving</a:t>
            </a:r>
            <a:r>
              <a:rPr lang="sv-SE"/>
              <a:t> and rendering, especially if you can’t consume the resources needed to save regularly or you can’t save partial results.</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25b1aad6cc_0_22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25b1aad6cc_0_2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rgbClr val="4F4F4F"/>
                </a:solidFill>
              </a:rPr>
              <a:t>The goal of availability, as a quality attribute, is to show that the system can avoid, handle or recover from failures. Your measurements come from exactly what you are trying to show. </a:t>
            </a:r>
            <a:r>
              <a:rPr lang="sv-SE">
                <a:solidFill>
                  <a:srgbClr val="4F4F4F"/>
                </a:solidFill>
              </a:rPr>
              <a:t>First, if your goal is to show that your system can avoid or work around certain kinds of failures, then you can use reliability measurements. If showing that the system can avoid that failure, put the system in situations where that failure could occur, and see if it does. If you can show high reliability, despite the conditions, then you have evidence that that failure has been avoided. Second, if you want to show that the system can ignore a certain failure, you can measure reliability. You would ensure the failure occurs, then assess the effects that this failure has on subsequent reliability afterwards, and compare to situations where the failure did not occur. The reliability should be similar. Finally, if showing that the system can recover, then you generally use time. How long did the system take to return to normal. You also might look at the effects of the failure, similar to the “ignore” path.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766ac90cdc_0_8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766ac90cdc_0_8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10 min break, will take more later</a:t>
            </a:r>
            <a:endParaRPr/>
          </a:p>
        </p:txBody>
      </p:sp>
      <p:sp>
        <p:nvSpPr>
          <p:cNvPr id="329" name="Google Shape;329;g766ac90cdc_0_8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b4f2e93b77_0_6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b4f2e93b77_0_6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gb4f2e93b77_0_67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b56e01aec0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b56e01aec0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3b56e01aec0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56e01aec0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b56e01aec0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g3b56e01aec0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b56e01aec0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b56e01aec0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b56e01aec0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b56e01aec0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b56e01aec0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b56e01aec0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b56e01aec0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b56e01aec0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g3b56e01aec0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b56e01aec0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b56e01aec0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g3b56e01aec0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b4f2e93b77_0_3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b4f2e93b77_0_3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Just start with a question - want you to start thinking about this. (read) </a:t>
            </a:r>
            <a:endParaRPr sz="1100">
              <a:solidFill>
                <a:srgbClr val="000000"/>
              </a:solidFill>
              <a:latin typeface="Arial"/>
              <a:ea typeface="Arial"/>
              <a:cs typeface="Arial"/>
              <a:sym typeface="Arial"/>
            </a:endParaRPr>
          </a:p>
          <a:p>
            <a:pPr indent="0" lvl="0" marL="0" rtl="0" algn="l">
              <a:spcBef>
                <a:spcPts val="0"/>
              </a:spcBef>
              <a:spcAft>
                <a:spcPts val="0"/>
              </a:spcAft>
              <a:buNone/>
            </a:pPr>
            <a:r>
              <a:rPr lang="sv-SE" sz="1100">
                <a:solidFill>
                  <a:srgbClr val="000000"/>
                </a:solidFill>
                <a:latin typeface="Arial"/>
                <a:ea typeface="Arial"/>
                <a:cs typeface="Arial"/>
                <a:sym typeface="Arial"/>
              </a:rPr>
              <a:t>This isn’t something with one answer, or even a right answer. It’s something we’ll keep returning to</a:t>
            </a:r>
            <a:endParaRPr/>
          </a:p>
        </p:txBody>
      </p:sp>
      <p:sp>
        <p:nvSpPr>
          <p:cNvPr id="395" name="Google Shape;395;gb4f2e93b77_0_3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b4f2e93b77_0_69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b4f2e93b77_0_6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is about the software system’s ability to meet timing requirements. When events occur the system must respond to them in time. When we discuss performance, we Characterize the events that can occur (and when they can occur) and the system’s response to those events. In a web system, those events might be requests (numbering in the tens or tens of millions) via web browsers or through APIs. In a control system for an engine, events come from the operator’s controls and the passage of time; the system must control both the firing of the ignition when a cylinder is in the correct position and the mixture of the fuel to maximize efficiency. For a web-based system, the desired response might be expressed as number of transactions that can be processed in a minute. For the engine control system, the response might be the allowable variation in the firing time. In each case, the pattern of events arriving and the pattern of responses can be characterized, and this characterization is used to assess performance. Performance has been the driving factor in how we design systems, over all other qualities.All systems have performance requirements, even if not expressed. A word processer may not have explicit performance requirement, but you would agree that waiting an hour (or a minute, or a second) before seeing a typed character appear on the screen is too long. Performance continues to be a fundamentally important quality attribute for all software.</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b4f2e93b77_0_6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b4f2e93b77_0_6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is often linked to scalability—that is, increasing your system’s capacity for work (1 , while still performing well and meeting performance and reliability requirements. Two kinds of scalability are horizontal scalability and vertical scalability. Horizontal scalability (scaling out) refers to adding more resources to logical units, such as adding another server to a cluster of servers. </a:t>
            </a:r>
            <a:r>
              <a:rPr lang="sv-SE">
                <a:solidFill>
                  <a:schemeClr val="dk1"/>
                </a:solidFill>
              </a:rPr>
              <a:t>In cloud environments, horizontal scalability is called elasticity. Elasticity is a property that enables a customer to add or remove virtual machines from the resource pool. These virtual machines are hosted on a large collection of upwards of 10,000 physical machines that are managed by the cloud provider. </a:t>
            </a:r>
            <a:r>
              <a:rPr lang="sv-SE"/>
              <a:t>Vertical scalability (scaling up) refers to adding more resources to a physical unit, such as adding more memory to a single computer.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b4f2e93b77_0_7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b4f2e93b77_0_7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solidFill>
                  <a:schemeClr val="dk1"/>
                </a:solidFill>
              </a:rPr>
              <a:t>The problem that arises with either type of scaling is how to effectively utilize the additional resources. </a:t>
            </a:r>
            <a:r>
              <a:rPr lang="sv-SE"/>
              <a:t> </a:t>
            </a:r>
            <a:r>
              <a:rPr lang="sv-SE">
                <a:solidFill>
                  <a:schemeClr val="dk1"/>
                </a:solidFill>
              </a:rPr>
              <a:t>Being effective means that the additional resources result in a measurable improvement of some system quality, did not require undue effort to add, and did not disrupt operations. </a:t>
            </a:r>
            <a:r>
              <a:rPr lang="sv-SE"/>
              <a:t> </a:t>
            </a:r>
            <a:r>
              <a:rPr lang="sv-SE">
                <a:solidFill>
                  <a:schemeClr val="dk1"/>
                </a:solidFill>
              </a:rPr>
              <a:t>Technically, scalability is making your system easy to change in a particular way, and so is a kind of modifiability. </a:t>
            </a:r>
            <a:r>
              <a:rPr lang="sv-SE"/>
              <a:t>The problem with achieving scalability by adding hardware (particularly when scaling out) is that it usually isn’t very effective unless the system has been designed to take advantage of the new hardware. If your system’s scalability is limited by a single threaded process at its core, adding more CPUs or machines isn’t going to help, and increasing the speed of the single CPU on which it runs will be of limited help. Similarly, if you can’t partition your workload into many cooperating processes, you won’t be able to take advantage of scaling out. You can certainly be lucky, and in certain situations adding some more hardware can save the day, but it is a dangerous tactic to rely on unless the system has been built from the outset with good scalability characteristics.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25b1aad6cc_0_2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25b1aad6cc_0_2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1100">
                <a:solidFill>
                  <a:srgbClr val="000000"/>
                </a:solidFill>
                <a:latin typeface="Arial"/>
                <a:ea typeface="Arial"/>
                <a:cs typeface="Arial"/>
                <a:sym typeface="Arial"/>
              </a:rPr>
              <a:t>Just start with a question - want you to start thinking about this. (read) </a:t>
            </a:r>
            <a:endParaRPr sz="1100">
              <a:solidFill>
                <a:srgbClr val="000000"/>
              </a:solidFill>
              <a:latin typeface="Arial"/>
              <a:ea typeface="Arial"/>
              <a:cs typeface="Arial"/>
              <a:sym typeface="Arial"/>
            </a:endParaRPr>
          </a:p>
          <a:p>
            <a:pPr indent="0" lvl="0" marL="0" rtl="0" algn="l">
              <a:spcBef>
                <a:spcPts val="0"/>
              </a:spcBef>
              <a:spcAft>
                <a:spcPts val="0"/>
              </a:spcAft>
              <a:buNone/>
            </a:pPr>
            <a:r>
              <a:rPr lang="sv-SE" sz="1100">
                <a:solidFill>
                  <a:srgbClr val="000000"/>
                </a:solidFill>
                <a:latin typeface="Arial"/>
                <a:ea typeface="Arial"/>
                <a:cs typeface="Arial"/>
                <a:sym typeface="Arial"/>
              </a:rPr>
              <a:t>This isn’t something with one answer, or even a right answer. It’s something we’ll keep returning to</a:t>
            </a:r>
            <a:endParaRPr/>
          </a:p>
        </p:txBody>
      </p:sp>
      <p:sp>
        <p:nvSpPr>
          <p:cNvPr id="424" name="Google Shape;424;g325b1aad6cc_0_2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b4f2e93b77_0_11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b4f2e93b77_0_1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The response of the system to an event can be measured by the following: (go over)</a:t>
            </a:r>
            <a:endParaRPr/>
          </a:p>
          <a:p>
            <a:pPr indent="0" lvl="0" marL="0" rtl="0" algn="l">
              <a:spcBef>
                <a:spcPts val="0"/>
              </a:spcBef>
              <a:spcAft>
                <a:spcPts val="0"/>
              </a:spcAft>
              <a:buNone/>
            </a:pPr>
            <a:r>
              <a:rPr lang="sv-SE"/>
              <a:t>(6) In the engine controller, for example, the fuel should ignite when the cylinder is in a particular position, thus introducing a processing deadline.</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b4f2e93b77_0_112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b4f2e93b77_0_11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LAtency is one of the most common ways to assess performance. LAtency is the length of time it takes for an  interaction to complete. For a human-oriented system, this could be the length of time between the user initiating the request and the response being available for their use (e.g., from clicking a button to seeing the screen populated with data). this could be the time between invoking a service and the service returning a response, e.g., query to a database. The two aspects of latency that usually need to be considered are </a:t>
            </a:r>
            <a:r>
              <a:rPr lang="sv-SE"/>
              <a:t> the responsiveness of the system itself (e.g., how long it takes the system to respond to a request when a button is clicked) but also how the environment around the system affects the performance- such as the </a:t>
            </a:r>
            <a:r>
              <a:rPr lang="sv-SE"/>
              <a:t>responsiveness of the user’s device (e.g., how long it takes for a keypress or mouse click to be recognized) or the network connection. The system is usually the focus, but the environment can be important to consider in very resource-limited clients, or when users are accessing the ystem  remotely .(last two points)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b4f2e93b77_0_1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b4f2e93b77_0_11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If you run a task multiple times, it will not always take an identical amount of time to finish. (2) - if a task generally takes 10 seconds, plus or minus a small amount, great. If it sometimes takes 10 minutes, that isn’t good. (5) Places boundaries on when task can be completed. If boundaries violated, quality is compromised. (last)</a:t>
            </a:r>
            <a:endParaRPr/>
          </a:p>
        </p:txBody>
      </p:sp>
      <p:sp>
        <p:nvSpPr>
          <p:cNvPr id="445" name="Google Shape;445;gb4f2e93b77_0_11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b4f2e93b77_0_11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b4f2e93b77_0_11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Throughput is defined as the amount of workload the system is capable of handling in a unit time period. (2)Throughput and response time have a complex interrelationship in most systems. In general, the shorter your transaction processing time, the higher the throughput your system can achieve. However, as the load on the system increases (and throughput rises), the response time for individual transactions tends to increase (5-6).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b4f2e93b77_0_11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b4f2e93b77_0_11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sv-SE"/>
              <a:t>Therefore, it is quite possible to end up with a situation where throughput goals can be met only at the expense of latency goals, or vice versa. (2-4)</a:t>
            </a:r>
            <a:endParaRPr/>
          </a:p>
          <a:p>
            <a:pPr indent="0" lvl="0" marL="0" rtl="0" algn="l">
              <a:spcBef>
                <a:spcPts val="0"/>
              </a:spcBef>
              <a:spcAft>
                <a:spcPts val="0"/>
              </a:spcAft>
              <a:buClr>
                <a:schemeClr val="dk1"/>
              </a:buClr>
              <a:buSzPts val="1100"/>
              <a:buFont typeface="Arial"/>
              <a:buNone/>
            </a:pPr>
            <a:r>
              <a:rPr lang="sv-SE"/>
              <a:t>As an engineer, you need to make sure that you and your stakeholders understand these interrelationships and that you have balanced your stakeholders’ different performance goals.</a:t>
            </a:r>
            <a:endParaRPr/>
          </a:p>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b4f2e93b77_0_1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b4f2e93b77_0_11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(1). In the engine controller, for example, the fuel should ignite when the cylinder is in a particular position.Places a deadline on when the fuel must ignite. </a:t>
            </a:r>
            <a:endParaRPr/>
          </a:p>
        </p:txBody>
      </p:sp>
      <p:sp>
        <p:nvSpPr>
          <p:cNvPr id="467" name="Google Shape;467;gb4f2e93b77_0_11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25b1aad6cc_0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325b1aad6cc_0_2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g325b1aad6cc_0_2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25b1aad6cc_0_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25b1aad6cc_0_2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g325b1aad6cc_0_2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b4f2e93b77_0_12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b4f2e93b77_0_12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766ac90cdc_0_2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766ac90cdc_0_2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None/>
            </a:pPr>
            <a:r>
              <a:rPr lang="sv-SE">
                <a:solidFill>
                  <a:schemeClr val="dk1"/>
                </a:solidFill>
              </a:rPr>
              <a:t>(read)</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b4f2e93b77_0_8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b4f2e93b77_0_8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refers to the ability of the system to be available for use, especially after a fault occurs. The fault must be recognized (or prevented) and then the system must respond in some fashion. The response desired will depend on the criticality of the application and the type of fault and can range from “ignore it” to “keep on going as if it didn’t occur.”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766ac90cd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766ac90cd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g766ac90cd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green">
  <p:cSld name="Title green">
    <p:spTree>
      <p:nvGrpSpPr>
        <p:cNvPr id="13" name="Shape 13"/>
        <p:cNvGrpSpPr/>
        <p:nvPr/>
      </p:nvGrpSpPr>
      <p:grpSpPr>
        <a:xfrm>
          <a:off x="0" y="0"/>
          <a:ext cx="0" cy="0"/>
          <a:chOff x="0" y="0"/>
          <a:chExt cx="0" cy="0"/>
        </a:xfrm>
      </p:grpSpPr>
      <p:sp>
        <p:nvSpPr>
          <p:cNvPr id="14" name="Google Shape;14;p2"/>
          <p:cNvSpPr txBox="1"/>
          <p:nvPr>
            <p:ph idx="1" type="body"/>
          </p:nvPr>
        </p:nvSpPr>
        <p:spPr>
          <a:xfrm>
            <a:off x="406439" y="1523571"/>
            <a:ext cx="6334835" cy="116416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0000"/>
              </a:lnSpc>
              <a:spcBef>
                <a:spcPts val="750"/>
              </a:spcBef>
              <a:spcAft>
                <a:spcPts val="0"/>
              </a:spcAft>
              <a:buClr>
                <a:schemeClr val="lt1"/>
              </a:buClr>
              <a:buSzPts val="4000"/>
              <a:buFont typeface="Arial"/>
              <a:buNone/>
              <a:defRPr b="1" i="0" sz="40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4000"/>
              <a:buFont typeface="Arial"/>
              <a:buNone/>
              <a:defRPr b="1" i="0" sz="400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
        <p:nvSpPr>
          <p:cNvPr id="15" name="Google Shape;15;p2"/>
          <p:cNvSpPr txBox="1"/>
          <p:nvPr>
            <p:ph idx="2" type="body"/>
          </p:nvPr>
        </p:nvSpPr>
        <p:spPr>
          <a:xfrm>
            <a:off x="406439" y="2734594"/>
            <a:ext cx="5005388" cy="42919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lt1"/>
              </a:buClr>
              <a:buSzPts val="1800"/>
              <a:buFont typeface="Arial"/>
              <a:buNone/>
              <a:defRPr b="0" i="0" sz="1800" u="none" cap="none" strike="noStrike">
                <a:solidFill>
                  <a:schemeClr val="lt1"/>
                </a:solidFill>
                <a:latin typeface="Arial"/>
                <a:ea typeface="Arial"/>
                <a:cs typeface="Arial"/>
                <a:sym typeface="Arial"/>
              </a:defRPr>
            </a:lvl1pPr>
            <a:lvl2pPr indent="-228600" lvl="1" marL="914400" marR="0" rtl="0" algn="l">
              <a:lnSpc>
                <a:spcPct val="90000"/>
              </a:lnSpc>
              <a:spcBef>
                <a:spcPts val="375"/>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indent="-228600" lvl="2" marL="1371600" marR="0" rtl="0" algn="l">
              <a:lnSpc>
                <a:spcPct val="90000"/>
              </a:lnSpc>
              <a:spcBef>
                <a:spcPts val="375"/>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3pPr>
            <a:lvl4pPr indent="-228600" lvl="3" marL="18288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4pPr>
            <a:lvl5pPr indent="-228600" lvl="4" marL="2286000" marR="0" rtl="0" algn="l">
              <a:lnSpc>
                <a:spcPct val="90000"/>
              </a:lnSpc>
              <a:spcBef>
                <a:spcPts val="375"/>
              </a:spcBef>
              <a:spcAft>
                <a:spcPts val="0"/>
              </a:spcAft>
              <a:buClr>
                <a:schemeClr val="dk1"/>
              </a:buClr>
              <a:buSzPts val="1350"/>
              <a:buFont typeface="Arial"/>
              <a:buNone/>
              <a:defRPr b="0" i="0" sz="1350" u="none" cap="none" strike="noStrike">
                <a:solidFill>
                  <a:schemeClr val="dk1"/>
                </a:solidFill>
                <a:latin typeface="Arial"/>
                <a:ea typeface="Arial"/>
                <a:cs typeface="Arial"/>
                <a:sym typeface="Arial"/>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ne column">
  <p:cSld name="List one column">
    <p:spTree>
      <p:nvGrpSpPr>
        <p:cNvPr id="20" name="Shape 20"/>
        <p:cNvGrpSpPr/>
        <p:nvPr/>
      </p:nvGrpSpPr>
      <p:grpSpPr>
        <a:xfrm>
          <a:off x="0" y="0"/>
          <a:ext cx="0" cy="0"/>
          <a:chOff x="0" y="0"/>
          <a:chExt cx="0" cy="0"/>
        </a:xfrm>
      </p:grpSpPr>
      <p:sp>
        <p:nvSpPr>
          <p:cNvPr id="21" name="Google Shape;21;p4"/>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22" name="Google Shape;22;p4"/>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3" name="Google Shape;23;p4"/>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24" name="Google Shape;24;p4"/>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25" name="Google Shape;25;p4"/>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4"/>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one column">
  <p:cSld name="Preamble, list one column">
    <p:spTree>
      <p:nvGrpSpPr>
        <p:cNvPr id="27" name="Shape 27"/>
        <p:cNvGrpSpPr/>
        <p:nvPr/>
      </p:nvGrpSpPr>
      <p:grpSpPr>
        <a:xfrm>
          <a:off x="0" y="0"/>
          <a:ext cx="0" cy="0"/>
          <a:chOff x="0" y="0"/>
          <a:chExt cx="0" cy="0"/>
        </a:xfrm>
      </p:grpSpPr>
      <p:sp>
        <p:nvSpPr>
          <p:cNvPr id="28" name="Google Shape;28;p5"/>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rgbClr val="000000"/>
              </a:solidFill>
              <a:latin typeface="Arial"/>
              <a:ea typeface="Arial"/>
              <a:cs typeface="Arial"/>
              <a:sym typeface="Arial"/>
            </a:endParaRPr>
          </a:p>
        </p:txBody>
      </p:sp>
      <p:sp>
        <p:nvSpPr>
          <p:cNvPr id="29" name="Google Shape;29;p5"/>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0" name="Google Shape;30;p5"/>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1" name="Google Shape;31;p5"/>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32" name="Google Shape;32;p5"/>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3" name="Google Shape;33;p5"/>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298450" lvl="5" marL="2743200" marR="0" rtl="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two columns">
  <p:cSld name="List two columns">
    <p:spTree>
      <p:nvGrpSpPr>
        <p:cNvPr id="34" name="Shape 34"/>
        <p:cNvGrpSpPr/>
        <p:nvPr/>
      </p:nvGrpSpPr>
      <p:grpSpPr>
        <a:xfrm>
          <a:off x="0" y="0"/>
          <a:ext cx="0" cy="0"/>
          <a:chOff x="0" y="0"/>
          <a:chExt cx="0" cy="0"/>
        </a:xfrm>
      </p:grpSpPr>
      <p:sp>
        <p:nvSpPr>
          <p:cNvPr id="35" name="Google Shape;35;p6"/>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36" name="Google Shape;36;p6"/>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7" name="Google Shape;37;p6"/>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8" name="Google Shape;38;p6"/>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39" name="Google Shape;39;p6"/>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0" name="Google Shape;40;p6"/>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amble, list two columns">
  <p:cSld name="Preamble, list two columns">
    <p:spTree>
      <p:nvGrpSpPr>
        <p:cNvPr id="41" name="Shape 41"/>
        <p:cNvGrpSpPr/>
        <p:nvPr/>
      </p:nvGrpSpPr>
      <p:grpSpPr>
        <a:xfrm>
          <a:off x="0" y="0"/>
          <a:ext cx="0" cy="0"/>
          <a:chOff x="0" y="0"/>
          <a:chExt cx="0" cy="0"/>
        </a:xfrm>
      </p:grpSpPr>
      <p:sp>
        <p:nvSpPr>
          <p:cNvPr id="42" name="Google Shape;42;p7"/>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43" name="Google Shape;43;p7"/>
          <p:cNvSpPr txBox="1"/>
          <p:nvPr>
            <p:ph type="title"/>
          </p:nvPr>
        </p:nvSpPr>
        <p:spPr>
          <a:xfrm>
            <a:off x="468890" y="614003"/>
            <a:ext cx="8217910" cy="668387"/>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 name="Google Shape;44;p7"/>
          <p:cNvSpPr txBox="1"/>
          <p:nvPr>
            <p:ph idx="1" type="body"/>
          </p:nvPr>
        </p:nvSpPr>
        <p:spPr>
          <a:xfrm>
            <a:off x="468890" y="1282390"/>
            <a:ext cx="8217910" cy="3480241"/>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600"/>
              <a:buFont typeface="Arial"/>
              <a:buNone/>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 name="Google Shape;45;p7"/>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6" name="Google Shape;46;p7"/>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47" name="Google Shape;47;p7"/>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block">
  <p:cSld name="Textblock">
    <p:spTree>
      <p:nvGrpSpPr>
        <p:cNvPr id="48" name="Shape 48"/>
        <p:cNvGrpSpPr/>
        <p:nvPr/>
      </p:nvGrpSpPr>
      <p:grpSpPr>
        <a:xfrm>
          <a:off x="0" y="0"/>
          <a:ext cx="0" cy="0"/>
          <a:chOff x="0" y="0"/>
          <a:chExt cx="0" cy="0"/>
        </a:xfrm>
      </p:grpSpPr>
      <p:sp>
        <p:nvSpPr>
          <p:cNvPr id="49" name="Google Shape;49;p8"/>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0" name="Google Shape;50;p8"/>
          <p:cNvSpPr txBox="1"/>
          <p:nvPr>
            <p:ph type="title"/>
          </p:nvPr>
        </p:nvSpPr>
        <p:spPr>
          <a:xfrm>
            <a:off x="468890" y="614003"/>
            <a:ext cx="8217910" cy="752021"/>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8"/>
          <p:cNvSpPr txBox="1"/>
          <p:nvPr>
            <p:ph idx="1" type="body"/>
          </p:nvPr>
        </p:nvSpPr>
        <p:spPr>
          <a:xfrm>
            <a:off x="468890" y="1366024"/>
            <a:ext cx="8217910" cy="30932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2" name="Google Shape;52;p8"/>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3" name="Google Shape;53;p8"/>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4" name="Google Shape;54;p8"/>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with image">
  <p:cSld name="List with image">
    <p:spTree>
      <p:nvGrpSpPr>
        <p:cNvPr id="55" name="Shape 55"/>
        <p:cNvGrpSpPr/>
        <p:nvPr/>
      </p:nvGrpSpPr>
      <p:grpSpPr>
        <a:xfrm>
          <a:off x="0" y="0"/>
          <a:ext cx="0" cy="0"/>
          <a:chOff x="0" y="0"/>
          <a:chExt cx="0" cy="0"/>
        </a:xfrm>
      </p:grpSpPr>
      <p:sp>
        <p:nvSpPr>
          <p:cNvPr id="56" name="Google Shape;56;p9"/>
          <p:cNvSpPr/>
          <p:nvPr>
            <p:ph idx="2" type="pic"/>
          </p:nvPr>
        </p:nvSpPr>
        <p:spPr>
          <a:xfrm>
            <a:off x="6553200" y="418169"/>
            <a:ext cx="2590800" cy="4512106"/>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3200"/>
              <a:buFont typeface="Arial"/>
              <a:buNone/>
              <a:defRPr b="0" i="0" sz="3200" u="none" cap="none" strike="noStrike">
                <a:solidFill>
                  <a:schemeClr val="dk1"/>
                </a:solidFill>
                <a:latin typeface="Arial"/>
                <a:ea typeface="Arial"/>
                <a:cs typeface="Arial"/>
                <a:sym typeface="Arial"/>
              </a:defRPr>
            </a:lvl1pPr>
            <a:lvl2pPr lvl="1" marR="0" rtl="0" algn="l">
              <a:lnSpc>
                <a:spcPct val="90000"/>
              </a:lnSpc>
              <a:spcBef>
                <a:spcPts val="50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90000"/>
              </a:lnSpc>
              <a:spcBef>
                <a:spcPts val="5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3pPr>
            <a:lvl4pPr lvl="3"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4pPr>
            <a:lvl5pPr lvl="4"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5pPr>
            <a:lvl6pPr lvl="5"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57" name="Google Shape;57;p9"/>
          <p:cNvSpPr/>
          <p:nvPr/>
        </p:nvSpPr>
        <p:spPr>
          <a:xfrm>
            <a:off x="0" y="4930275"/>
            <a:ext cx="9144000" cy="213226"/>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58" name="Google Shape;58;p9"/>
          <p:cNvSpPr txBox="1"/>
          <p:nvPr>
            <p:ph idx="10" type="dt"/>
          </p:nvPr>
        </p:nvSpPr>
        <p:spPr>
          <a:xfrm>
            <a:off x="468890" y="4935625"/>
            <a:ext cx="2133600" cy="2078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600" u="none" cap="none" strike="noStrike">
                <a:solidFill>
                  <a:schemeClr val="lt1"/>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59" name="Google Shape;59;p9"/>
          <p:cNvSpPr txBox="1"/>
          <p:nvPr>
            <p:ph idx="11" type="ftr"/>
          </p:nvPr>
        </p:nvSpPr>
        <p:spPr>
          <a:xfrm>
            <a:off x="3124200" y="4935625"/>
            <a:ext cx="2895600" cy="2078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6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35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35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35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35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35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35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35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350" u="none" cap="none" strike="noStrike">
                <a:solidFill>
                  <a:schemeClr val="dk1"/>
                </a:solidFill>
                <a:latin typeface="Arial"/>
                <a:ea typeface="Arial"/>
                <a:cs typeface="Arial"/>
                <a:sym typeface="Arial"/>
              </a:defRPr>
            </a:lvl9pPr>
          </a:lstStyle>
          <a:p/>
        </p:txBody>
      </p:sp>
      <p:sp>
        <p:nvSpPr>
          <p:cNvPr id="60" name="Google Shape;60;p9"/>
          <p:cNvSpPr txBox="1"/>
          <p:nvPr>
            <p:ph idx="12" type="sldNum"/>
          </p:nvPr>
        </p:nvSpPr>
        <p:spPr>
          <a:xfrm>
            <a:off x="6553200" y="4935625"/>
            <a:ext cx="2133600" cy="2078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600" u="none" cap="none" strike="noStrike">
                <a:solidFill>
                  <a:schemeClr val="lt1"/>
                </a:solidFill>
                <a:latin typeface="Arial"/>
                <a:ea typeface="Arial"/>
                <a:cs typeface="Arial"/>
                <a:sym typeface="Arial"/>
              </a:defRPr>
            </a:lvl1pPr>
            <a:lvl2pPr indent="0" lvl="1" marL="0" marR="0" rtl="0" algn="r">
              <a:spcBef>
                <a:spcPts val="0"/>
              </a:spcBef>
              <a:buNone/>
              <a:defRPr b="0" i="0" sz="600" u="none" cap="none" strike="noStrike">
                <a:solidFill>
                  <a:schemeClr val="lt1"/>
                </a:solidFill>
                <a:latin typeface="Arial"/>
                <a:ea typeface="Arial"/>
                <a:cs typeface="Arial"/>
                <a:sym typeface="Arial"/>
              </a:defRPr>
            </a:lvl2pPr>
            <a:lvl3pPr indent="0" lvl="2" marL="0" marR="0" rtl="0" algn="r">
              <a:spcBef>
                <a:spcPts val="0"/>
              </a:spcBef>
              <a:buNone/>
              <a:defRPr b="0" i="0" sz="600" u="none" cap="none" strike="noStrike">
                <a:solidFill>
                  <a:schemeClr val="lt1"/>
                </a:solidFill>
                <a:latin typeface="Arial"/>
                <a:ea typeface="Arial"/>
                <a:cs typeface="Arial"/>
                <a:sym typeface="Arial"/>
              </a:defRPr>
            </a:lvl3pPr>
            <a:lvl4pPr indent="0" lvl="3" marL="0" marR="0" rtl="0" algn="r">
              <a:spcBef>
                <a:spcPts val="0"/>
              </a:spcBef>
              <a:buNone/>
              <a:defRPr b="0" i="0" sz="600" u="none" cap="none" strike="noStrike">
                <a:solidFill>
                  <a:schemeClr val="lt1"/>
                </a:solidFill>
                <a:latin typeface="Arial"/>
                <a:ea typeface="Arial"/>
                <a:cs typeface="Arial"/>
                <a:sym typeface="Arial"/>
              </a:defRPr>
            </a:lvl4pPr>
            <a:lvl5pPr indent="0" lvl="4" marL="0" marR="0" rtl="0" algn="r">
              <a:spcBef>
                <a:spcPts val="0"/>
              </a:spcBef>
              <a:buNone/>
              <a:defRPr b="0" i="0" sz="600" u="none" cap="none" strike="noStrike">
                <a:solidFill>
                  <a:schemeClr val="lt1"/>
                </a:solidFill>
                <a:latin typeface="Arial"/>
                <a:ea typeface="Arial"/>
                <a:cs typeface="Arial"/>
                <a:sym typeface="Arial"/>
              </a:defRPr>
            </a:lvl5pPr>
            <a:lvl6pPr indent="0" lvl="5" marL="0" marR="0" rtl="0" algn="r">
              <a:spcBef>
                <a:spcPts val="0"/>
              </a:spcBef>
              <a:buNone/>
              <a:defRPr b="0" i="0" sz="600" u="none" cap="none" strike="noStrike">
                <a:solidFill>
                  <a:schemeClr val="lt1"/>
                </a:solidFill>
                <a:latin typeface="Arial"/>
                <a:ea typeface="Arial"/>
                <a:cs typeface="Arial"/>
                <a:sym typeface="Arial"/>
              </a:defRPr>
            </a:lvl6pPr>
            <a:lvl7pPr indent="0" lvl="6" marL="0" marR="0" rtl="0" algn="r">
              <a:spcBef>
                <a:spcPts val="0"/>
              </a:spcBef>
              <a:buNone/>
              <a:defRPr b="0" i="0" sz="600" u="none" cap="none" strike="noStrike">
                <a:solidFill>
                  <a:schemeClr val="lt1"/>
                </a:solidFill>
                <a:latin typeface="Arial"/>
                <a:ea typeface="Arial"/>
                <a:cs typeface="Arial"/>
                <a:sym typeface="Arial"/>
              </a:defRPr>
            </a:lvl7pPr>
            <a:lvl8pPr indent="0" lvl="7" marL="0" marR="0" rtl="0" algn="r">
              <a:spcBef>
                <a:spcPts val="0"/>
              </a:spcBef>
              <a:buNone/>
              <a:defRPr b="0" i="0" sz="600" u="none" cap="none" strike="noStrike">
                <a:solidFill>
                  <a:schemeClr val="lt1"/>
                </a:solidFill>
                <a:latin typeface="Arial"/>
                <a:ea typeface="Arial"/>
                <a:cs typeface="Arial"/>
                <a:sym typeface="Arial"/>
              </a:defRPr>
            </a:lvl8pPr>
            <a:lvl9pPr indent="0" lvl="8" marL="0" marR="0" rtl="0" algn="r">
              <a:spcBef>
                <a:spcPts val="0"/>
              </a:spcBef>
              <a:buNone/>
              <a:defRPr b="0" i="0" sz="6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SE"/>
              <a:t>‹#›</a:t>
            </a:fld>
            <a:endParaRPr/>
          </a:p>
        </p:txBody>
      </p:sp>
      <p:sp>
        <p:nvSpPr>
          <p:cNvPr id="61" name="Google Shape;61;p9"/>
          <p:cNvSpPr txBox="1"/>
          <p:nvPr>
            <p:ph type="title"/>
          </p:nvPr>
        </p:nvSpPr>
        <p:spPr>
          <a:xfrm>
            <a:off x="468890" y="614004"/>
            <a:ext cx="5875349" cy="913714"/>
          </a:xfrm>
          <a:prstGeom prst="rect">
            <a:avLst/>
          </a:prstGeom>
          <a:noFill/>
          <a:ln>
            <a:noFill/>
          </a:ln>
        </p:spPr>
        <p:txBody>
          <a:bodyPr anchorCtr="0" anchor="t" bIns="45700" lIns="91425" spcFirstLastPara="1" rIns="91425" wrap="square" tIns="45700">
            <a:noAutofit/>
          </a:bodyPr>
          <a:lstStyle>
            <a:lvl1pPr lvl="0" marR="0" rtl="0" algn="l">
              <a:lnSpc>
                <a:spcPct val="108333"/>
              </a:lnSpc>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9"/>
          <p:cNvSpPr txBox="1"/>
          <p:nvPr>
            <p:ph idx="1" type="body"/>
          </p:nvPr>
        </p:nvSpPr>
        <p:spPr>
          <a:xfrm>
            <a:off x="468890" y="1709378"/>
            <a:ext cx="5875349" cy="3154853"/>
          </a:xfrm>
          <a:prstGeom prst="rect">
            <a:avLst/>
          </a:prstGeom>
          <a:noFill/>
          <a:ln>
            <a:noFill/>
          </a:ln>
        </p:spPr>
        <p:txBody>
          <a:bodyPr anchorCtr="0" anchor="t" bIns="45700" lIns="91425" spcFirstLastPara="1" rIns="91425" wrap="square" tIns="45700">
            <a:noAutofit/>
          </a:bodyPr>
          <a:lstStyle>
            <a:lvl1pPr indent="-393700" lvl="0" marL="457200" marR="0" rtl="0" algn="l">
              <a:lnSpc>
                <a:spcPct val="90000"/>
              </a:lnSpc>
              <a:spcBef>
                <a:spcPts val="1000"/>
              </a:spcBef>
              <a:spcAft>
                <a:spcPts val="0"/>
              </a:spcAft>
              <a:buClr>
                <a:schemeClr val="dk1"/>
              </a:buClr>
              <a:buSzPts val="2600"/>
              <a:buFont typeface="Arial"/>
              <a:buChar char="•"/>
              <a:defRPr b="0" i="0" sz="2600" u="none" cap="none" strike="noStrike">
                <a:solidFill>
                  <a:schemeClr val="dk1"/>
                </a:solidFill>
                <a:latin typeface="Arial"/>
                <a:ea typeface="Arial"/>
                <a:cs typeface="Arial"/>
                <a:sym typeface="Arial"/>
              </a:defRPr>
            </a:lvl1pPr>
            <a:lvl2pPr indent="-368300" lvl="1" marL="914400" marR="0" rtl="0" algn="l">
              <a:lnSpc>
                <a:spcPct val="90000"/>
              </a:lnSpc>
              <a:spcBef>
                <a:spcPts val="500"/>
              </a:spcBef>
              <a:spcAft>
                <a:spcPts val="0"/>
              </a:spcAft>
              <a:buClr>
                <a:schemeClr val="dk1"/>
              </a:buClr>
              <a:buSzPts val="2200"/>
              <a:buFont typeface="Arial"/>
              <a:buChar char="•"/>
              <a:defRPr b="0" i="0" sz="2200" u="none" cap="none" strike="noStrike">
                <a:solidFill>
                  <a:schemeClr val="dk1"/>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63" name="Shape 63"/>
        <p:cNvGrpSpPr/>
        <p:nvPr/>
      </p:nvGrpSpPr>
      <p:grpSpPr>
        <a:xfrm>
          <a:off x="0" y="0"/>
          <a:ext cx="0" cy="0"/>
          <a:chOff x="0" y="0"/>
          <a:chExt cx="0" cy="0"/>
        </a:xfrm>
      </p:grpSpPr>
      <p:sp>
        <p:nvSpPr>
          <p:cNvPr id="64" name="Google Shape;64;p10"/>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11"/>
          <p:cNvSpPr/>
          <p:nvPr/>
        </p:nvSpPr>
        <p:spPr>
          <a:xfrm>
            <a:off x="0" y="0"/>
            <a:ext cx="9144000" cy="1149600"/>
          </a:xfrm>
          <a:prstGeom prst="rect">
            <a:avLst/>
          </a:prstGeom>
          <a:solidFill>
            <a:srgbClr val="2388D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67" name="Google Shape;67;p11"/>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68" name="Google Shape;68;p11"/>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69" name="Google Shape;69;p11"/>
          <p:cNvSpPr txBox="1"/>
          <p:nvPr>
            <p:ph idx="1" type="body"/>
          </p:nvPr>
        </p:nvSpPr>
        <p:spPr>
          <a:xfrm>
            <a:off x="457200" y="1200150"/>
            <a:ext cx="82296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0" name="Google Shape;70;p1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1" name="Shape 71"/>
        <p:cNvGrpSpPr/>
        <p:nvPr/>
      </p:nvGrpSpPr>
      <p:grpSpPr>
        <a:xfrm>
          <a:off x="0" y="0"/>
          <a:ext cx="0" cy="0"/>
          <a:chOff x="0" y="0"/>
          <a:chExt cx="0" cy="0"/>
        </a:xfrm>
      </p:grpSpPr>
      <p:sp>
        <p:nvSpPr>
          <p:cNvPr id="72" name="Google Shape;72;p12"/>
          <p:cNvSpPr/>
          <p:nvPr/>
        </p:nvSpPr>
        <p:spPr>
          <a:xfrm>
            <a:off x="0" y="0"/>
            <a:ext cx="9144000" cy="114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cxnSp>
        <p:nvCxnSpPr>
          <p:cNvPr id="73" name="Google Shape;73;p12"/>
          <p:cNvCxnSpPr/>
          <p:nvPr/>
        </p:nvCxnSpPr>
        <p:spPr>
          <a:xfrm>
            <a:off x="0" y="1127875"/>
            <a:ext cx="9144000" cy="0"/>
          </a:xfrm>
          <a:prstGeom prst="straightConnector1">
            <a:avLst/>
          </a:prstGeom>
          <a:noFill/>
          <a:ln cap="flat" cmpd="sng" w="57150">
            <a:solidFill>
              <a:srgbClr val="000000">
                <a:alpha val="14900"/>
              </a:srgbClr>
            </a:solidFill>
            <a:prstDash val="solid"/>
            <a:round/>
            <a:headEnd len="sm" w="sm" type="none"/>
            <a:tailEnd len="sm" w="sm" type="none"/>
          </a:ln>
        </p:spPr>
      </p:cxnSp>
      <p:sp>
        <p:nvSpPr>
          <p:cNvPr id="74" name="Google Shape;74;p12"/>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75" name="Google Shape;75;p12"/>
          <p:cNvSpPr txBox="1"/>
          <p:nvPr>
            <p:ph idx="1" type="body"/>
          </p:nvPr>
        </p:nvSpPr>
        <p:spPr>
          <a:xfrm>
            <a:off x="457200"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6" name="Google Shape;76;p12"/>
          <p:cNvSpPr txBox="1"/>
          <p:nvPr>
            <p:ph idx="2" type="body"/>
          </p:nvPr>
        </p:nvSpPr>
        <p:spPr>
          <a:xfrm>
            <a:off x="4692274" y="1200150"/>
            <a:ext cx="3994500" cy="37257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7" name="Google Shape;77;p12"/>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fld id="{00000000-1234-1234-1234-123412341234}" type="slidenum">
              <a:rPr lang="sv-S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sta bilden">
  <p:cSld name="Sista bilden">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png"/><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1.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1"/>
            <a:ext cx="9144000" cy="5143499"/>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1" name="Google Shape;11;p1"/>
          <p:cNvPicPr preferRelativeResize="0"/>
          <p:nvPr/>
        </p:nvPicPr>
        <p:blipFill rotWithShape="1">
          <a:blip r:embed="rId1">
            <a:alphaModFix/>
          </a:blip>
          <a:srcRect b="0" l="0" r="0" t="0"/>
          <a:stretch/>
        </p:blipFill>
        <p:spPr>
          <a:xfrm>
            <a:off x="103910" y="1801"/>
            <a:ext cx="9040090" cy="5141699"/>
          </a:xfrm>
          <a:prstGeom prst="rect">
            <a:avLst/>
          </a:prstGeom>
          <a:noFill/>
          <a:ln>
            <a:noFill/>
          </a:ln>
        </p:spPr>
      </p:pic>
      <p:pic>
        <p:nvPicPr>
          <p:cNvPr id="12" name="Google Shape;12;p1"/>
          <p:cNvPicPr preferRelativeResize="0"/>
          <p:nvPr/>
        </p:nvPicPr>
        <p:blipFill rotWithShape="1">
          <a:blip r:embed="rId2">
            <a:alphaModFix/>
          </a:blip>
          <a:srcRect b="0" l="0" r="0" t="0"/>
          <a:stretch/>
        </p:blipFill>
        <p:spPr>
          <a:xfrm>
            <a:off x="223592" y="286472"/>
            <a:ext cx="5924912" cy="90489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 name="Shape 16"/>
        <p:cNvGrpSpPr/>
        <p:nvPr/>
      </p:nvGrpSpPr>
      <p:grpSpPr>
        <a:xfrm>
          <a:off x="0" y="0"/>
          <a:ext cx="0" cy="0"/>
          <a:chOff x="0" y="0"/>
          <a:chExt cx="0" cy="0"/>
        </a:xfrm>
      </p:grpSpPr>
      <p:sp>
        <p:nvSpPr>
          <p:cNvPr id="17" name="Google Shape;17;p3"/>
          <p:cNvSpPr/>
          <p:nvPr/>
        </p:nvSpPr>
        <p:spPr>
          <a:xfrm>
            <a:off x="0" y="0"/>
            <a:ext cx="9144000" cy="42017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350" u="none" cap="none" strike="noStrike">
              <a:solidFill>
                <a:schemeClr val="dk1"/>
              </a:solidFill>
              <a:latin typeface="Arial"/>
              <a:ea typeface="Arial"/>
              <a:cs typeface="Arial"/>
              <a:sym typeface="Arial"/>
            </a:endParaRPr>
          </a:p>
        </p:txBody>
      </p:sp>
      <p:pic>
        <p:nvPicPr>
          <p:cNvPr id="18" name="Google Shape;18;p3"/>
          <p:cNvPicPr preferRelativeResize="0"/>
          <p:nvPr/>
        </p:nvPicPr>
        <p:blipFill rotWithShape="1">
          <a:blip r:embed="rId1">
            <a:alphaModFix/>
          </a:blip>
          <a:srcRect b="0" l="0" r="0" t="0"/>
          <a:stretch/>
        </p:blipFill>
        <p:spPr>
          <a:xfrm>
            <a:off x="391885" y="-70325"/>
            <a:ext cx="3846286" cy="587433"/>
          </a:xfrm>
          <a:prstGeom prst="rect">
            <a:avLst/>
          </a:prstGeom>
          <a:noFill/>
          <a:ln>
            <a:noFill/>
          </a:ln>
        </p:spPr>
      </p:pic>
      <p:pic>
        <p:nvPicPr>
          <p:cNvPr id="19" name="Google Shape;19;p3"/>
          <p:cNvPicPr preferRelativeResize="0"/>
          <p:nvPr/>
        </p:nvPicPr>
        <p:blipFill rotWithShape="1">
          <a:blip r:embed="rId2">
            <a:alphaModFix/>
          </a:blip>
          <a:srcRect b="0" l="50635" r="0" t="0"/>
          <a:stretch/>
        </p:blipFill>
        <p:spPr>
          <a:xfrm>
            <a:off x="4630056" y="5297"/>
            <a:ext cx="4513943" cy="4095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pic>
        <p:nvPicPr>
          <p:cNvPr id="79" name="Google Shape;79;p13"/>
          <p:cNvPicPr preferRelativeResize="0"/>
          <p:nvPr/>
        </p:nvPicPr>
        <p:blipFill rotWithShape="1">
          <a:blip r:embed="rId1">
            <a:alphaModFix/>
          </a:blip>
          <a:srcRect b="0" l="0" r="0" t="0"/>
          <a:stretch/>
        </p:blipFill>
        <p:spPr>
          <a:xfrm>
            <a:off x="3160752" y="661720"/>
            <a:ext cx="2802914" cy="37070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6.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txBox="1"/>
          <p:nvPr>
            <p:ph idx="1" type="body"/>
          </p:nvPr>
        </p:nvSpPr>
        <p:spPr>
          <a:xfrm>
            <a:off x="406439" y="1523571"/>
            <a:ext cx="6334800" cy="1164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4000"/>
              <a:buNone/>
            </a:pPr>
            <a:r>
              <a:rPr lang="sv-SE" sz="3000"/>
              <a:t>Lecture 2: Quality Attributes and Measurement</a:t>
            </a:r>
            <a:endParaRPr sz="3000"/>
          </a:p>
        </p:txBody>
      </p:sp>
      <p:sp>
        <p:nvSpPr>
          <p:cNvPr id="86" name="Google Shape;86;p15"/>
          <p:cNvSpPr txBox="1"/>
          <p:nvPr>
            <p:ph idx="2" type="body"/>
          </p:nvPr>
        </p:nvSpPr>
        <p:spPr>
          <a:xfrm>
            <a:off x="406439" y="2734594"/>
            <a:ext cx="5005500" cy="429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lt1"/>
              </a:buClr>
              <a:buSzPts val="1800"/>
              <a:buFont typeface="Arial"/>
              <a:buNone/>
            </a:pPr>
            <a:r>
              <a:rPr lang="sv-SE"/>
              <a:t>Gregory Gay</a:t>
            </a:r>
            <a:endParaRPr/>
          </a:p>
          <a:p>
            <a:pPr indent="0" lvl="0" marL="0" rtl="0" algn="l">
              <a:spcBef>
                <a:spcPts val="0"/>
              </a:spcBef>
              <a:spcAft>
                <a:spcPts val="0"/>
              </a:spcAft>
              <a:buClr>
                <a:schemeClr val="lt1"/>
              </a:buClr>
              <a:buSzPts val="1800"/>
              <a:buFont typeface="Arial"/>
              <a:buNone/>
            </a:pPr>
            <a:r>
              <a:rPr lang="sv-SE"/>
              <a:t>DIT636/DAT560 - January 21,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6"/>
          <p:cNvSpPr txBox="1"/>
          <p:nvPr>
            <p:ph type="title"/>
          </p:nvPr>
        </p:nvSpPr>
        <p:spPr>
          <a:xfrm>
            <a:off x="468900" y="614000"/>
            <a:ext cx="84420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When is Software Ready for Release?</a:t>
            </a:r>
            <a:endParaRPr/>
          </a:p>
        </p:txBody>
      </p:sp>
      <p:sp>
        <p:nvSpPr>
          <p:cNvPr id="92" name="Google Shape;92;p1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When you can argue that it shows </a:t>
            </a:r>
            <a:r>
              <a:rPr i="1" lang="sv-SE"/>
              <a:t>sufficient</a:t>
            </a:r>
            <a:r>
              <a:rPr lang="sv-SE"/>
              <a:t> </a:t>
            </a:r>
            <a:r>
              <a:rPr i="1" lang="sv-SE"/>
              <a:t>quality</a:t>
            </a:r>
            <a:r>
              <a:rPr lang="sv-SE"/>
              <a:t>. </a:t>
            </a:r>
            <a:endParaRPr/>
          </a:p>
          <a:p>
            <a:pPr indent="-393700" lvl="0" marL="457200" rtl="0" algn="l">
              <a:spcBef>
                <a:spcPts val="1000"/>
              </a:spcBef>
              <a:spcAft>
                <a:spcPts val="0"/>
              </a:spcAft>
              <a:buSzPts val="2600"/>
              <a:buChar char="•"/>
            </a:pPr>
            <a:r>
              <a:rPr lang="sv-SE"/>
              <a:t>Requires choosing </a:t>
            </a:r>
            <a:r>
              <a:rPr b="1" lang="sv-SE">
                <a:solidFill>
                  <a:schemeClr val="accent3"/>
                </a:solidFill>
              </a:rPr>
              <a:t>quality attributes</a:t>
            </a:r>
            <a:r>
              <a:rPr lang="sv-SE"/>
              <a:t>.</a:t>
            </a:r>
            <a:endParaRPr/>
          </a:p>
          <a:p>
            <a:pPr indent="-368300" lvl="1" marL="914400" rtl="0" algn="l">
              <a:spcBef>
                <a:spcPts val="500"/>
              </a:spcBef>
              <a:spcAft>
                <a:spcPts val="0"/>
              </a:spcAft>
              <a:buSzPts val="2200"/>
              <a:buChar char="•"/>
            </a:pPr>
            <a:r>
              <a:rPr lang="sv-SE"/>
              <a:t>… specifying </a:t>
            </a:r>
            <a:r>
              <a:rPr b="1" lang="sv-SE">
                <a:solidFill>
                  <a:schemeClr val="accent3"/>
                </a:solidFill>
              </a:rPr>
              <a:t>measurements</a:t>
            </a:r>
            <a:r>
              <a:rPr lang="sv-SE"/>
              <a:t> and </a:t>
            </a:r>
            <a:r>
              <a:rPr b="1" lang="sv-SE">
                <a:solidFill>
                  <a:schemeClr val="accent3"/>
                </a:solidFill>
              </a:rPr>
              <a:t>thresholds</a:t>
            </a:r>
            <a:r>
              <a:rPr lang="sv-SE"/>
              <a:t>.</a:t>
            </a:r>
            <a:endParaRPr/>
          </a:p>
          <a:p>
            <a:pPr indent="-368300" lvl="1" marL="914400" rtl="0" algn="l">
              <a:spcBef>
                <a:spcPts val="500"/>
              </a:spcBef>
              <a:spcAft>
                <a:spcPts val="0"/>
              </a:spcAft>
              <a:buSzPts val="2200"/>
              <a:buChar char="•"/>
            </a:pPr>
            <a:r>
              <a:rPr lang="sv-SE"/>
              <a:t>… different measurements and thresholds for </a:t>
            </a:r>
            <a:r>
              <a:rPr b="1" lang="sv-SE">
                <a:solidFill>
                  <a:schemeClr val="accent3"/>
                </a:solidFill>
              </a:rPr>
              <a:t>different functionality and execution scenarios</a:t>
            </a:r>
            <a:r>
              <a:rPr lang="sv-SE"/>
              <a:t>.</a:t>
            </a:r>
            <a:endParaRPr/>
          </a:p>
          <a:p>
            <a:pPr indent="-393700" lvl="0" marL="457200" rtl="0" algn="l">
              <a:spcBef>
                <a:spcPts val="1000"/>
              </a:spcBef>
              <a:spcAft>
                <a:spcPts val="0"/>
              </a:spcAft>
              <a:buSzPts val="2600"/>
              <a:buChar char="•"/>
            </a:pPr>
            <a:r>
              <a:rPr lang="sv-SE"/>
              <a:t>Assessed through </a:t>
            </a:r>
            <a:r>
              <a:rPr b="1" lang="sv-SE">
                <a:solidFill>
                  <a:schemeClr val="accent3"/>
                </a:solidFill>
              </a:rPr>
              <a:t>Verification and Validation</a:t>
            </a:r>
            <a:r>
              <a:rPr lang="sv-SE"/>
              <a:t>.</a:t>
            </a:r>
            <a:endParaRPr/>
          </a:p>
          <a:p>
            <a:pPr indent="0" lvl="0" marL="0" rtl="0" algn="l">
              <a:spcBef>
                <a:spcPts val="1000"/>
              </a:spcBef>
              <a:spcAft>
                <a:spcPts val="0"/>
              </a:spcAft>
              <a:buNone/>
            </a:pPr>
            <a:r>
              <a:t/>
            </a:r>
            <a:endParaRPr/>
          </a:p>
        </p:txBody>
      </p:sp>
      <p:sp>
        <p:nvSpPr>
          <p:cNvPr id="93" name="Google Shape;93;p1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idx="12" type="sldNum"/>
          </p:nvPr>
        </p:nvSpPr>
        <p:spPr>
          <a:xfrm>
            <a:off x="6553200" y="4935625"/>
            <a:ext cx="2133600" cy="207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99" name="Google Shape;99;p17"/>
          <p:cNvSpPr txBox="1"/>
          <p:nvPr>
            <p:ph type="title"/>
          </p:nvPr>
        </p:nvSpPr>
        <p:spPr>
          <a:xfrm>
            <a:off x="468890" y="614003"/>
            <a:ext cx="8217900" cy="668400"/>
          </a:xfrm>
          <a:prstGeom prst="rect">
            <a:avLst/>
          </a:prstGeom>
          <a:noFill/>
          <a:ln>
            <a:noFill/>
          </a:ln>
        </p:spPr>
        <p:txBody>
          <a:bodyPr anchorCtr="0" anchor="t" bIns="45700" lIns="91425" spcFirstLastPara="1" rIns="91425" wrap="square" tIns="45700">
            <a:noAutofit/>
          </a:bodyPr>
          <a:lstStyle/>
          <a:p>
            <a:pPr indent="0" lvl="0" marL="0" rtl="0" algn="l">
              <a:lnSpc>
                <a:spcPct val="108333"/>
              </a:lnSpc>
              <a:spcBef>
                <a:spcPts val="0"/>
              </a:spcBef>
              <a:spcAft>
                <a:spcPts val="0"/>
              </a:spcAft>
              <a:buClr>
                <a:schemeClr val="dk1"/>
              </a:buClr>
              <a:buSzPts val="3600"/>
              <a:buFont typeface="Arial"/>
              <a:buNone/>
            </a:pPr>
            <a:r>
              <a:rPr lang="sv-SE"/>
              <a:t>Today’s Goals</a:t>
            </a:r>
            <a:endParaRPr/>
          </a:p>
        </p:txBody>
      </p:sp>
      <p:sp>
        <p:nvSpPr>
          <p:cNvPr id="100" name="Google Shape;100;p17"/>
          <p:cNvSpPr txBox="1"/>
          <p:nvPr>
            <p:ph idx="1" type="body"/>
          </p:nvPr>
        </p:nvSpPr>
        <p:spPr>
          <a:xfrm>
            <a:off x="468890" y="1282390"/>
            <a:ext cx="8217900" cy="3480300"/>
          </a:xfrm>
          <a:prstGeom prst="rect">
            <a:avLst/>
          </a:prstGeom>
          <a:noFill/>
          <a:ln>
            <a:noFill/>
          </a:ln>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Discuss quality attributes</a:t>
            </a:r>
            <a:endParaRPr/>
          </a:p>
          <a:p>
            <a:pPr indent="-368300" lvl="1" marL="914400" rtl="0" algn="l">
              <a:spcBef>
                <a:spcPts val="500"/>
              </a:spcBef>
              <a:spcAft>
                <a:spcPts val="0"/>
              </a:spcAft>
              <a:buSzPts val="2200"/>
              <a:buChar char="•"/>
            </a:pPr>
            <a:r>
              <a:rPr lang="sv-SE"/>
              <a:t>D</a:t>
            </a:r>
            <a:r>
              <a:rPr lang="sv-SE"/>
              <a:t>ependability, availability, performance, scalability.</a:t>
            </a:r>
            <a:endParaRPr/>
          </a:p>
          <a:p>
            <a:pPr indent="-393700" lvl="0" marL="457200" rtl="0" algn="l">
              <a:spcBef>
                <a:spcPts val="1000"/>
              </a:spcBef>
              <a:spcAft>
                <a:spcPts val="0"/>
              </a:spcAft>
              <a:buSzPts val="2600"/>
              <a:buChar char="•"/>
            </a:pPr>
            <a:r>
              <a:rPr lang="sv-SE"/>
              <a:t>Discuss measurement of these attributes</a:t>
            </a:r>
            <a:endParaRPr/>
          </a:p>
          <a:p>
            <a:pPr indent="-368300" lvl="1" marL="914400" rtl="0" algn="l">
              <a:spcBef>
                <a:spcPts val="500"/>
              </a:spcBef>
              <a:spcAft>
                <a:spcPts val="0"/>
              </a:spcAft>
              <a:buSzPts val="2200"/>
              <a:buChar char="•"/>
            </a:pPr>
            <a:r>
              <a:rPr lang="sv-SE"/>
              <a:t>How we build evidence that the system is “good enough”.</a:t>
            </a:r>
            <a:endParaRPr/>
          </a:p>
          <a:p>
            <a:pPr indent="-368300" lvl="1" marL="914400" rtl="0" algn="l">
              <a:spcBef>
                <a:spcPts val="500"/>
              </a:spcBef>
              <a:spcAft>
                <a:spcPts val="0"/>
              </a:spcAft>
              <a:buSzPts val="2200"/>
              <a:buChar char="•"/>
            </a:pPr>
            <a:r>
              <a:rPr lang="sv-SE"/>
              <a:t>How to assess whether each attribute is met.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07" name="Google Shape;107;p1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Software Quality</a:t>
            </a:r>
            <a:endParaRPr/>
          </a:p>
        </p:txBody>
      </p:sp>
      <p:sp>
        <p:nvSpPr>
          <p:cNvPr id="108" name="Google Shape;108;p1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all want </a:t>
            </a:r>
            <a:r>
              <a:rPr b="1" lang="sv-SE">
                <a:solidFill>
                  <a:schemeClr val="accent3"/>
                </a:solidFill>
              </a:rPr>
              <a:t>high-quality</a:t>
            </a:r>
            <a:r>
              <a:rPr lang="sv-SE"/>
              <a:t> software.</a:t>
            </a:r>
            <a:endParaRPr/>
          </a:p>
          <a:p>
            <a:pPr indent="-368300" lvl="1" marL="914400" rtl="0" algn="l">
              <a:spcBef>
                <a:spcPts val="500"/>
              </a:spcBef>
              <a:spcAft>
                <a:spcPts val="0"/>
              </a:spcAft>
              <a:buSzPts val="2200"/>
              <a:buChar char="•"/>
            </a:pPr>
            <a:r>
              <a:rPr lang="sv-SE"/>
              <a:t>We don’t all agree on the definition of quality.</a:t>
            </a:r>
            <a:endParaRPr/>
          </a:p>
          <a:p>
            <a:pPr indent="-393700" lvl="0" marL="457200" rtl="0" algn="l">
              <a:spcBef>
                <a:spcPts val="1000"/>
              </a:spcBef>
              <a:spcAft>
                <a:spcPts val="0"/>
              </a:spcAft>
              <a:buSzPts val="2600"/>
              <a:buChar char="•"/>
            </a:pPr>
            <a:r>
              <a:rPr lang="sv-SE"/>
              <a:t>Quality encompasses </a:t>
            </a:r>
            <a:r>
              <a:rPr b="1" lang="sv-SE">
                <a:solidFill>
                  <a:schemeClr val="accent3"/>
                </a:solidFill>
              </a:rPr>
              <a:t>what</a:t>
            </a:r>
            <a:r>
              <a:rPr lang="sv-SE"/>
              <a:t> and </a:t>
            </a:r>
            <a:r>
              <a:rPr b="1" lang="sv-SE">
                <a:solidFill>
                  <a:schemeClr val="accent3"/>
                </a:solidFill>
              </a:rPr>
              <a:t>how</a:t>
            </a:r>
            <a:r>
              <a:rPr lang="sv-SE"/>
              <a:t>.</a:t>
            </a:r>
            <a:endParaRPr/>
          </a:p>
          <a:p>
            <a:pPr indent="-368300" lvl="1" marL="914400" rtl="0" algn="l">
              <a:spcBef>
                <a:spcPts val="500"/>
              </a:spcBef>
              <a:spcAft>
                <a:spcPts val="0"/>
              </a:spcAft>
              <a:buSzPts val="2200"/>
              <a:buChar char="•"/>
            </a:pPr>
            <a:r>
              <a:rPr lang="sv-SE"/>
              <a:t>How </a:t>
            </a:r>
            <a:r>
              <a:rPr i="1" lang="sv-SE"/>
              <a:t>dependable</a:t>
            </a:r>
            <a:r>
              <a:rPr lang="sv-SE"/>
              <a:t> it is.</a:t>
            </a:r>
            <a:endParaRPr/>
          </a:p>
          <a:p>
            <a:pPr indent="-368300" lvl="1" marL="914400" rtl="0" algn="l">
              <a:spcBef>
                <a:spcPts val="500"/>
              </a:spcBef>
              <a:spcAft>
                <a:spcPts val="0"/>
              </a:spcAft>
              <a:buSzPts val="2200"/>
              <a:buChar char="•"/>
            </a:pPr>
            <a:r>
              <a:rPr lang="sv-SE"/>
              <a:t>But also…</a:t>
            </a:r>
            <a:endParaRPr/>
          </a:p>
          <a:p>
            <a:pPr indent="-342900" lvl="2" marL="1371600" rtl="0" algn="l">
              <a:spcBef>
                <a:spcPts val="500"/>
              </a:spcBef>
              <a:spcAft>
                <a:spcPts val="0"/>
              </a:spcAft>
              <a:buSzPts val="1800"/>
              <a:buChar char="•"/>
            </a:pPr>
            <a:r>
              <a:rPr lang="sv-SE"/>
              <a:t>How </a:t>
            </a:r>
            <a:r>
              <a:rPr i="1" lang="sv-SE"/>
              <a:t>quickly</a:t>
            </a:r>
            <a:r>
              <a:rPr lang="sv-SE"/>
              <a:t> it runs.</a:t>
            </a:r>
            <a:endParaRPr/>
          </a:p>
          <a:p>
            <a:pPr indent="-342900" lvl="2" marL="1371600" rtl="0" algn="l">
              <a:spcBef>
                <a:spcPts val="500"/>
              </a:spcBef>
              <a:spcAft>
                <a:spcPts val="0"/>
              </a:spcAft>
              <a:buSzPts val="1800"/>
              <a:buChar char="•"/>
            </a:pPr>
            <a:r>
              <a:rPr lang="sv-SE"/>
              <a:t>How </a:t>
            </a:r>
            <a:r>
              <a:rPr i="1" lang="sv-SE"/>
              <a:t>available </a:t>
            </a:r>
            <a:r>
              <a:rPr lang="sv-SE"/>
              <a:t>its services are.</a:t>
            </a:r>
            <a:endParaRPr/>
          </a:p>
          <a:p>
            <a:pPr indent="-342900" lvl="2" marL="1371600" rtl="0" algn="l">
              <a:spcBef>
                <a:spcPts val="500"/>
              </a:spcBef>
              <a:spcAft>
                <a:spcPts val="0"/>
              </a:spcAft>
              <a:buSzPts val="1800"/>
              <a:buChar char="•"/>
            </a:pPr>
            <a:r>
              <a:rPr lang="sv-SE"/>
              <a:t>How easily it </a:t>
            </a:r>
            <a:r>
              <a:rPr i="1" lang="sv-SE"/>
              <a:t>scales</a:t>
            </a:r>
            <a:r>
              <a:rPr lang="sv-SE"/>
              <a:t> to more users.</a:t>
            </a:r>
            <a:endParaRPr/>
          </a:p>
          <a:p>
            <a:pPr indent="-393700" lvl="0" marL="457200" rtl="0" algn="l">
              <a:spcBef>
                <a:spcPts val="1000"/>
              </a:spcBef>
              <a:spcAft>
                <a:spcPts val="0"/>
              </a:spcAft>
              <a:buSzPts val="2600"/>
              <a:buChar char="•"/>
            </a:pPr>
            <a:r>
              <a:rPr lang="sv-SE"/>
              <a:t>Hard to measure and assess objectively.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15" name="Google Shape;115;p1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 Attributes</a:t>
            </a:r>
            <a:endParaRPr/>
          </a:p>
        </p:txBody>
      </p:sp>
      <p:sp>
        <p:nvSpPr>
          <p:cNvPr id="116" name="Google Shape;116;p1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Describe </a:t>
            </a:r>
            <a:r>
              <a:rPr b="1" lang="sv-SE">
                <a:solidFill>
                  <a:schemeClr val="accent3"/>
                </a:solidFill>
              </a:rPr>
              <a:t>desired properties</a:t>
            </a:r>
            <a:r>
              <a:rPr lang="sv-SE"/>
              <a:t> of the system. </a:t>
            </a:r>
            <a:endParaRPr/>
          </a:p>
          <a:p>
            <a:pPr indent="-393700" lvl="0" marL="457200" rtl="0" algn="l">
              <a:spcBef>
                <a:spcPts val="1000"/>
              </a:spcBef>
              <a:spcAft>
                <a:spcPts val="0"/>
              </a:spcAft>
              <a:buSzPts val="2600"/>
              <a:buChar char="•"/>
            </a:pPr>
            <a:r>
              <a:rPr lang="sv-SE"/>
              <a:t>Developers prioritize attributes and design system that meets chosen thresholds.</a:t>
            </a:r>
            <a:endParaRPr/>
          </a:p>
          <a:p>
            <a:pPr indent="-393700" lvl="0" marL="457200" rtl="0" algn="l">
              <a:spcBef>
                <a:spcPts val="1000"/>
              </a:spcBef>
              <a:spcAft>
                <a:spcPts val="0"/>
              </a:spcAft>
              <a:buSzPts val="2600"/>
              <a:buChar char="•"/>
            </a:pPr>
            <a:r>
              <a:rPr lang="sv-SE"/>
              <a:t>Most relevant for this course: </a:t>
            </a:r>
            <a:r>
              <a:rPr b="1" lang="sv-SE">
                <a:solidFill>
                  <a:schemeClr val="accent3"/>
                </a:solidFill>
              </a:rPr>
              <a:t>dependability</a:t>
            </a:r>
            <a:endParaRPr b="1">
              <a:solidFill>
                <a:schemeClr val="accent3"/>
              </a:solidFill>
            </a:endParaRPr>
          </a:p>
          <a:p>
            <a:pPr indent="-368300" lvl="1" marL="914400" rtl="0" algn="l">
              <a:spcBef>
                <a:spcPts val="500"/>
              </a:spcBef>
              <a:spcAft>
                <a:spcPts val="0"/>
              </a:spcAft>
              <a:buSzPts val="2200"/>
              <a:buChar char="•"/>
            </a:pPr>
            <a:r>
              <a:rPr lang="sv-SE"/>
              <a:t>Ability to </a:t>
            </a:r>
            <a:r>
              <a:rPr i="1" lang="sv-SE"/>
              <a:t>consistently</a:t>
            </a:r>
            <a:r>
              <a:rPr lang="sv-SE"/>
              <a:t> offer </a:t>
            </a:r>
            <a:r>
              <a:rPr b="1" lang="sv-SE">
                <a:solidFill>
                  <a:schemeClr val="accent3"/>
                </a:solidFill>
              </a:rPr>
              <a:t>correct</a:t>
            </a:r>
            <a:r>
              <a:rPr b="1" lang="sv-SE"/>
              <a:t> </a:t>
            </a:r>
            <a:r>
              <a:rPr lang="sv-SE"/>
              <a:t>functionality, even under </a:t>
            </a:r>
            <a:r>
              <a:rPr i="1" lang="sv-SE"/>
              <a:t>unforeseen</a:t>
            </a:r>
            <a:r>
              <a:rPr lang="sv-SE"/>
              <a:t> or </a:t>
            </a:r>
            <a:r>
              <a:rPr i="1" lang="sv-SE"/>
              <a:t>unsafe</a:t>
            </a:r>
            <a:r>
              <a:rPr lang="sv-SE"/>
              <a:t> conditions.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 Attributes</a:t>
            </a:r>
            <a:endParaRPr/>
          </a:p>
        </p:txBody>
      </p:sp>
      <p:sp>
        <p:nvSpPr>
          <p:cNvPr id="122" name="Google Shape;122;p2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lnSpc>
                <a:spcPct val="100000"/>
              </a:lnSpc>
              <a:spcBef>
                <a:spcPts val="600"/>
              </a:spcBef>
              <a:spcAft>
                <a:spcPts val="0"/>
              </a:spcAft>
              <a:buClr>
                <a:schemeClr val="accent3"/>
              </a:buClr>
              <a:buSzPts val="2600"/>
              <a:buChar char="•"/>
            </a:pPr>
            <a:r>
              <a:rPr b="1" lang="sv-SE">
                <a:solidFill>
                  <a:schemeClr val="accent3"/>
                </a:solidFill>
              </a:rPr>
              <a:t>Availability</a:t>
            </a:r>
            <a:endParaRPr b="1">
              <a:solidFill>
                <a:schemeClr val="accent3"/>
              </a:solidFill>
            </a:endParaRPr>
          </a:p>
          <a:p>
            <a:pPr indent="-368300" lvl="1" marL="914400" rtl="0" algn="l">
              <a:lnSpc>
                <a:spcPct val="100000"/>
              </a:lnSpc>
              <a:spcBef>
                <a:spcPts val="0"/>
              </a:spcBef>
              <a:spcAft>
                <a:spcPts val="0"/>
              </a:spcAft>
              <a:buSzPts val="2200"/>
              <a:buChar char="•"/>
            </a:pPr>
            <a:r>
              <a:rPr lang="sv-SE"/>
              <a:t>Ability to carry out a task when needed, to minimize “downtime”, and to recover from failures.</a:t>
            </a:r>
            <a:endParaRPr b="1">
              <a:solidFill>
                <a:schemeClr val="accent3"/>
              </a:solidFill>
            </a:endParaRPr>
          </a:p>
          <a:p>
            <a:pPr indent="-393700" lvl="0" marL="457200" marR="0" rtl="0" algn="l">
              <a:lnSpc>
                <a:spcPct val="100000"/>
              </a:lnSpc>
              <a:spcBef>
                <a:spcPts val="0"/>
              </a:spcBef>
              <a:spcAft>
                <a:spcPts val="0"/>
              </a:spcAft>
              <a:buClr>
                <a:schemeClr val="accent3"/>
              </a:buClr>
              <a:buSzPts val="2600"/>
              <a:buChar char="•"/>
            </a:pPr>
            <a:r>
              <a:rPr b="1" lang="sv-SE">
                <a:solidFill>
                  <a:schemeClr val="accent3"/>
                </a:solidFill>
              </a:rPr>
              <a:t>Performance</a:t>
            </a:r>
            <a:endParaRPr b="1">
              <a:solidFill>
                <a:schemeClr val="accent3"/>
              </a:solidFill>
            </a:endParaRPr>
          </a:p>
          <a:p>
            <a:pPr indent="-368300" lvl="1" marL="914400" marR="0" rtl="0" algn="l">
              <a:lnSpc>
                <a:spcPct val="100000"/>
              </a:lnSpc>
              <a:spcBef>
                <a:spcPts val="0"/>
              </a:spcBef>
              <a:spcAft>
                <a:spcPts val="0"/>
              </a:spcAft>
              <a:buSzPts val="2200"/>
              <a:buChar char="•"/>
            </a:pPr>
            <a:r>
              <a:rPr lang="sv-SE"/>
              <a:t>Ability to meet timing requirements. When events occur, the system must respond quickly.</a:t>
            </a:r>
            <a:endParaRPr/>
          </a:p>
          <a:p>
            <a:pPr indent="-393700" lvl="0" marL="457200" rtl="0" algn="l">
              <a:lnSpc>
                <a:spcPct val="100000"/>
              </a:lnSpc>
              <a:spcBef>
                <a:spcPts val="0"/>
              </a:spcBef>
              <a:spcAft>
                <a:spcPts val="0"/>
              </a:spcAft>
              <a:buClr>
                <a:schemeClr val="accent3"/>
              </a:buClr>
              <a:buSzPts val="2600"/>
              <a:buChar char="•"/>
            </a:pPr>
            <a:r>
              <a:rPr b="1" lang="sv-SE">
                <a:solidFill>
                  <a:schemeClr val="accent3"/>
                </a:solidFill>
              </a:rPr>
              <a:t>Scalability</a:t>
            </a:r>
            <a:endParaRPr b="1">
              <a:solidFill>
                <a:schemeClr val="accent3"/>
              </a:solidFill>
            </a:endParaRPr>
          </a:p>
          <a:p>
            <a:pPr indent="-368300" lvl="1" marL="914400" rtl="0" algn="l">
              <a:lnSpc>
                <a:spcPct val="100000"/>
              </a:lnSpc>
              <a:spcBef>
                <a:spcPts val="0"/>
              </a:spcBef>
              <a:spcAft>
                <a:spcPts val="0"/>
              </a:spcAft>
              <a:buSzPts val="2200"/>
              <a:buChar char="•"/>
            </a:pPr>
            <a:r>
              <a:rPr lang="sv-SE"/>
              <a:t>Ability to maintain dependability and performance as the number of concurrent requests grows.</a:t>
            </a:r>
            <a:endParaRPr/>
          </a:p>
        </p:txBody>
      </p:sp>
      <p:sp>
        <p:nvSpPr>
          <p:cNvPr id="123" name="Google Shape;123;p2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130" name="Google Shape;130;p2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 Measurement</a:t>
            </a:r>
            <a:endParaRPr/>
          </a:p>
        </p:txBody>
      </p:sp>
      <p:sp>
        <p:nvSpPr>
          <p:cNvPr id="131" name="Google Shape;131;p2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Quality is </a:t>
            </a:r>
            <a:r>
              <a:rPr lang="sv-SE"/>
              <a:t>always</a:t>
            </a:r>
            <a:r>
              <a:rPr lang="sv-SE"/>
              <a:t> m</a:t>
            </a:r>
            <a:r>
              <a:rPr lang="sv-SE"/>
              <a:t>easured situationally.</a:t>
            </a:r>
            <a:endParaRPr/>
          </a:p>
          <a:p>
            <a:pPr indent="-368300" lvl="1" marL="914400" rtl="0" algn="l">
              <a:spcBef>
                <a:spcPts val="500"/>
              </a:spcBef>
              <a:spcAft>
                <a:spcPts val="0"/>
              </a:spcAft>
              <a:buClr>
                <a:schemeClr val="accent3"/>
              </a:buClr>
              <a:buSzPts val="2200"/>
              <a:buChar char="•"/>
            </a:pPr>
            <a:r>
              <a:rPr b="1" lang="sv-SE">
                <a:solidFill>
                  <a:schemeClr val="accent3"/>
                </a:solidFill>
              </a:rPr>
              <a:t>Not quality of the whole system</a:t>
            </a:r>
            <a:r>
              <a:rPr lang="sv-SE">
                <a:solidFill>
                  <a:schemeClr val="accent3"/>
                </a:solidFill>
              </a:rPr>
              <a:t>, </a:t>
            </a:r>
            <a:r>
              <a:rPr b="1" lang="sv-SE">
                <a:solidFill>
                  <a:schemeClr val="accent3"/>
                </a:solidFill>
              </a:rPr>
              <a:t>but of one “aspect”</a:t>
            </a:r>
            <a:endParaRPr b="1">
              <a:solidFill>
                <a:schemeClr val="accent3"/>
              </a:solidFill>
            </a:endParaRPr>
          </a:p>
          <a:p>
            <a:pPr indent="-342900" lvl="2" marL="1371600" rtl="0" algn="l">
              <a:spcBef>
                <a:spcPts val="500"/>
              </a:spcBef>
              <a:spcAft>
                <a:spcPts val="0"/>
              </a:spcAft>
              <a:buSzPts val="1800"/>
              <a:buChar char="•"/>
            </a:pPr>
            <a:r>
              <a:rPr lang="sv-SE"/>
              <a:t>A class, sub-system, API endpoint, user-facing function, …</a:t>
            </a:r>
            <a:endParaRPr/>
          </a:p>
          <a:p>
            <a:pPr indent="-368300" lvl="1" marL="914400" rtl="0" algn="l">
              <a:spcBef>
                <a:spcPts val="500"/>
              </a:spcBef>
              <a:spcAft>
                <a:spcPts val="0"/>
              </a:spcAft>
              <a:buSzPts val="2200"/>
              <a:buChar char="•"/>
            </a:pPr>
            <a:r>
              <a:rPr lang="sv-SE"/>
              <a:t>Relative to a </a:t>
            </a:r>
            <a:r>
              <a:rPr b="1" lang="sv-SE">
                <a:solidFill>
                  <a:schemeClr val="accent3"/>
                </a:solidFill>
              </a:rPr>
              <a:t>usage profile</a:t>
            </a:r>
            <a:r>
              <a:rPr lang="sv-SE"/>
              <a:t>. </a:t>
            </a:r>
            <a:endParaRPr/>
          </a:p>
          <a:p>
            <a:pPr indent="-342900" lvl="2" marL="1371600" rtl="0" algn="l">
              <a:spcBef>
                <a:spcPts val="500"/>
              </a:spcBef>
              <a:spcAft>
                <a:spcPts val="0"/>
              </a:spcAft>
              <a:buSzPts val="1800"/>
              <a:buChar char="•"/>
            </a:pPr>
            <a:r>
              <a:rPr lang="sv-SE"/>
              <a:t>Expected interaction patterns.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Improving Quality</a:t>
            </a:r>
            <a:endParaRPr/>
          </a:p>
        </p:txBody>
      </p:sp>
      <p:sp>
        <p:nvSpPr>
          <p:cNvPr id="137" name="Google Shape;137;p22"/>
          <p:cNvSpPr txBox="1"/>
          <p:nvPr>
            <p:ph idx="1" type="body"/>
          </p:nvPr>
        </p:nvSpPr>
        <p:spPr>
          <a:xfrm>
            <a:off x="468900" y="1282400"/>
            <a:ext cx="56538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I</a:t>
            </a:r>
            <a:r>
              <a:rPr lang="sv-SE"/>
              <a:t>mproved when</a:t>
            </a:r>
            <a:r>
              <a:rPr b="1" lang="sv-SE"/>
              <a:t> </a:t>
            </a:r>
            <a:r>
              <a:rPr b="1" lang="sv-SE">
                <a:solidFill>
                  <a:schemeClr val="accent3"/>
                </a:solidFill>
              </a:rPr>
              <a:t>faults in the most frequently-used parts of the software are removed</a:t>
            </a:r>
            <a:r>
              <a:rPr b="1" lang="sv-SE"/>
              <a:t>.</a:t>
            </a:r>
            <a:endParaRPr b="1"/>
          </a:p>
          <a:p>
            <a:pPr indent="-368300" lvl="1" marL="914400" rtl="0" algn="l">
              <a:spcBef>
                <a:spcPts val="500"/>
              </a:spcBef>
              <a:spcAft>
                <a:spcPts val="0"/>
              </a:spcAft>
              <a:buSzPts val="2200"/>
              <a:buChar char="•"/>
            </a:pPr>
            <a:r>
              <a:rPr lang="sv-SE"/>
              <a:t>X% of faults != X% improvement </a:t>
            </a:r>
            <a:br>
              <a:rPr lang="sv-SE"/>
            </a:br>
            <a:r>
              <a:rPr lang="sv-SE"/>
              <a:t>in quality.</a:t>
            </a:r>
            <a:endParaRPr/>
          </a:p>
          <a:p>
            <a:pPr indent="-342900" lvl="2" marL="1371600" rtl="0" algn="l">
              <a:spcBef>
                <a:spcPts val="500"/>
              </a:spcBef>
              <a:spcAft>
                <a:spcPts val="0"/>
              </a:spcAft>
              <a:buSzPts val="1800"/>
              <a:buChar char="•"/>
            </a:pPr>
            <a:r>
              <a:rPr lang="sv-SE"/>
              <a:t>“Removing 60% of faults led to </a:t>
            </a:r>
            <a:br>
              <a:rPr lang="sv-SE"/>
            </a:br>
            <a:r>
              <a:rPr lang="sv-SE"/>
              <a:t>3% reliability improvement.” </a:t>
            </a:r>
            <a:endParaRPr/>
          </a:p>
          <a:p>
            <a:pPr indent="-368300" lvl="1" marL="914400" rtl="0" algn="l">
              <a:spcBef>
                <a:spcPts val="500"/>
              </a:spcBef>
              <a:spcAft>
                <a:spcPts val="0"/>
              </a:spcAft>
              <a:buSzPts val="2200"/>
              <a:buChar char="•"/>
            </a:pPr>
            <a:r>
              <a:rPr lang="sv-SE"/>
              <a:t>Removing faults with serious consequences is top priority.</a:t>
            </a:r>
            <a:endParaRPr/>
          </a:p>
        </p:txBody>
      </p:sp>
      <p:sp>
        <p:nvSpPr>
          <p:cNvPr id="138" name="Google Shape;138;p2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139" name="Google Shape;139;p22"/>
          <p:cNvSpPr/>
          <p:nvPr/>
        </p:nvSpPr>
        <p:spPr>
          <a:xfrm>
            <a:off x="5381450" y="2312350"/>
            <a:ext cx="3663300" cy="22728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2"/>
          <p:cNvSpPr/>
          <p:nvPr/>
        </p:nvSpPr>
        <p:spPr>
          <a:xfrm>
            <a:off x="5950424" y="3505365"/>
            <a:ext cx="1423200" cy="785400"/>
          </a:xfrm>
          <a:prstGeom prst="ellipse">
            <a:avLst/>
          </a:prstGeom>
          <a:solidFill>
            <a:srgbClr val="A64D79"/>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500"/>
              <a:t>User 2</a:t>
            </a:r>
            <a:endParaRPr b="1" sz="1500"/>
          </a:p>
        </p:txBody>
      </p:sp>
      <p:sp>
        <p:nvSpPr>
          <p:cNvPr id="141" name="Google Shape;141;p22"/>
          <p:cNvSpPr/>
          <p:nvPr/>
        </p:nvSpPr>
        <p:spPr>
          <a:xfrm>
            <a:off x="5670667" y="2865483"/>
            <a:ext cx="959400" cy="785400"/>
          </a:xfrm>
          <a:prstGeom prst="ellipse">
            <a:avLst/>
          </a:prstGeom>
          <a:solidFill>
            <a:srgbClr val="D9EAD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500"/>
              <a:t>User 1</a:t>
            </a:r>
            <a:endParaRPr b="1" sz="1500"/>
          </a:p>
        </p:txBody>
      </p:sp>
      <p:sp>
        <p:nvSpPr>
          <p:cNvPr id="142" name="Google Shape;142;p22"/>
          <p:cNvSpPr/>
          <p:nvPr/>
        </p:nvSpPr>
        <p:spPr>
          <a:xfrm>
            <a:off x="7240530" y="2966506"/>
            <a:ext cx="1219800" cy="1274100"/>
          </a:xfrm>
          <a:prstGeom prst="ellipse">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500"/>
              <a:t>User 3</a:t>
            </a:r>
            <a:endParaRPr b="1" sz="1500"/>
          </a:p>
        </p:txBody>
      </p:sp>
      <p:sp>
        <p:nvSpPr>
          <p:cNvPr id="143" name="Google Shape;143;p22"/>
          <p:cNvSpPr/>
          <p:nvPr/>
        </p:nvSpPr>
        <p:spPr>
          <a:xfrm>
            <a:off x="6946475" y="2571750"/>
            <a:ext cx="1317900" cy="580200"/>
          </a:xfrm>
          <a:prstGeom prst="ellipse">
            <a:avLst/>
          </a:prstGeom>
          <a:solidFill>
            <a:srgbClr val="FF0000"/>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sv-SE" sz="1200"/>
              <a:t>Input Causing Failure</a:t>
            </a:r>
            <a:endParaRPr b="1" sz="12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Quality</a:t>
            </a:r>
            <a:r>
              <a:rPr lang="sv-SE"/>
              <a:t> Economics</a:t>
            </a:r>
            <a:endParaRPr/>
          </a:p>
        </p:txBody>
      </p:sp>
      <p:sp>
        <p:nvSpPr>
          <p:cNvPr id="149" name="Google Shape;149;p2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M</a:t>
            </a:r>
            <a:r>
              <a:rPr lang="sv-SE"/>
              <a:t>ay be cheaper to accept a certain leave of quality and pay for failure costs.</a:t>
            </a:r>
            <a:endParaRPr/>
          </a:p>
          <a:p>
            <a:pPr indent="-393700" lvl="0" marL="457200" rtl="0" algn="l">
              <a:spcBef>
                <a:spcPts val="1000"/>
              </a:spcBef>
              <a:spcAft>
                <a:spcPts val="0"/>
              </a:spcAft>
              <a:buSzPts val="2600"/>
              <a:buChar char="•"/>
            </a:pPr>
            <a:r>
              <a:rPr lang="sv-SE"/>
              <a:t>Depends on social/political factors and risks.</a:t>
            </a:r>
            <a:endParaRPr/>
          </a:p>
          <a:p>
            <a:pPr indent="-368300" lvl="1" marL="914400" rtl="0" algn="l">
              <a:spcBef>
                <a:spcPts val="500"/>
              </a:spcBef>
              <a:spcAft>
                <a:spcPts val="0"/>
              </a:spcAft>
              <a:buSzPts val="2200"/>
              <a:buChar char="•"/>
            </a:pPr>
            <a:r>
              <a:rPr lang="sv-SE"/>
              <a:t>Reputation versus cost.</a:t>
            </a:r>
            <a:endParaRPr/>
          </a:p>
          <a:p>
            <a:pPr indent="-368300" lvl="1" marL="914400" rtl="0" algn="l">
              <a:spcBef>
                <a:spcPts val="500"/>
              </a:spcBef>
              <a:spcAft>
                <a:spcPts val="0"/>
              </a:spcAft>
              <a:buSzPts val="2200"/>
              <a:buChar char="•"/>
            </a:pPr>
            <a:r>
              <a:rPr lang="sv-SE"/>
              <a:t>Risks of failure. </a:t>
            </a:r>
            <a:endParaRPr/>
          </a:p>
          <a:p>
            <a:pPr indent="-342900" lvl="2" marL="1371600" rtl="0" algn="l">
              <a:spcBef>
                <a:spcPts val="500"/>
              </a:spcBef>
              <a:spcAft>
                <a:spcPts val="0"/>
              </a:spcAft>
              <a:buSzPts val="1800"/>
              <a:buChar char="•"/>
            </a:pPr>
            <a:r>
              <a:rPr lang="sv-SE"/>
              <a:t>Health risks or equipment failure risk requires high quality.</a:t>
            </a:r>
            <a:endParaRPr/>
          </a:p>
          <a:p>
            <a:pPr indent="-342900" lvl="2" marL="1371600" rtl="0" algn="l">
              <a:spcBef>
                <a:spcPts val="500"/>
              </a:spcBef>
              <a:spcAft>
                <a:spcPts val="0"/>
              </a:spcAft>
              <a:buSzPts val="1800"/>
              <a:buChar char="•"/>
            </a:pPr>
            <a:r>
              <a:rPr lang="sv-SE"/>
              <a:t>Minor annoyances can be tolerated.</a:t>
            </a:r>
            <a:endParaRPr/>
          </a:p>
        </p:txBody>
      </p:sp>
      <p:sp>
        <p:nvSpPr>
          <p:cNvPr id="150" name="Google Shape;150;p2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157" name="Google Shape;157;p24"/>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Quality Attribute:</a:t>
            </a:r>
            <a:endParaRPr/>
          </a:p>
          <a:p>
            <a:pPr indent="0" lvl="0" marL="0" rtl="0" algn="l">
              <a:spcBef>
                <a:spcPts val="0"/>
              </a:spcBef>
              <a:spcAft>
                <a:spcPts val="0"/>
              </a:spcAft>
              <a:buNone/>
            </a:pPr>
            <a:r>
              <a:rPr lang="sv-SE"/>
              <a:t>Dependability</a:t>
            </a:r>
            <a:endParaRPr/>
          </a:p>
        </p:txBody>
      </p:sp>
      <p:pic>
        <p:nvPicPr>
          <p:cNvPr id="158" name="Google Shape;158;p24"/>
          <p:cNvPicPr preferRelativeResize="0"/>
          <p:nvPr/>
        </p:nvPicPr>
        <p:blipFill>
          <a:blip r:embed="rId3">
            <a:alphaModFix/>
          </a:blip>
          <a:stretch>
            <a:fillRect/>
          </a:stretch>
        </p:blipFill>
        <p:spPr>
          <a:xfrm>
            <a:off x="4803925" y="1076526"/>
            <a:ext cx="4011000" cy="2521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000"/>
              <a:t>Dimensions of Dependability</a:t>
            </a:r>
            <a:endParaRPr sz="3000"/>
          </a:p>
        </p:txBody>
      </p:sp>
      <p:sp>
        <p:nvSpPr>
          <p:cNvPr id="164" name="Google Shape;164;p2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The goal of dependability is to establish four things about the system:</a:t>
            </a:r>
            <a:endParaRPr/>
          </a:p>
          <a:p>
            <a:pPr indent="-368300" lvl="1" marL="914400" rtl="0" algn="l">
              <a:spcBef>
                <a:spcPts val="600"/>
              </a:spcBef>
              <a:spcAft>
                <a:spcPts val="0"/>
              </a:spcAft>
              <a:buSzPts val="2200"/>
              <a:buChar char="•"/>
            </a:pPr>
            <a:r>
              <a:rPr lang="sv-SE"/>
              <a:t>That it is </a:t>
            </a:r>
            <a:r>
              <a:rPr b="1" lang="sv-SE">
                <a:solidFill>
                  <a:schemeClr val="accent3"/>
                </a:solidFill>
              </a:rPr>
              <a:t>correct</a:t>
            </a:r>
            <a:r>
              <a:rPr lang="sv-SE"/>
              <a:t>.</a:t>
            </a:r>
            <a:endParaRPr/>
          </a:p>
          <a:p>
            <a:pPr indent="-368300" lvl="1" marL="914400" rtl="0" algn="l">
              <a:spcBef>
                <a:spcPts val="600"/>
              </a:spcBef>
              <a:spcAft>
                <a:spcPts val="0"/>
              </a:spcAft>
              <a:buSzPts val="2200"/>
              <a:buChar char="•"/>
            </a:pPr>
            <a:r>
              <a:rPr lang="sv-SE"/>
              <a:t>That it is </a:t>
            </a:r>
            <a:r>
              <a:rPr b="1" lang="sv-SE">
                <a:solidFill>
                  <a:schemeClr val="accent3"/>
                </a:solidFill>
              </a:rPr>
              <a:t>reliable</a:t>
            </a:r>
            <a:r>
              <a:rPr lang="sv-SE"/>
              <a:t>.</a:t>
            </a:r>
            <a:endParaRPr/>
          </a:p>
          <a:p>
            <a:pPr indent="-368300" lvl="1" marL="914400" rtl="0" algn="l">
              <a:spcBef>
                <a:spcPts val="600"/>
              </a:spcBef>
              <a:spcAft>
                <a:spcPts val="0"/>
              </a:spcAft>
              <a:buSzPts val="2200"/>
              <a:buChar char="•"/>
            </a:pPr>
            <a:r>
              <a:rPr lang="sv-SE"/>
              <a:t>That it is </a:t>
            </a:r>
            <a:r>
              <a:rPr b="1" lang="sv-SE">
                <a:solidFill>
                  <a:schemeClr val="accent3"/>
                </a:solidFill>
              </a:rPr>
              <a:t>safe</a:t>
            </a:r>
            <a:r>
              <a:rPr lang="sv-SE"/>
              <a:t>.</a:t>
            </a:r>
            <a:endParaRPr/>
          </a:p>
          <a:p>
            <a:pPr indent="-368300" lvl="1" marL="914400" rtl="0" algn="l">
              <a:spcBef>
                <a:spcPts val="600"/>
              </a:spcBef>
              <a:spcAft>
                <a:spcPts val="0"/>
              </a:spcAft>
              <a:buSzPts val="2200"/>
              <a:buChar char="•"/>
            </a:pPr>
            <a:r>
              <a:rPr lang="sv-SE"/>
              <a:t>That is is </a:t>
            </a:r>
            <a:r>
              <a:rPr b="1" lang="sv-SE">
                <a:solidFill>
                  <a:schemeClr val="accent3"/>
                </a:solidFill>
              </a:rPr>
              <a:t>robust</a:t>
            </a:r>
            <a:r>
              <a:rPr lang="sv-SE"/>
              <a:t>.</a:t>
            </a:r>
            <a:endParaRPr/>
          </a:p>
        </p:txBody>
      </p:sp>
      <p:sp>
        <p:nvSpPr>
          <p:cNvPr id="165" name="Google Shape;165;p2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166" name="Google Shape;166;p25"/>
          <p:cNvSpPr/>
          <p:nvPr/>
        </p:nvSpPr>
        <p:spPr>
          <a:xfrm>
            <a:off x="4336775" y="3088775"/>
            <a:ext cx="2287500" cy="888300"/>
          </a:xfrm>
          <a:prstGeom prst="ellipse">
            <a:avLst/>
          </a:prstGeom>
          <a:no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5"/>
          <p:cNvSpPr/>
          <p:nvPr/>
        </p:nvSpPr>
        <p:spPr>
          <a:xfrm>
            <a:off x="6361126" y="3088775"/>
            <a:ext cx="2287500" cy="888300"/>
          </a:xfrm>
          <a:prstGeom prst="ellipse">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5"/>
          <p:cNvSpPr/>
          <p:nvPr/>
        </p:nvSpPr>
        <p:spPr>
          <a:xfrm>
            <a:off x="5053681" y="3174279"/>
            <a:ext cx="1988400" cy="733500"/>
          </a:xfrm>
          <a:prstGeom prst="ellipse">
            <a:avLst/>
          </a:prstGeom>
          <a:noFill/>
          <a:ln cap="flat" cmpd="sng" w="952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5"/>
          <p:cNvSpPr/>
          <p:nvPr/>
        </p:nvSpPr>
        <p:spPr>
          <a:xfrm>
            <a:off x="5943528" y="3166129"/>
            <a:ext cx="1988400" cy="733500"/>
          </a:xfrm>
          <a:prstGeom prst="ellipse">
            <a:avLst/>
          </a:prstGeom>
          <a:no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5"/>
          <p:cNvSpPr txBox="1"/>
          <p:nvPr/>
        </p:nvSpPr>
        <p:spPr>
          <a:xfrm>
            <a:off x="4283250" y="3329125"/>
            <a:ext cx="868800" cy="1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Reliable</a:t>
            </a:r>
            <a:endParaRPr b="1"/>
          </a:p>
        </p:txBody>
      </p:sp>
      <p:sp>
        <p:nvSpPr>
          <p:cNvPr id="171" name="Google Shape;171;p25"/>
          <p:cNvSpPr txBox="1"/>
          <p:nvPr/>
        </p:nvSpPr>
        <p:spPr>
          <a:xfrm>
            <a:off x="5074725" y="3329125"/>
            <a:ext cx="868800" cy="1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Correct</a:t>
            </a:r>
            <a:endParaRPr b="1"/>
          </a:p>
        </p:txBody>
      </p:sp>
      <p:sp>
        <p:nvSpPr>
          <p:cNvPr id="172" name="Google Shape;172;p25"/>
          <p:cNvSpPr txBox="1"/>
          <p:nvPr/>
        </p:nvSpPr>
        <p:spPr>
          <a:xfrm>
            <a:off x="7137491" y="3329127"/>
            <a:ext cx="621300" cy="1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Safe</a:t>
            </a:r>
            <a:endParaRPr b="1"/>
          </a:p>
        </p:txBody>
      </p:sp>
      <p:sp>
        <p:nvSpPr>
          <p:cNvPr id="173" name="Google Shape;173;p25"/>
          <p:cNvSpPr txBox="1"/>
          <p:nvPr/>
        </p:nvSpPr>
        <p:spPr>
          <a:xfrm>
            <a:off x="7854228" y="3329125"/>
            <a:ext cx="868800" cy="16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Robust</a:t>
            </a:r>
            <a:endParaRPr b="1"/>
          </a:p>
        </p:txBody>
      </p:sp>
      <p:sp>
        <p:nvSpPr>
          <p:cNvPr id="174" name="Google Shape;174;p25"/>
          <p:cNvSpPr/>
          <p:nvPr/>
        </p:nvSpPr>
        <p:spPr>
          <a:xfrm>
            <a:off x="6345475" y="3417025"/>
            <a:ext cx="278700" cy="280500"/>
          </a:xfrm>
          <a:prstGeom prst="smileyFace">
            <a:avLst>
              <a:gd fmla="val 4653"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Correctness</a:t>
            </a:r>
            <a:endParaRPr/>
          </a:p>
        </p:txBody>
      </p:sp>
      <p:sp>
        <p:nvSpPr>
          <p:cNvPr id="180" name="Google Shape;180;p2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 program is </a:t>
            </a:r>
            <a:r>
              <a:rPr b="1" lang="sv-SE">
                <a:solidFill>
                  <a:schemeClr val="accent3"/>
                </a:solidFill>
              </a:rPr>
              <a:t>correct</a:t>
            </a:r>
            <a:r>
              <a:rPr lang="sv-SE"/>
              <a:t> if it is always consistent with its specification.</a:t>
            </a:r>
            <a:endParaRPr/>
          </a:p>
          <a:p>
            <a:pPr indent="-368300" lvl="1" marL="914400" rtl="0" algn="l">
              <a:spcBef>
                <a:spcPts val="500"/>
              </a:spcBef>
              <a:spcAft>
                <a:spcPts val="0"/>
              </a:spcAft>
              <a:buSzPts val="2200"/>
              <a:buChar char="•"/>
            </a:pPr>
            <a:r>
              <a:rPr lang="sv-SE"/>
              <a:t>Depends on “completeness” of requirements. </a:t>
            </a:r>
            <a:endParaRPr/>
          </a:p>
          <a:p>
            <a:pPr indent="-342900" lvl="2" marL="1371600" rtl="0" algn="l">
              <a:spcBef>
                <a:spcPts val="500"/>
              </a:spcBef>
              <a:spcAft>
                <a:spcPts val="0"/>
              </a:spcAft>
              <a:buSzPts val="1800"/>
              <a:buChar char="•"/>
            </a:pPr>
            <a:r>
              <a:rPr lang="sv-SE"/>
              <a:t>Easy to show with a weak specification.</a:t>
            </a:r>
            <a:endParaRPr/>
          </a:p>
          <a:p>
            <a:pPr indent="-342900" lvl="2" marL="1371600" rtl="0" algn="l">
              <a:spcBef>
                <a:spcPts val="500"/>
              </a:spcBef>
              <a:spcAft>
                <a:spcPts val="0"/>
              </a:spcAft>
              <a:buSzPts val="1800"/>
              <a:buChar char="•"/>
            </a:pPr>
            <a:r>
              <a:rPr lang="sv-SE"/>
              <a:t>Often impossible with a detailed specification.</a:t>
            </a:r>
            <a:endParaRPr/>
          </a:p>
          <a:p>
            <a:pPr indent="-368300" lvl="1" marL="914400" rtl="0" algn="l">
              <a:spcBef>
                <a:spcPts val="500"/>
              </a:spcBef>
              <a:spcAft>
                <a:spcPts val="0"/>
              </a:spcAft>
              <a:buSzPts val="2200"/>
              <a:buChar char="•"/>
            </a:pPr>
            <a:r>
              <a:rPr lang="sv-SE"/>
              <a:t>Rarely </a:t>
            </a:r>
            <a:r>
              <a:rPr b="1" lang="sv-SE">
                <a:solidFill>
                  <a:schemeClr val="accent3"/>
                </a:solidFill>
              </a:rPr>
              <a:t>provably</a:t>
            </a:r>
            <a:r>
              <a:rPr lang="sv-SE"/>
              <a:t> achieved.</a:t>
            </a:r>
            <a:endParaRPr/>
          </a:p>
        </p:txBody>
      </p:sp>
      <p:sp>
        <p:nvSpPr>
          <p:cNvPr id="181" name="Google Shape;181;p2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a:t>
            </a:r>
            <a:endParaRPr/>
          </a:p>
        </p:txBody>
      </p:sp>
      <p:sp>
        <p:nvSpPr>
          <p:cNvPr id="187" name="Google Shape;187;p2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i="1" lang="sv-SE">
                <a:solidFill>
                  <a:schemeClr val="accent3"/>
                </a:solidFill>
              </a:rPr>
              <a:t>Statistical approximation</a:t>
            </a:r>
            <a:r>
              <a:rPr lang="sv-SE"/>
              <a:t> of correctness. </a:t>
            </a:r>
            <a:endParaRPr/>
          </a:p>
          <a:p>
            <a:pPr indent="-368300" lvl="1" marL="914400" rtl="0" algn="l">
              <a:spcBef>
                <a:spcPts val="500"/>
              </a:spcBef>
              <a:spcAft>
                <a:spcPts val="0"/>
              </a:spcAft>
              <a:buSzPts val="2200"/>
              <a:buChar char="•"/>
            </a:pPr>
            <a:r>
              <a:rPr lang="sv-SE"/>
              <a:t>The likelihood of correct behavior from </a:t>
            </a:r>
            <a:r>
              <a:rPr b="1" lang="sv-SE">
                <a:solidFill>
                  <a:schemeClr val="accent3"/>
                </a:solidFill>
              </a:rPr>
              <a:t>some period of observed behavior</a:t>
            </a:r>
            <a:r>
              <a:rPr lang="sv-SE"/>
              <a:t>. </a:t>
            </a:r>
            <a:endParaRPr/>
          </a:p>
          <a:p>
            <a:pPr indent="-342900" lvl="2" marL="1371600" rtl="0" algn="l">
              <a:spcBef>
                <a:spcPts val="500"/>
              </a:spcBef>
              <a:spcAft>
                <a:spcPts val="0"/>
              </a:spcAft>
              <a:buSzPts val="1800"/>
              <a:buChar char="•"/>
            </a:pPr>
            <a:r>
              <a:rPr lang="sv-SE"/>
              <a:t>Time period, number of executions</a:t>
            </a:r>
            <a:endParaRPr/>
          </a:p>
          <a:p>
            <a:pPr indent="-368300" lvl="1" marL="914400" rtl="0" algn="l">
              <a:spcBef>
                <a:spcPts val="500"/>
              </a:spcBef>
              <a:spcAft>
                <a:spcPts val="0"/>
              </a:spcAft>
              <a:buSzPts val="2200"/>
              <a:buChar char="•"/>
            </a:pPr>
            <a:r>
              <a:rPr lang="sv-SE"/>
              <a:t>Even if we cannot prove correctness, we can show that the system </a:t>
            </a:r>
            <a:r>
              <a:rPr b="1" i="1" lang="sv-SE">
                <a:solidFill>
                  <a:schemeClr val="accent3"/>
                </a:solidFill>
              </a:rPr>
              <a:t>almost always</a:t>
            </a:r>
            <a:r>
              <a:rPr lang="sv-SE"/>
              <a:t> works.</a:t>
            </a:r>
            <a:endParaRPr/>
          </a:p>
        </p:txBody>
      </p:sp>
      <p:sp>
        <p:nvSpPr>
          <p:cNvPr id="188" name="Google Shape;188;p2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Dependence on Specifications</a:t>
            </a:r>
            <a:endParaRPr/>
          </a:p>
        </p:txBody>
      </p:sp>
      <p:sp>
        <p:nvSpPr>
          <p:cNvPr id="194" name="Google Shape;194;p2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Correctness and reliability:</a:t>
            </a:r>
            <a:endParaRPr/>
          </a:p>
          <a:p>
            <a:pPr indent="-368300" lvl="1" marL="914400" rtl="0" algn="l">
              <a:spcBef>
                <a:spcPts val="500"/>
              </a:spcBef>
              <a:spcAft>
                <a:spcPts val="0"/>
              </a:spcAft>
              <a:buSzPts val="2200"/>
              <a:buChar char="•"/>
            </a:pPr>
            <a:r>
              <a:rPr lang="sv-SE"/>
              <a:t>Success relative to complexity of the specification.</a:t>
            </a:r>
            <a:endParaRPr/>
          </a:p>
          <a:p>
            <a:pPr indent="-342900" lvl="2" marL="1371600" rtl="0" algn="l">
              <a:spcBef>
                <a:spcPts val="500"/>
              </a:spcBef>
              <a:spcAft>
                <a:spcPts val="0"/>
              </a:spcAft>
              <a:buSzPts val="1800"/>
              <a:buChar char="•"/>
            </a:pPr>
            <a:r>
              <a:rPr i="1" lang="sv-SE"/>
              <a:t>Hard to meaningfully prove anything for full spec.</a:t>
            </a:r>
            <a:endParaRPr i="1"/>
          </a:p>
          <a:p>
            <a:pPr indent="-368300" lvl="1" marL="914400" rtl="0" algn="l">
              <a:spcBef>
                <a:spcPts val="500"/>
              </a:spcBef>
              <a:spcAft>
                <a:spcPts val="0"/>
              </a:spcAft>
              <a:buSzPts val="2200"/>
              <a:buChar char="•"/>
            </a:pPr>
            <a:r>
              <a:rPr lang="sv-SE"/>
              <a:t>Severity of a failure is not considered. </a:t>
            </a:r>
            <a:endParaRPr/>
          </a:p>
          <a:p>
            <a:pPr indent="-342900" lvl="2" marL="1371600" rtl="0" algn="l">
              <a:spcBef>
                <a:spcPts val="500"/>
              </a:spcBef>
              <a:spcAft>
                <a:spcPts val="0"/>
              </a:spcAft>
              <a:buSzPts val="1800"/>
              <a:buChar char="•"/>
            </a:pPr>
            <a:r>
              <a:rPr i="1" lang="sv-SE"/>
              <a:t>Some failures are worse than others.</a:t>
            </a:r>
            <a:endParaRPr i="1"/>
          </a:p>
          <a:p>
            <a:pPr indent="-393700" lvl="0" marL="457200" rtl="0" algn="l">
              <a:spcBef>
                <a:spcPts val="1000"/>
              </a:spcBef>
              <a:spcAft>
                <a:spcPts val="0"/>
              </a:spcAft>
              <a:buSzPts val="2600"/>
              <a:buChar char="•"/>
            </a:pPr>
            <a:r>
              <a:rPr b="1" lang="sv-SE">
                <a:solidFill>
                  <a:schemeClr val="accent3"/>
                </a:solidFill>
              </a:rPr>
              <a:t>Safety</a:t>
            </a:r>
            <a:r>
              <a:rPr lang="sv-SE"/>
              <a:t> focuses on a</a:t>
            </a:r>
            <a:r>
              <a:rPr b="1" lang="sv-SE"/>
              <a:t> </a:t>
            </a:r>
            <a:r>
              <a:rPr b="1" lang="sv-SE">
                <a:solidFill>
                  <a:schemeClr val="accent3"/>
                </a:solidFill>
              </a:rPr>
              <a:t>hazard specification</a:t>
            </a:r>
            <a:r>
              <a:rPr lang="sv-SE"/>
              <a:t>.</a:t>
            </a:r>
            <a:endParaRPr/>
          </a:p>
          <a:p>
            <a:pPr indent="-393700" lvl="0" marL="457200" rtl="0" algn="l">
              <a:spcBef>
                <a:spcPts val="1000"/>
              </a:spcBef>
              <a:spcAft>
                <a:spcPts val="0"/>
              </a:spcAft>
              <a:buSzPts val="2600"/>
              <a:buChar char="•"/>
            </a:pPr>
            <a:r>
              <a:rPr b="1" lang="sv-SE">
                <a:solidFill>
                  <a:schemeClr val="accent3"/>
                </a:solidFill>
              </a:rPr>
              <a:t>Robustness</a:t>
            </a:r>
            <a:r>
              <a:rPr lang="sv-SE"/>
              <a:t> focuses on </a:t>
            </a:r>
            <a:r>
              <a:rPr b="1" lang="sv-SE">
                <a:solidFill>
                  <a:schemeClr val="accent3"/>
                </a:solidFill>
              </a:rPr>
              <a:t>unspecified behaviors</a:t>
            </a:r>
            <a:r>
              <a:rPr b="1" lang="sv-SE"/>
              <a:t>.</a:t>
            </a:r>
            <a:endParaRPr b="1"/>
          </a:p>
        </p:txBody>
      </p:sp>
      <p:sp>
        <p:nvSpPr>
          <p:cNvPr id="195" name="Google Shape;195;p2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Safety</a:t>
            </a:r>
            <a:endParaRPr/>
          </a:p>
        </p:txBody>
      </p:sp>
      <p:sp>
        <p:nvSpPr>
          <p:cNvPr id="201" name="Google Shape;201;p2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Safety is the </a:t>
            </a:r>
            <a:r>
              <a:rPr b="1" lang="sv-SE">
                <a:solidFill>
                  <a:schemeClr val="accent3"/>
                </a:solidFill>
              </a:rPr>
              <a:t>ability to correctly handle hazards</a:t>
            </a:r>
            <a:r>
              <a:rPr lang="sv-SE"/>
              <a:t>. </a:t>
            </a:r>
            <a:endParaRPr/>
          </a:p>
          <a:p>
            <a:pPr indent="-368300" lvl="1" marL="914400" rtl="0" algn="l">
              <a:spcBef>
                <a:spcPts val="500"/>
              </a:spcBef>
              <a:spcAft>
                <a:spcPts val="0"/>
              </a:spcAft>
              <a:buSzPts val="2200"/>
              <a:buChar char="•"/>
            </a:pPr>
            <a:r>
              <a:rPr i="1" lang="sv-SE"/>
              <a:t>Known</a:t>
            </a:r>
            <a:r>
              <a:rPr lang="sv-SE"/>
              <a:t> undesirable situations.</a:t>
            </a:r>
            <a:endParaRPr/>
          </a:p>
          <a:p>
            <a:pPr indent="-368300" lvl="1" marL="914400" rtl="0" algn="l">
              <a:spcBef>
                <a:spcPts val="500"/>
              </a:spcBef>
              <a:spcAft>
                <a:spcPts val="0"/>
              </a:spcAft>
              <a:buSzPts val="2200"/>
              <a:buChar char="•"/>
            </a:pPr>
            <a:r>
              <a:rPr lang="sv-SE"/>
              <a:t>Generally serious problems.</a:t>
            </a:r>
            <a:endParaRPr/>
          </a:p>
          <a:p>
            <a:pPr indent="-393700" lvl="0" marL="457200" rtl="0" algn="l">
              <a:spcBef>
                <a:spcPts val="1000"/>
              </a:spcBef>
              <a:spcAft>
                <a:spcPts val="0"/>
              </a:spcAft>
              <a:buSzPts val="2600"/>
              <a:buChar char="•"/>
            </a:pPr>
            <a:r>
              <a:rPr lang="sv-SE"/>
              <a:t>Relies on a specification of hazards.</a:t>
            </a:r>
            <a:endParaRPr/>
          </a:p>
          <a:p>
            <a:pPr indent="-368300" lvl="1" marL="914400" rtl="0" algn="l">
              <a:spcBef>
                <a:spcPts val="500"/>
              </a:spcBef>
              <a:spcAft>
                <a:spcPts val="0"/>
              </a:spcAft>
              <a:buSzPts val="2200"/>
              <a:buChar char="•"/>
            </a:pPr>
            <a:r>
              <a:rPr lang="sv-SE"/>
              <a:t>Defines each hazard, how it will be avoided or handled.</a:t>
            </a:r>
            <a:endParaRPr/>
          </a:p>
          <a:p>
            <a:pPr indent="-368300" lvl="1" marL="914400" rtl="0" algn="l">
              <a:spcBef>
                <a:spcPts val="500"/>
              </a:spcBef>
              <a:spcAft>
                <a:spcPts val="0"/>
              </a:spcAft>
              <a:buSzPts val="2200"/>
              <a:buChar char="•"/>
            </a:pPr>
            <a:r>
              <a:rPr lang="sv-SE"/>
              <a:t>Prove that the hazard is avoided.</a:t>
            </a:r>
            <a:endParaRPr/>
          </a:p>
          <a:p>
            <a:pPr indent="-342900" lvl="2" marL="1371600" rtl="0" algn="l">
              <a:spcBef>
                <a:spcPts val="500"/>
              </a:spcBef>
              <a:spcAft>
                <a:spcPts val="0"/>
              </a:spcAft>
              <a:buSzPts val="1800"/>
              <a:buChar char="•"/>
            </a:pPr>
            <a:r>
              <a:rPr lang="sv-SE"/>
              <a:t>Subset of correctness, easier to prove.</a:t>
            </a:r>
            <a:endParaRPr/>
          </a:p>
        </p:txBody>
      </p:sp>
      <p:sp>
        <p:nvSpPr>
          <p:cNvPr id="202" name="Google Shape;202;p2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Robustness</a:t>
            </a:r>
            <a:endParaRPr/>
          </a:p>
        </p:txBody>
      </p:sp>
      <p:sp>
        <p:nvSpPr>
          <p:cNvPr id="208" name="Google Shape;208;p3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Software that is “correct” may fail when the assumptions of its design are violated. </a:t>
            </a:r>
            <a:endParaRPr/>
          </a:p>
          <a:p>
            <a:pPr indent="-368300" lvl="1" marL="914400" rtl="0" algn="l">
              <a:spcBef>
                <a:spcPts val="500"/>
              </a:spcBef>
              <a:spcAft>
                <a:spcPts val="0"/>
              </a:spcAft>
              <a:buSzPts val="2200"/>
              <a:buChar char="•"/>
            </a:pPr>
            <a:r>
              <a:rPr b="1" i="1" lang="sv-SE">
                <a:solidFill>
                  <a:schemeClr val="accent3"/>
                </a:solidFill>
              </a:rPr>
              <a:t>How</a:t>
            </a:r>
            <a:r>
              <a:rPr lang="sv-SE"/>
              <a:t> it fails matters.</a:t>
            </a:r>
            <a:endParaRPr/>
          </a:p>
          <a:p>
            <a:pPr indent="-393700" lvl="0" marL="457200" rtl="0" algn="l">
              <a:spcBef>
                <a:spcPts val="1000"/>
              </a:spcBef>
              <a:spcAft>
                <a:spcPts val="0"/>
              </a:spcAft>
              <a:buSzPts val="2600"/>
              <a:buChar char="•"/>
            </a:pPr>
            <a:r>
              <a:rPr b="1" lang="sv-SE">
                <a:solidFill>
                  <a:schemeClr val="accent3"/>
                </a:solidFill>
              </a:rPr>
              <a:t>Software that “gracefully” fails is robust</a:t>
            </a:r>
            <a:r>
              <a:rPr b="1" lang="sv-SE"/>
              <a:t>. </a:t>
            </a:r>
            <a:endParaRPr b="1"/>
          </a:p>
          <a:p>
            <a:pPr indent="-368300" lvl="1" marL="914400" rtl="0" algn="l">
              <a:spcBef>
                <a:spcPts val="500"/>
              </a:spcBef>
              <a:spcAft>
                <a:spcPts val="0"/>
              </a:spcAft>
              <a:buSzPts val="2200"/>
              <a:buChar char="•"/>
            </a:pPr>
            <a:r>
              <a:rPr lang="sv-SE"/>
              <a:t>Design the software to counteract unforeseen issues or perform graceful degradation of services.</a:t>
            </a:r>
            <a:endParaRPr/>
          </a:p>
          <a:p>
            <a:pPr indent="-342900" lvl="2" marL="1371600" rtl="0" algn="l">
              <a:spcBef>
                <a:spcPts val="500"/>
              </a:spcBef>
              <a:spcAft>
                <a:spcPts val="0"/>
              </a:spcAft>
              <a:buSzPts val="1800"/>
              <a:buChar char="•"/>
            </a:pPr>
            <a:r>
              <a:rPr lang="sv-SE"/>
              <a:t>Look at how a program could fail and handle those situations.</a:t>
            </a:r>
            <a:endParaRPr/>
          </a:p>
          <a:p>
            <a:pPr indent="-368300" lvl="1" marL="914400" rtl="0" algn="l">
              <a:spcBef>
                <a:spcPts val="500"/>
              </a:spcBef>
              <a:spcAft>
                <a:spcPts val="0"/>
              </a:spcAft>
              <a:buSzPts val="2200"/>
              <a:buChar char="•"/>
            </a:pPr>
            <a:r>
              <a:rPr lang="sv-SE"/>
              <a:t>Cannot be proved, but is a goal to aspire to.</a:t>
            </a:r>
            <a:endParaRPr/>
          </a:p>
        </p:txBody>
      </p:sp>
      <p:sp>
        <p:nvSpPr>
          <p:cNvPr id="209" name="Google Shape;209;p3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216" name="Google Shape;216;p3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Examples - ATM</a:t>
            </a:r>
            <a:endParaRPr/>
          </a:p>
        </p:txBody>
      </p:sp>
      <p:sp>
        <p:nvSpPr>
          <p:cNvPr id="217" name="Google Shape;217;p3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lang="sv-SE" sz="2300"/>
              <a:t>We verify different situations where money is withdrawn ($ &gt; balance, $ &lt; balance, $ = </a:t>
            </a:r>
            <a:r>
              <a:rPr lang="sv-SE" sz="2300"/>
              <a:t>balance</a:t>
            </a:r>
            <a:r>
              <a:rPr lang="sv-SE" sz="2300"/>
              <a:t>, 0, …)</a:t>
            </a:r>
            <a:endParaRPr sz="2300"/>
          </a:p>
          <a:p>
            <a:pPr indent="-349250" lvl="1" marL="914400" rtl="0" algn="l">
              <a:spcBef>
                <a:spcPts val="500"/>
              </a:spcBef>
              <a:spcAft>
                <a:spcPts val="0"/>
              </a:spcAft>
              <a:buSzPts val="1900"/>
              <a:buChar char="•"/>
            </a:pPr>
            <a:r>
              <a:rPr b="1" lang="sv-SE" sz="1900"/>
              <a:t>Reliability</a:t>
            </a:r>
            <a:endParaRPr b="1" sz="1900"/>
          </a:p>
          <a:p>
            <a:pPr indent="-374650" lvl="0" marL="457200" rtl="0" algn="l">
              <a:spcBef>
                <a:spcPts val="1000"/>
              </a:spcBef>
              <a:spcAft>
                <a:spcPts val="0"/>
              </a:spcAft>
              <a:buSzPts val="2300"/>
              <a:buChar char="•"/>
            </a:pPr>
            <a:r>
              <a:rPr lang="sv-SE" sz="2300"/>
              <a:t>A thief may attach a “skimmer” to steal bank card details. We added a sensor and code to detect this.</a:t>
            </a:r>
            <a:endParaRPr sz="2300"/>
          </a:p>
          <a:p>
            <a:pPr indent="-349250" lvl="1" marL="914400" rtl="0" algn="l">
              <a:spcBef>
                <a:spcPts val="500"/>
              </a:spcBef>
              <a:spcAft>
                <a:spcPts val="0"/>
              </a:spcAft>
              <a:buSzPts val="1900"/>
              <a:buChar char="•"/>
            </a:pPr>
            <a:r>
              <a:rPr b="1" lang="sv-SE" sz="1900"/>
              <a:t>Safety</a:t>
            </a:r>
            <a:endParaRPr b="1" sz="1900"/>
          </a:p>
          <a:p>
            <a:pPr indent="-374650" lvl="0" marL="457200" rtl="0" algn="l">
              <a:spcBef>
                <a:spcPts val="1000"/>
              </a:spcBef>
              <a:spcAft>
                <a:spcPts val="0"/>
              </a:spcAft>
              <a:buSzPts val="2300"/>
              <a:buChar char="•"/>
            </a:pPr>
            <a:r>
              <a:rPr lang="sv-SE" sz="2300"/>
              <a:t> If the network connection is lost, we display an error screen and prevent any further actions from being taken.</a:t>
            </a:r>
            <a:endParaRPr sz="2300"/>
          </a:p>
          <a:p>
            <a:pPr indent="-349250" lvl="1" marL="914400" rtl="0" algn="l">
              <a:spcBef>
                <a:spcPts val="500"/>
              </a:spcBef>
              <a:spcAft>
                <a:spcPts val="0"/>
              </a:spcAft>
              <a:buSzPts val="1900"/>
              <a:buChar char="•"/>
            </a:pPr>
            <a:r>
              <a:rPr b="1" lang="sv-SE" sz="1900"/>
              <a:t>Robustness</a:t>
            </a:r>
            <a:endParaRPr b="1"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Dependability Property Relations</a:t>
            </a:r>
            <a:endParaRPr/>
          </a:p>
        </p:txBody>
      </p:sp>
      <p:sp>
        <p:nvSpPr>
          <p:cNvPr id="223" name="Google Shape;223;p3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
        <p:nvSpPr>
          <p:cNvPr id="224" name="Google Shape;224;p32"/>
          <p:cNvSpPr/>
          <p:nvPr/>
        </p:nvSpPr>
        <p:spPr>
          <a:xfrm>
            <a:off x="1472175" y="2072600"/>
            <a:ext cx="3370800" cy="1597800"/>
          </a:xfrm>
          <a:prstGeom prst="ellipse">
            <a:avLst/>
          </a:prstGeom>
          <a:no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32"/>
          <p:cNvSpPr/>
          <p:nvPr/>
        </p:nvSpPr>
        <p:spPr>
          <a:xfrm>
            <a:off x="4172600" y="2072600"/>
            <a:ext cx="3499200" cy="1597800"/>
          </a:xfrm>
          <a:prstGeom prst="ellipse">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2"/>
          <p:cNvSpPr/>
          <p:nvPr/>
        </p:nvSpPr>
        <p:spPr>
          <a:xfrm>
            <a:off x="2502925" y="2226431"/>
            <a:ext cx="2858700" cy="1319400"/>
          </a:xfrm>
          <a:prstGeom prst="ellipse">
            <a:avLst/>
          </a:prstGeom>
          <a:noFill/>
          <a:ln cap="flat" cmpd="sng" w="9525">
            <a:solidFill>
              <a:srgbClr val="274E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2"/>
          <p:cNvSpPr/>
          <p:nvPr/>
        </p:nvSpPr>
        <p:spPr>
          <a:xfrm>
            <a:off x="3782325" y="2211769"/>
            <a:ext cx="2858700" cy="1319400"/>
          </a:xfrm>
          <a:prstGeom prst="ellipse">
            <a:avLst/>
          </a:prstGeom>
          <a:noFill/>
          <a:ln cap="flat" cmpd="sng" w="9525">
            <a:solidFill>
              <a:srgbClr val="C27B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2"/>
          <p:cNvSpPr txBox="1"/>
          <p:nvPr/>
        </p:nvSpPr>
        <p:spPr>
          <a:xfrm>
            <a:off x="1472175" y="2733694"/>
            <a:ext cx="8934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Reliable</a:t>
            </a:r>
            <a:endParaRPr b="1"/>
          </a:p>
        </p:txBody>
      </p:sp>
      <p:sp>
        <p:nvSpPr>
          <p:cNvPr id="229" name="Google Shape;229;p32"/>
          <p:cNvSpPr txBox="1"/>
          <p:nvPr/>
        </p:nvSpPr>
        <p:spPr>
          <a:xfrm>
            <a:off x="2737350" y="2733694"/>
            <a:ext cx="8934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Correct</a:t>
            </a:r>
            <a:endParaRPr b="1"/>
          </a:p>
        </p:txBody>
      </p:sp>
      <p:sp>
        <p:nvSpPr>
          <p:cNvPr id="230" name="Google Shape;230;p32"/>
          <p:cNvSpPr txBox="1"/>
          <p:nvPr/>
        </p:nvSpPr>
        <p:spPr>
          <a:xfrm>
            <a:off x="5498975" y="2733694"/>
            <a:ext cx="8934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Safe</a:t>
            </a:r>
            <a:endParaRPr b="1"/>
          </a:p>
        </p:txBody>
      </p:sp>
      <p:sp>
        <p:nvSpPr>
          <p:cNvPr id="231" name="Google Shape;231;p32"/>
          <p:cNvSpPr txBox="1"/>
          <p:nvPr/>
        </p:nvSpPr>
        <p:spPr>
          <a:xfrm>
            <a:off x="6712100" y="2719031"/>
            <a:ext cx="8934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sv-SE"/>
              <a:t>Robust</a:t>
            </a:r>
            <a:endParaRPr b="1"/>
          </a:p>
        </p:txBody>
      </p:sp>
      <p:sp>
        <p:nvSpPr>
          <p:cNvPr id="232" name="Google Shape;232;p32"/>
          <p:cNvSpPr/>
          <p:nvPr/>
        </p:nvSpPr>
        <p:spPr>
          <a:xfrm>
            <a:off x="2502925" y="3793200"/>
            <a:ext cx="2582100" cy="628500"/>
          </a:xfrm>
          <a:prstGeom prst="rect">
            <a:avLst/>
          </a:prstGeom>
          <a:solidFill>
            <a:srgbClr val="BBD7F8"/>
          </a:solid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Correct, but not safe. Specification is inadequate</a:t>
            </a:r>
            <a:endParaRPr b="1"/>
          </a:p>
        </p:txBody>
      </p:sp>
      <p:cxnSp>
        <p:nvCxnSpPr>
          <p:cNvPr id="233" name="Google Shape;233;p32"/>
          <p:cNvCxnSpPr>
            <a:stCxn id="232" idx="0"/>
          </p:cNvCxnSpPr>
          <p:nvPr/>
        </p:nvCxnSpPr>
        <p:spPr>
          <a:xfrm rot="10800000">
            <a:off x="3463375" y="3154200"/>
            <a:ext cx="330600" cy="639000"/>
          </a:xfrm>
          <a:prstGeom prst="straightConnector1">
            <a:avLst/>
          </a:prstGeom>
          <a:noFill/>
          <a:ln cap="flat" cmpd="sng" w="19050">
            <a:solidFill>
              <a:srgbClr val="2388DB"/>
            </a:solidFill>
            <a:prstDash val="solid"/>
            <a:round/>
            <a:headEnd len="med" w="med" type="none"/>
            <a:tailEnd len="med" w="med" type="triangle"/>
          </a:ln>
        </p:spPr>
      </p:cxnSp>
      <p:sp>
        <p:nvSpPr>
          <p:cNvPr id="234" name="Google Shape;234;p32"/>
          <p:cNvSpPr/>
          <p:nvPr/>
        </p:nvSpPr>
        <p:spPr>
          <a:xfrm>
            <a:off x="5239100" y="3793200"/>
            <a:ext cx="3447600" cy="628500"/>
          </a:xfrm>
          <a:prstGeom prst="rect">
            <a:avLst/>
          </a:prstGeom>
          <a:solidFill>
            <a:srgbClr val="BBD7F8"/>
          </a:solid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Safe, but not correct. Hazards avoided, but other failures can occur.</a:t>
            </a:r>
            <a:endParaRPr b="1"/>
          </a:p>
        </p:txBody>
      </p:sp>
      <p:cxnSp>
        <p:nvCxnSpPr>
          <p:cNvPr id="235" name="Google Shape;235;p32"/>
          <p:cNvCxnSpPr>
            <a:stCxn id="234" idx="0"/>
            <a:endCxn id="230" idx="2"/>
          </p:cNvCxnSpPr>
          <p:nvPr/>
        </p:nvCxnSpPr>
        <p:spPr>
          <a:xfrm rot="10800000">
            <a:off x="5945600" y="3038400"/>
            <a:ext cx="1017300" cy="754800"/>
          </a:xfrm>
          <a:prstGeom prst="straightConnector1">
            <a:avLst/>
          </a:prstGeom>
          <a:noFill/>
          <a:ln cap="flat" cmpd="sng" w="19050">
            <a:solidFill>
              <a:srgbClr val="2388DB"/>
            </a:solidFill>
            <a:prstDash val="solid"/>
            <a:round/>
            <a:headEnd len="med" w="med" type="none"/>
            <a:tailEnd len="med" w="med" type="triangle"/>
          </a:ln>
        </p:spPr>
      </p:cxnSp>
      <p:sp>
        <p:nvSpPr>
          <p:cNvPr id="236" name="Google Shape;236;p32"/>
          <p:cNvSpPr/>
          <p:nvPr/>
        </p:nvSpPr>
        <p:spPr>
          <a:xfrm>
            <a:off x="4466700" y="1197500"/>
            <a:ext cx="3924900" cy="628500"/>
          </a:xfrm>
          <a:prstGeom prst="rect">
            <a:avLst/>
          </a:prstGeom>
          <a:solidFill>
            <a:srgbClr val="BBD7F8"/>
          </a:solid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Robust, but not safe. Catastrophic failures could occur, but measures have been put in place to potentially prevent issues.</a:t>
            </a:r>
            <a:endParaRPr b="1"/>
          </a:p>
        </p:txBody>
      </p:sp>
      <p:cxnSp>
        <p:nvCxnSpPr>
          <p:cNvPr id="237" name="Google Shape;237;p32"/>
          <p:cNvCxnSpPr>
            <a:stCxn id="236" idx="2"/>
            <a:endCxn id="231" idx="0"/>
          </p:cNvCxnSpPr>
          <p:nvPr/>
        </p:nvCxnSpPr>
        <p:spPr>
          <a:xfrm>
            <a:off x="6429150" y="1826000"/>
            <a:ext cx="729600" cy="893100"/>
          </a:xfrm>
          <a:prstGeom prst="straightConnector1">
            <a:avLst/>
          </a:prstGeom>
          <a:noFill/>
          <a:ln cap="flat" cmpd="sng" w="19050">
            <a:solidFill>
              <a:srgbClr val="2388DB"/>
            </a:solidFill>
            <a:prstDash val="solid"/>
            <a:round/>
            <a:headEnd len="med" w="med" type="none"/>
            <a:tailEnd len="med" w="med" type="triangle"/>
          </a:ln>
        </p:spPr>
      </p:cxnSp>
      <p:sp>
        <p:nvSpPr>
          <p:cNvPr id="238" name="Google Shape;238;p32"/>
          <p:cNvSpPr/>
          <p:nvPr/>
        </p:nvSpPr>
        <p:spPr>
          <a:xfrm>
            <a:off x="881275" y="1253719"/>
            <a:ext cx="3113400" cy="628500"/>
          </a:xfrm>
          <a:prstGeom prst="rect">
            <a:avLst/>
          </a:prstGeom>
          <a:solidFill>
            <a:srgbClr val="BBD7F8"/>
          </a:solidFill>
          <a:ln cap="flat" cmpd="sng" w="9525">
            <a:solidFill>
              <a:srgbClr val="2388D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sv-SE"/>
              <a:t>Reliable, but not correct. Catastrophic failures can occur.</a:t>
            </a:r>
            <a:endParaRPr b="1"/>
          </a:p>
        </p:txBody>
      </p:sp>
      <p:cxnSp>
        <p:nvCxnSpPr>
          <p:cNvPr id="239" name="Google Shape;239;p32"/>
          <p:cNvCxnSpPr>
            <a:stCxn id="238" idx="2"/>
            <a:endCxn id="228" idx="0"/>
          </p:cNvCxnSpPr>
          <p:nvPr/>
        </p:nvCxnSpPr>
        <p:spPr>
          <a:xfrm flipH="1">
            <a:off x="1918975" y="1882219"/>
            <a:ext cx="519000" cy="851400"/>
          </a:xfrm>
          <a:prstGeom prst="straightConnector1">
            <a:avLst/>
          </a:prstGeom>
          <a:noFill/>
          <a:ln cap="flat" cmpd="sng" w="19050">
            <a:solidFill>
              <a:srgbClr val="2388DB"/>
            </a:solidFill>
            <a:prstDash val="solid"/>
            <a:round/>
            <a:headEnd len="med" w="med" type="none"/>
            <a:tailEnd len="med" w="med" type="triangle"/>
          </a:ln>
        </p:spPr>
      </p:cxnSp>
      <p:sp>
        <p:nvSpPr>
          <p:cNvPr id="240" name="Google Shape;240;p32"/>
          <p:cNvSpPr/>
          <p:nvPr/>
        </p:nvSpPr>
        <p:spPr>
          <a:xfrm>
            <a:off x="4360225" y="2663125"/>
            <a:ext cx="400500" cy="375600"/>
          </a:xfrm>
          <a:prstGeom prst="smileyFace">
            <a:avLst>
              <a:gd fmla="val 4653" name="adj"/>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Assessing</a:t>
            </a:r>
            <a:r>
              <a:rPr lang="sv-SE"/>
              <a:t> Dependability</a:t>
            </a:r>
            <a:endParaRPr/>
          </a:p>
        </p:txBody>
      </p:sp>
      <p:sp>
        <p:nvSpPr>
          <p:cNvPr id="246" name="Google Shape;246;p3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When is the system dependable enough?</a:t>
            </a:r>
            <a:endParaRPr/>
          </a:p>
          <a:p>
            <a:pPr indent="-368300" lvl="1" marL="914400" rtl="0" algn="l">
              <a:spcBef>
                <a:spcPts val="500"/>
              </a:spcBef>
              <a:spcAft>
                <a:spcPts val="0"/>
              </a:spcAft>
              <a:buSzPts val="2200"/>
              <a:buChar char="•"/>
            </a:pPr>
            <a:r>
              <a:rPr lang="sv-SE"/>
              <a:t>Correctness hard to prove.</a:t>
            </a:r>
            <a:endParaRPr/>
          </a:p>
          <a:p>
            <a:pPr indent="-368300" lvl="1" marL="914400" rtl="0" algn="l">
              <a:spcBef>
                <a:spcPts val="500"/>
              </a:spcBef>
              <a:spcAft>
                <a:spcPts val="0"/>
              </a:spcAft>
              <a:buSzPts val="2200"/>
              <a:buChar char="•"/>
            </a:pPr>
            <a:r>
              <a:rPr lang="sv-SE"/>
              <a:t>Robustness/Safety important, but do not demonstrate </a:t>
            </a:r>
            <a:r>
              <a:rPr i="1" lang="sv-SE"/>
              <a:t>normal</a:t>
            </a:r>
            <a:r>
              <a:rPr lang="sv-SE"/>
              <a:t> dependability.</a:t>
            </a:r>
            <a:endParaRPr/>
          </a:p>
          <a:p>
            <a:pPr indent="-393700" lvl="0" marL="457200" rtl="0" algn="l">
              <a:spcBef>
                <a:spcPts val="1000"/>
              </a:spcBef>
              <a:spcAft>
                <a:spcPts val="0"/>
              </a:spcAft>
              <a:buClr>
                <a:schemeClr val="accent3"/>
              </a:buClr>
              <a:buSzPts val="2600"/>
              <a:buChar char="•"/>
            </a:pPr>
            <a:r>
              <a:rPr b="1" lang="sv-SE">
                <a:solidFill>
                  <a:schemeClr val="accent3"/>
                </a:solidFill>
              </a:rPr>
              <a:t>Reliability is the basis for arguing dependability.</a:t>
            </a:r>
            <a:endParaRPr b="1">
              <a:solidFill>
                <a:schemeClr val="accent3"/>
              </a:solidFill>
            </a:endParaRPr>
          </a:p>
          <a:p>
            <a:pPr indent="-368300" lvl="1" marL="914400" rtl="0" algn="l">
              <a:spcBef>
                <a:spcPts val="500"/>
              </a:spcBef>
              <a:spcAft>
                <a:spcPts val="0"/>
              </a:spcAft>
              <a:buSzPts val="2200"/>
              <a:buChar char="•"/>
            </a:pPr>
            <a:r>
              <a:rPr lang="sv-SE"/>
              <a:t>Can be measured.</a:t>
            </a:r>
            <a:endParaRPr/>
          </a:p>
          <a:p>
            <a:pPr indent="-368300" lvl="1" marL="914400" rtl="0" algn="l">
              <a:spcBef>
                <a:spcPts val="500"/>
              </a:spcBef>
              <a:spcAft>
                <a:spcPts val="0"/>
              </a:spcAft>
              <a:buSzPts val="2200"/>
              <a:buChar char="•"/>
            </a:pPr>
            <a:r>
              <a:rPr lang="sv-SE"/>
              <a:t>Can be demonstrated through testing.</a:t>
            </a:r>
            <a:endParaRPr/>
          </a:p>
          <a:p>
            <a:pPr indent="-368300" lvl="1" marL="914400" rtl="0" algn="l">
              <a:spcBef>
                <a:spcPts val="500"/>
              </a:spcBef>
              <a:spcAft>
                <a:spcPts val="0"/>
              </a:spcAft>
              <a:buSzPts val="2200"/>
              <a:buChar char="•"/>
            </a:pPr>
            <a:r>
              <a:rPr lang="sv-SE"/>
              <a:t>Can reflect normal and abnormal usage.</a:t>
            </a:r>
            <a:endParaRPr/>
          </a:p>
        </p:txBody>
      </p:sp>
      <p:sp>
        <p:nvSpPr>
          <p:cNvPr id="247" name="Google Shape;247;p3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54" name="Google Shape;254;p34"/>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Quality Attribute: Availability</a:t>
            </a:r>
            <a:endParaRPr/>
          </a:p>
        </p:txBody>
      </p:sp>
      <p:pic>
        <p:nvPicPr>
          <p:cNvPr id="255" name="Google Shape;255;p34"/>
          <p:cNvPicPr preferRelativeResize="0"/>
          <p:nvPr/>
        </p:nvPicPr>
        <p:blipFill>
          <a:blip r:embed="rId3">
            <a:alphaModFix/>
          </a:blip>
          <a:stretch>
            <a:fillRect/>
          </a:stretch>
        </p:blipFill>
        <p:spPr>
          <a:xfrm>
            <a:off x="5166625" y="468625"/>
            <a:ext cx="3977376" cy="1829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a:t>
            </a:r>
            <a:endParaRPr/>
          </a:p>
        </p:txBody>
      </p:sp>
      <p:sp>
        <p:nvSpPr>
          <p:cNvPr id="261" name="Google Shape;261;p35"/>
          <p:cNvSpPr txBox="1"/>
          <p:nvPr>
            <p:ph idx="1" type="body"/>
          </p:nvPr>
        </p:nvSpPr>
        <p:spPr>
          <a:xfrm>
            <a:off x="468900" y="1282400"/>
            <a:ext cx="83586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a:t>
            </a:r>
            <a:r>
              <a:rPr lang="sv-SE"/>
              <a:t>bility </a:t>
            </a:r>
            <a:r>
              <a:rPr lang="sv-SE"/>
              <a:t>to </a:t>
            </a:r>
            <a:r>
              <a:rPr b="1" lang="sv-SE">
                <a:solidFill>
                  <a:schemeClr val="accent3"/>
                </a:solidFill>
              </a:rPr>
              <a:t>recover</a:t>
            </a:r>
            <a:r>
              <a:rPr lang="sv-SE"/>
              <a:t> </a:t>
            </a:r>
            <a:r>
              <a:rPr b="1" lang="sv-SE">
                <a:solidFill>
                  <a:schemeClr val="accent3"/>
                </a:solidFill>
              </a:rPr>
              <a:t>from - or work around</a:t>
            </a:r>
            <a:r>
              <a:rPr lang="sv-SE"/>
              <a:t> - </a:t>
            </a:r>
            <a:r>
              <a:rPr b="1" lang="sv-SE">
                <a:solidFill>
                  <a:schemeClr val="accent3"/>
                </a:solidFill>
              </a:rPr>
              <a:t>failures</a:t>
            </a:r>
            <a:r>
              <a:rPr lang="sv-SE"/>
              <a:t>.</a:t>
            </a:r>
            <a:endParaRPr/>
          </a:p>
          <a:p>
            <a:pPr indent="-368300" lvl="1" marL="914400" rtl="0" algn="l">
              <a:spcBef>
                <a:spcPts val="500"/>
              </a:spcBef>
              <a:spcAft>
                <a:spcPts val="0"/>
              </a:spcAft>
              <a:buSzPts val="2200"/>
              <a:buChar char="•"/>
            </a:pPr>
            <a:r>
              <a:rPr lang="sv-SE"/>
              <a:t>After a failure occurs, ensure the system can recover.</a:t>
            </a:r>
            <a:endParaRPr/>
          </a:p>
          <a:p>
            <a:pPr indent="-368300" lvl="1" marL="914400" rtl="0" algn="l">
              <a:spcBef>
                <a:spcPts val="500"/>
              </a:spcBef>
              <a:spcAft>
                <a:spcPts val="0"/>
              </a:spcAft>
              <a:buSzPts val="2200"/>
              <a:buChar char="•"/>
            </a:pPr>
            <a:r>
              <a:rPr lang="sv-SE"/>
              <a:t>System is seen as more reliable if failures can be corrected or masked before they affect the user.</a:t>
            </a:r>
            <a:endParaRPr/>
          </a:p>
        </p:txBody>
      </p:sp>
      <p:sp>
        <p:nvSpPr>
          <p:cNvPr id="262" name="Google Shape;262;p3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a:t>
            </a:r>
            <a:endParaRPr/>
          </a:p>
        </p:txBody>
      </p:sp>
      <p:sp>
        <p:nvSpPr>
          <p:cNvPr id="268" name="Google Shape;268;p3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Failures can be</a:t>
            </a:r>
            <a:r>
              <a:rPr b="1" lang="sv-SE">
                <a:solidFill>
                  <a:schemeClr val="accent3"/>
                </a:solidFill>
              </a:rPr>
              <a:t> prevented, tolerated, or repaired</a:t>
            </a:r>
            <a:r>
              <a:rPr lang="sv-SE"/>
              <a:t>. </a:t>
            </a:r>
            <a:endParaRPr/>
          </a:p>
          <a:p>
            <a:pPr indent="-368300" lvl="1" marL="914400" rtl="0" algn="l">
              <a:spcBef>
                <a:spcPts val="0"/>
              </a:spcBef>
              <a:spcAft>
                <a:spcPts val="0"/>
              </a:spcAft>
              <a:buSzPts val="2200"/>
              <a:buChar char="•"/>
            </a:pPr>
            <a:r>
              <a:rPr lang="sv-SE"/>
              <a:t>How are failures detected?</a:t>
            </a:r>
            <a:endParaRPr/>
          </a:p>
          <a:p>
            <a:pPr indent="-368300" lvl="1" marL="914400" rtl="0" algn="l">
              <a:spcBef>
                <a:spcPts val="500"/>
              </a:spcBef>
              <a:spcAft>
                <a:spcPts val="0"/>
              </a:spcAft>
              <a:buSzPts val="2200"/>
              <a:buChar char="•"/>
            </a:pPr>
            <a:r>
              <a:rPr lang="sv-SE"/>
              <a:t>How frequently do failures occur?</a:t>
            </a:r>
            <a:endParaRPr/>
          </a:p>
          <a:p>
            <a:pPr indent="-368300" lvl="1" marL="914400" rtl="0" algn="l">
              <a:spcBef>
                <a:spcPts val="500"/>
              </a:spcBef>
              <a:spcAft>
                <a:spcPts val="0"/>
              </a:spcAft>
              <a:buSzPts val="2200"/>
              <a:buChar char="•"/>
            </a:pPr>
            <a:r>
              <a:rPr lang="sv-SE"/>
              <a:t>What happens when a failure occurs?</a:t>
            </a:r>
            <a:endParaRPr/>
          </a:p>
          <a:p>
            <a:pPr indent="-368300" lvl="1" marL="914400" rtl="0" algn="l">
              <a:spcBef>
                <a:spcPts val="500"/>
              </a:spcBef>
              <a:spcAft>
                <a:spcPts val="0"/>
              </a:spcAft>
              <a:buSzPts val="2200"/>
              <a:buChar char="•"/>
            </a:pPr>
            <a:r>
              <a:rPr lang="sv-SE"/>
              <a:t>How long can the system be out of operation?</a:t>
            </a:r>
            <a:endParaRPr/>
          </a:p>
          <a:p>
            <a:pPr indent="-368300" lvl="1" marL="914400" rtl="0" algn="l">
              <a:spcBef>
                <a:spcPts val="500"/>
              </a:spcBef>
              <a:spcAft>
                <a:spcPts val="0"/>
              </a:spcAft>
              <a:buSzPts val="2200"/>
              <a:buChar char="•"/>
            </a:pPr>
            <a:r>
              <a:rPr lang="sv-SE"/>
              <a:t>When can failures occur safely?</a:t>
            </a:r>
            <a:endParaRPr/>
          </a:p>
          <a:p>
            <a:pPr indent="-368300" lvl="1" marL="914400" rtl="0" algn="l">
              <a:spcBef>
                <a:spcPts val="500"/>
              </a:spcBef>
              <a:spcAft>
                <a:spcPts val="0"/>
              </a:spcAft>
              <a:buSzPts val="2200"/>
              <a:buChar char="•"/>
            </a:pPr>
            <a:r>
              <a:rPr lang="sv-SE"/>
              <a:t>Can failures be prevented?</a:t>
            </a:r>
            <a:endParaRPr/>
          </a:p>
          <a:p>
            <a:pPr indent="-368300" lvl="1" marL="914400" rtl="0" algn="l">
              <a:spcBef>
                <a:spcPts val="500"/>
              </a:spcBef>
              <a:spcAft>
                <a:spcPts val="0"/>
              </a:spcAft>
              <a:buSzPts val="2200"/>
              <a:buChar char="•"/>
            </a:pPr>
            <a:r>
              <a:rPr lang="sv-SE"/>
              <a:t>What notifications are required when failure occurs?</a:t>
            </a:r>
            <a:endParaRPr/>
          </a:p>
        </p:txBody>
      </p:sp>
      <p:sp>
        <p:nvSpPr>
          <p:cNvPr id="269" name="Google Shape;269;p3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Availability Considerations</a:t>
            </a:r>
            <a:endParaRPr/>
          </a:p>
        </p:txBody>
      </p:sp>
      <p:sp>
        <p:nvSpPr>
          <p:cNvPr id="275" name="Google Shape;275;p37"/>
          <p:cNvSpPr txBox="1"/>
          <p:nvPr>
            <p:ph idx="1" type="body"/>
          </p:nvPr>
        </p:nvSpPr>
        <p:spPr>
          <a:xfrm>
            <a:off x="468900" y="1191700"/>
            <a:ext cx="8217900" cy="35709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System has “</a:t>
            </a:r>
            <a:r>
              <a:rPr b="1" lang="sv-SE">
                <a:solidFill>
                  <a:schemeClr val="accent3"/>
                </a:solidFill>
              </a:rPr>
              <a:t>recovered</a:t>
            </a:r>
            <a:r>
              <a:rPr lang="sv-SE"/>
              <a:t>” when </a:t>
            </a:r>
            <a:r>
              <a:rPr lang="sv-SE"/>
              <a:t>the failure is no longer observable.</a:t>
            </a:r>
            <a:endParaRPr/>
          </a:p>
          <a:p>
            <a:pPr indent="-368300" lvl="1" marL="914400" rtl="0" algn="l">
              <a:spcBef>
                <a:spcPts val="500"/>
              </a:spcBef>
              <a:spcAft>
                <a:spcPts val="0"/>
              </a:spcAft>
              <a:buSzPts val="2200"/>
              <a:buChar char="•"/>
            </a:pPr>
            <a:r>
              <a:rPr lang="sv-SE"/>
              <a:t>Hard to define. </a:t>
            </a:r>
            <a:endParaRPr/>
          </a:p>
          <a:p>
            <a:pPr indent="-342900" lvl="2" marL="1371600" rtl="0" algn="l">
              <a:spcBef>
                <a:spcPts val="500"/>
              </a:spcBef>
              <a:spcAft>
                <a:spcPts val="0"/>
              </a:spcAft>
              <a:buSzPts val="1800"/>
              <a:buChar char="•"/>
            </a:pPr>
            <a:r>
              <a:rPr lang="sv-SE"/>
              <a:t>Stuxnet caused problems for months. </a:t>
            </a:r>
            <a:endParaRPr/>
          </a:p>
          <a:p>
            <a:pPr indent="-342900" lvl="2" marL="1371600" rtl="0" algn="l">
              <a:spcBef>
                <a:spcPts val="500"/>
              </a:spcBef>
              <a:spcAft>
                <a:spcPts val="0"/>
              </a:spcAft>
              <a:buSzPts val="1800"/>
              <a:buChar char="•"/>
            </a:pPr>
            <a:r>
              <a:rPr lang="sv-SE"/>
              <a:t>How does that impact availability?</a:t>
            </a:r>
            <a:endParaRPr/>
          </a:p>
          <a:p>
            <a:pPr indent="-393700" lvl="0" marL="457200" rtl="0" algn="l">
              <a:spcBef>
                <a:spcPts val="1000"/>
              </a:spcBef>
              <a:spcAft>
                <a:spcPts val="0"/>
              </a:spcAft>
              <a:buSzPts val="2600"/>
              <a:buChar char="•"/>
            </a:pPr>
            <a:r>
              <a:rPr lang="sv-SE"/>
              <a:t>Software can remain </a:t>
            </a:r>
            <a:r>
              <a:rPr b="1" lang="sv-SE">
                <a:solidFill>
                  <a:schemeClr val="accent3"/>
                </a:solidFill>
              </a:rPr>
              <a:t>partially available</a:t>
            </a:r>
            <a:r>
              <a:rPr lang="sv-SE"/>
              <a:t> more easily than hardware.</a:t>
            </a:r>
            <a:endParaRPr/>
          </a:p>
          <a:p>
            <a:pPr indent="-368300" lvl="1" marL="914400" rtl="0" algn="l">
              <a:spcBef>
                <a:spcPts val="500"/>
              </a:spcBef>
              <a:spcAft>
                <a:spcPts val="0"/>
              </a:spcAft>
              <a:buSzPts val="2200"/>
              <a:buChar char="•"/>
            </a:pPr>
            <a:r>
              <a:rPr lang="sv-SE"/>
              <a:t>If code containing fault is executed, but system is able to recover, there was no failure.</a:t>
            </a:r>
            <a:endParaRPr/>
          </a:p>
        </p:txBody>
      </p:sp>
      <p:sp>
        <p:nvSpPr>
          <p:cNvPr id="276" name="Google Shape;276;p3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283" name="Google Shape;283;p38"/>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sz="3500"/>
              <a:t>Measuring Reliability and Availability</a:t>
            </a:r>
            <a:endParaRPr sz="3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How to Measure Reliability</a:t>
            </a:r>
            <a:endParaRPr/>
          </a:p>
        </p:txBody>
      </p:sp>
      <p:sp>
        <p:nvSpPr>
          <p:cNvPr id="289" name="Google Shape;289;p3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H</a:t>
            </a:r>
            <a:r>
              <a:rPr lang="sv-SE"/>
              <a:t>ardware metrics often aren’t suitable for software. </a:t>
            </a:r>
            <a:endParaRPr/>
          </a:p>
          <a:p>
            <a:pPr indent="-368300" lvl="1" marL="914400" rtl="0" algn="l">
              <a:spcBef>
                <a:spcPts val="500"/>
              </a:spcBef>
              <a:spcAft>
                <a:spcPts val="0"/>
              </a:spcAft>
              <a:buSzPts val="2200"/>
              <a:buChar char="•"/>
            </a:pPr>
            <a:r>
              <a:rPr lang="sv-SE"/>
              <a:t>Based on component failures and the need to repair or replace a component once it has failed.</a:t>
            </a:r>
            <a:endParaRPr/>
          </a:p>
          <a:p>
            <a:pPr indent="-368300" lvl="1" marL="914400" rtl="0" algn="l">
              <a:spcBef>
                <a:spcPts val="500"/>
              </a:spcBef>
              <a:spcAft>
                <a:spcPts val="0"/>
              </a:spcAft>
              <a:buSzPts val="2200"/>
              <a:buChar char="•"/>
            </a:pPr>
            <a:r>
              <a:rPr lang="sv-SE"/>
              <a:t>Design is assumed to be correct.</a:t>
            </a:r>
            <a:endParaRPr/>
          </a:p>
          <a:p>
            <a:pPr indent="-393700" lvl="0" marL="457200" rtl="0" algn="l">
              <a:spcBef>
                <a:spcPts val="1000"/>
              </a:spcBef>
              <a:spcAft>
                <a:spcPts val="0"/>
              </a:spcAft>
              <a:buSzPts val="2600"/>
              <a:buChar char="•"/>
            </a:pPr>
            <a:r>
              <a:rPr lang="sv-SE"/>
              <a:t>Software failures are generally</a:t>
            </a:r>
            <a:r>
              <a:rPr b="1" lang="sv-SE"/>
              <a:t> </a:t>
            </a:r>
            <a:r>
              <a:rPr b="1" lang="sv-SE">
                <a:solidFill>
                  <a:schemeClr val="accent3"/>
                </a:solidFill>
              </a:rPr>
              <a:t>design failures</a:t>
            </a:r>
            <a:r>
              <a:rPr b="1" lang="sv-SE"/>
              <a:t>.</a:t>
            </a:r>
            <a:endParaRPr b="1"/>
          </a:p>
          <a:p>
            <a:pPr indent="-368300" lvl="1" marL="914400" rtl="0" algn="l">
              <a:spcBef>
                <a:spcPts val="500"/>
              </a:spcBef>
              <a:spcAft>
                <a:spcPts val="0"/>
              </a:spcAft>
              <a:buSzPts val="2200"/>
              <a:buChar char="•"/>
            </a:pPr>
            <a:r>
              <a:rPr lang="sv-SE"/>
              <a:t>System often available despite failure. </a:t>
            </a:r>
            <a:endParaRPr/>
          </a:p>
          <a:p>
            <a:pPr indent="-368300" lvl="1" marL="914400" rtl="0" algn="l">
              <a:spcBef>
                <a:spcPts val="500"/>
              </a:spcBef>
              <a:spcAft>
                <a:spcPts val="0"/>
              </a:spcAft>
              <a:buSzPts val="2200"/>
              <a:buChar char="•"/>
            </a:pPr>
            <a:r>
              <a:rPr lang="sv-SE"/>
              <a:t>Metrics consider </a:t>
            </a:r>
            <a:r>
              <a:rPr b="1" lang="sv-SE">
                <a:solidFill>
                  <a:schemeClr val="accent3"/>
                </a:solidFill>
              </a:rPr>
              <a:t>failure rates</a:t>
            </a:r>
            <a:r>
              <a:rPr lang="sv-SE"/>
              <a:t>, </a:t>
            </a:r>
            <a:r>
              <a:rPr b="1" lang="sv-SE">
                <a:solidFill>
                  <a:schemeClr val="accent3"/>
                </a:solidFill>
              </a:rPr>
              <a:t>uptime</a:t>
            </a:r>
            <a:r>
              <a:rPr lang="sv-SE"/>
              <a:t>, and </a:t>
            </a:r>
            <a:r>
              <a:rPr b="1" lang="sv-SE">
                <a:solidFill>
                  <a:schemeClr val="accent3"/>
                </a:solidFill>
              </a:rPr>
              <a:t>time between failures</a:t>
            </a:r>
            <a:r>
              <a:rPr lang="sv-SE"/>
              <a:t>.</a:t>
            </a:r>
            <a:endParaRPr/>
          </a:p>
        </p:txBody>
      </p:sp>
      <p:sp>
        <p:nvSpPr>
          <p:cNvPr id="290" name="Google Shape;290;p3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Measurement 1: Time Available</a:t>
            </a:r>
            <a:endParaRPr/>
          </a:p>
        </p:txBody>
      </p:sp>
      <p:sp>
        <p:nvSpPr>
          <p:cNvPr id="296" name="Google Shape;296;p40"/>
          <p:cNvSpPr txBox="1"/>
          <p:nvPr>
            <p:ph idx="1" type="body"/>
          </p:nvPr>
        </p:nvSpPr>
        <p:spPr>
          <a:xfrm>
            <a:off x="468900" y="1122700"/>
            <a:ext cx="8217900" cy="36399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(uptime) / (total time observed)</a:t>
            </a:r>
            <a:endParaRPr>
              <a:solidFill>
                <a:schemeClr val="accent3"/>
              </a:solidFill>
            </a:endParaRPr>
          </a:p>
          <a:p>
            <a:pPr indent="-368300" lvl="1" marL="914400" rtl="0" algn="l">
              <a:spcBef>
                <a:spcPts val="500"/>
              </a:spcBef>
              <a:spcAft>
                <a:spcPts val="0"/>
              </a:spcAft>
              <a:buSzPts val="2200"/>
              <a:buChar char="•"/>
            </a:pPr>
            <a:r>
              <a:rPr lang="sv-SE"/>
              <a:t>Takes repair and restart time into account.</a:t>
            </a:r>
            <a:endParaRPr/>
          </a:p>
          <a:p>
            <a:pPr indent="-368300" lvl="1" marL="914400" rtl="0" algn="l">
              <a:spcBef>
                <a:spcPts val="500"/>
              </a:spcBef>
              <a:spcAft>
                <a:spcPts val="0"/>
              </a:spcAft>
              <a:buSzPts val="2200"/>
              <a:buChar char="•"/>
            </a:pPr>
            <a:r>
              <a:rPr lang="sv-SE"/>
              <a:t>Does not consider incorrect computations.</a:t>
            </a:r>
            <a:endParaRPr/>
          </a:p>
          <a:p>
            <a:pPr indent="-342900" lvl="2" marL="1371600" rtl="0" algn="l">
              <a:spcBef>
                <a:spcPts val="500"/>
              </a:spcBef>
              <a:spcAft>
                <a:spcPts val="0"/>
              </a:spcAft>
              <a:buSzPts val="1800"/>
              <a:buChar char="•"/>
            </a:pPr>
            <a:r>
              <a:rPr lang="sv-SE"/>
              <a:t>Only crashes.</a:t>
            </a:r>
            <a:endParaRPr/>
          </a:p>
          <a:p>
            <a:pPr indent="-368300" lvl="1" marL="914400" rtl="0" algn="l">
              <a:spcBef>
                <a:spcPts val="500"/>
              </a:spcBef>
              <a:spcAft>
                <a:spcPts val="0"/>
              </a:spcAft>
              <a:buSzPts val="2200"/>
              <a:buChar char="•"/>
            </a:pPr>
            <a:r>
              <a:rPr lang="sv-SE"/>
              <a:t>Keep an eye on digits of precision:</a:t>
            </a:r>
            <a:endParaRPr/>
          </a:p>
          <a:p>
            <a:pPr indent="-342900" lvl="2" marL="1371600" rtl="0" algn="l">
              <a:spcBef>
                <a:spcPts val="500"/>
              </a:spcBef>
              <a:spcAft>
                <a:spcPts val="0"/>
              </a:spcAft>
              <a:buSzPts val="1800"/>
              <a:buChar char="•"/>
            </a:pPr>
            <a:r>
              <a:rPr lang="sv-SE"/>
              <a:t>0.9 = down for 144 minutes a day.</a:t>
            </a:r>
            <a:endParaRPr/>
          </a:p>
          <a:p>
            <a:pPr indent="-342900" lvl="2" marL="1371600" rtl="0" algn="l">
              <a:spcBef>
                <a:spcPts val="500"/>
              </a:spcBef>
              <a:spcAft>
                <a:spcPts val="0"/>
              </a:spcAft>
              <a:buSzPts val="1800"/>
              <a:buChar char="•"/>
            </a:pPr>
            <a:r>
              <a:rPr lang="sv-SE"/>
              <a:t>0.99 =14.4 minutes</a:t>
            </a:r>
            <a:endParaRPr/>
          </a:p>
          <a:p>
            <a:pPr indent="-342900" lvl="2" marL="1371600" rtl="0" algn="l">
              <a:spcBef>
                <a:spcPts val="500"/>
              </a:spcBef>
              <a:spcAft>
                <a:spcPts val="0"/>
              </a:spcAft>
              <a:buSzPts val="1800"/>
              <a:buChar char="•"/>
            </a:pPr>
            <a:r>
              <a:rPr lang="sv-SE"/>
              <a:t>0.999 = 84 seconds</a:t>
            </a:r>
            <a:endParaRPr/>
          </a:p>
          <a:p>
            <a:pPr indent="-342900" lvl="2" marL="1371600" rtl="0" algn="l">
              <a:spcBef>
                <a:spcPts val="500"/>
              </a:spcBef>
              <a:spcAft>
                <a:spcPts val="0"/>
              </a:spcAft>
              <a:buSzPts val="1800"/>
              <a:buChar char="•"/>
            </a:pPr>
            <a:r>
              <a:rPr lang="sv-SE"/>
              <a:t>0.9999 = 8.4 seconds</a:t>
            </a:r>
            <a:endParaRPr/>
          </a:p>
        </p:txBody>
      </p:sp>
      <p:sp>
        <p:nvSpPr>
          <p:cNvPr id="297" name="Google Shape;297;p4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2500"/>
              <a:t>Metric 2: </a:t>
            </a:r>
            <a:r>
              <a:rPr lang="sv-SE" sz="2500"/>
              <a:t>Probability of Failure on Demand (POFOD)</a:t>
            </a:r>
            <a:endParaRPr sz="2500"/>
          </a:p>
        </p:txBody>
      </p:sp>
      <p:sp>
        <p:nvSpPr>
          <p:cNvPr id="303" name="Google Shape;303;p4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 failures) / (# requests)</a:t>
            </a:r>
            <a:endParaRPr b="1">
              <a:solidFill>
                <a:schemeClr val="accent3"/>
              </a:solidFill>
            </a:endParaRPr>
          </a:p>
          <a:p>
            <a:pPr indent="-368300" lvl="1" marL="914400" rtl="0" algn="l">
              <a:spcBef>
                <a:spcPts val="1000"/>
              </a:spcBef>
              <a:spcAft>
                <a:spcPts val="0"/>
              </a:spcAft>
              <a:buSzPts val="2200"/>
              <a:buChar char="•"/>
            </a:pPr>
            <a:r>
              <a:rPr lang="sv-SE"/>
              <a:t>Likelihood that a request will fail</a:t>
            </a:r>
            <a:endParaRPr/>
          </a:p>
          <a:p>
            <a:pPr indent="-368300" lvl="1" marL="914400" rtl="0" algn="l">
              <a:spcBef>
                <a:spcPts val="500"/>
              </a:spcBef>
              <a:spcAft>
                <a:spcPts val="0"/>
              </a:spcAft>
              <a:buSzPts val="2200"/>
              <a:buChar char="•"/>
            </a:pPr>
            <a:r>
              <a:rPr lang="sv-SE"/>
              <a:t>POFOD = 0.001 means that 1 out of 1000 requests fail. </a:t>
            </a:r>
            <a:endParaRPr/>
          </a:p>
          <a:p>
            <a:pPr indent="-393700" lvl="0" marL="457200" rtl="0" algn="l">
              <a:spcBef>
                <a:spcPts val="1000"/>
              </a:spcBef>
              <a:spcAft>
                <a:spcPts val="0"/>
              </a:spcAft>
              <a:buSzPts val="2600"/>
              <a:buChar char="•"/>
            </a:pPr>
            <a:r>
              <a:rPr lang="sv-SE"/>
              <a:t>Used when every failure is serious. </a:t>
            </a:r>
            <a:endParaRPr/>
          </a:p>
          <a:p>
            <a:pPr indent="-368300" lvl="1" marL="914400" rtl="0" algn="l">
              <a:spcBef>
                <a:spcPts val="500"/>
              </a:spcBef>
              <a:spcAft>
                <a:spcPts val="0"/>
              </a:spcAft>
              <a:buSzPts val="2200"/>
              <a:buChar char="•"/>
            </a:pPr>
            <a:r>
              <a:rPr lang="sv-SE"/>
              <a:t>Independent of frequency of requests.</a:t>
            </a:r>
            <a:endParaRPr/>
          </a:p>
          <a:p>
            <a:pPr indent="-368300" lvl="1" marL="914400" rtl="0" algn="l">
              <a:spcBef>
                <a:spcPts val="500"/>
              </a:spcBef>
              <a:spcAft>
                <a:spcPts val="0"/>
              </a:spcAft>
              <a:buSzPts val="2200"/>
              <a:buChar char="•"/>
            </a:pPr>
            <a:r>
              <a:rPr lang="sv-SE"/>
              <a:t>1/1000 sounds risky, but if only one failure in whole lifetime, may be good.</a:t>
            </a:r>
            <a:endParaRPr/>
          </a:p>
        </p:txBody>
      </p:sp>
      <p:sp>
        <p:nvSpPr>
          <p:cNvPr id="304" name="Google Shape;304;p4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2800"/>
              <a:t>Metric 3: </a:t>
            </a:r>
            <a:r>
              <a:rPr lang="sv-SE" sz="2800"/>
              <a:t>Rate of Occurrence of Fault (ROCOF)</a:t>
            </a:r>
            <a:endParaRPr sz="2800"/>
          </a:p>
        </p:txBody>
      </p:sp>
      <p:sp>
        <p:nvSpPr>
          <p:cNvPr id="310" name="Google Shape;310;p4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b="1" lang="sv-SE">
                <a:solidFill>
                  <a:schemeClr val="accent3"/>
                </a:solidFill>
              </a:rPr>
              <a:t>(# failures) / (chosen period of time)</a:t>
            </a:r>
            <a:endParaRPr b="1">
              <a:solidFill>
                <a:schemeClr val="accent3"/>
              </a:solidFill>
            </a:endParaRPr>
          </a:p>
          <a:p>
            <a:pPr indent="-368300" lvl="1" marL="914400" rtl="0" algn="l">
              <a:spcBef>
                <a:spcPts val="1000"/>
              </a:spcBef>
              <a:spcAft>
                <a:spcPts val="0"/>
              </a:spcAft>
              <a:buSzPts val="2200"/>
              <a:buChar char="•"/>
            </a:pPr>
            <a:r>
              <a:rPr lang="sv-SE"/>
              <a:t>Frequency of failures.</a:t>
            </a:r>
            <a:endParaRPr/>
          </a:p>
          <a:p>
            <a:pPr indent="-368300" lvl="1" marL="914400" rtl="0" algn="l">
              <a:spcBef>
                <a:spcPts val="500"/>
              </a:spcBef>
              <a:spcAft>
                <a:spcPts val="0"/>
              </a:spcAft>
              <a:buSzPts val="2200"/>
              <a:buChar char="•"/>
            </a:pPr>
            <a:r>
              <a:rPr lang="sv-SE"/>
              <a:t>Often given as “X failures per Y seconds/minutes/hours”</a:t>
            </a:r>
            <a:endParaRPr/>
          </a:p>
          <a:p>
            <a:pPr indent="-342900" lvl="2" marL="1371600" rtl="0" algn="l">
              <a:spcBef>
                <a:spcPts val="500"/>
              </a:spcBef>
              <a:spcAft>
                <a:spcPts val="0"/>
              </a:spcAft>
              <a:buSzPts val="1800"/>
              <a:buChar char="•"/>
            </a:pPr>
            <a:r>
              <a:rPr lang="sv-SE"/>
              <a:t>You choose Y.</a:t>
            </a:r>
            <a:endParaRPr/>
          </a:p>
          <a:p>
            <a:pPr indent="-342900" lvl="2" marL="1371600" rtl="0" algn="l">
              <a:spcBef>
                <a:spcPts val="500"/>
              </a:spcBef>
              <a:spcAft>
                <a:spcPts val="0"/>
              </a:spcAft>
              <a:buSzPts val="1800"/>
              <a:buChar char="•"/>
            </a:pPr>
            <a:r>
              <a:rPr lang="sv-SE"/>
              <a:t>Often normalized to failures per minute, hour, day.</a:t>
            </a:r>
            <a:endParaRPr/>
          </a:p>
          <a:p>
            <a:pPr indent="-393700" lvl="0" marL="457200" rtl="0" algn="l">
              <a:spcBef>
                <a:spcPts val="1000"/>
              </a:spcBef>
              <a:spcAft>
                <a:spcPts val="0"/>
              </a:spcAft>
              <a:buSzPts val="2600"/>
              <a:buChar char="•"/>
            </a:pPr>
            <a:r>
              <a:rPr lang="sv-SE"/>
              <a:t>Appropriate when requests are made on a regular basis (such as a shop).</a:t>
            </a:r>
            <a:endParaRPr/>
          </a:p>
        </p:txBody>
      </p:sp>
      <p:sp>
        <p:nvSpPr>
          <p:cNvPr id="311" name="Google Shape;311;p4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2900"/>
              <a:t>Metric 4: </a:t>
            </a:r>
            <a:r>
              <a:rPr lang="sv-SE" sz="2900"/>
              <a:t>Mean Time Between Failures (MTBF)</a:t>
            </a:r>
            <a:endParaRPr sz="2900"/>
          </a:p>
        </p:txBody>
      </p:sp>
      <p:sp>
        <p:nvSpPr>
          <p:cNvPr id="317" name="Google Shape;317;p4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A</a:t>
            </a:r>
            <a:r>
              <a:rPr b="1" lang="sv-SE">
                <a:solidFill>
                  <a:schemeClr val="accent3"/>
                </a:solidFill>
              </a:rPr>
              <a:t>verage time between failures.</a:t>
            </a:r>
            <a:endParaRPr b="1">
              <a:solidFill>
                <a:schemeClr val="accent3"/>
              </a:solidFill>
            </a:endParaRPr>
          </a:p>
          <a:p>
            <a:pPr indent="-368300" lvl="1" marL="914400" rtl="0" algn="l">
              <a:spcBef>
                <a:spcPts val="500"/>
              </a:spcBef>
              <a:spcAft>
                <a:spcPts val="0"/>
              </a:spcAft>
              <a:buSzPts val="2200"/>
              <a:buChar char="•"/>
            </a:pPr>
            <a:r>
              <a:rPr lang="sv-SE"/>
              <a:t>Only considers time where system operating.</a:t>
            </a:r>
            <a:endParaRPr/>
          </a:p>
          <a:p>
            <a:pPr indent="-368300" lvl="1" marL="914400" rtl="0" algn="l">
              <a:spcBef>
                <a:spcPts val="500"/>
              </a:spcBef>
              <a:spcAft>
                <a:spcPts val="0"/>
              </a:spcAft>
              <a:buSzPts val="2200"/>
              <a:buChar char="•"/>
            </a:pPr>
            <a:r>
              <a:rPr lang="sv-SE"/>
              <a:t>Requires time of each failure and time when system resumed service.</a:t>
            </a:r>
            <a:endParaRPr/>
          </a:p>
          <a:p>
            <a:pPr indent="-393700" lvl="0" marL="457200" rtl="0" algn="l">
              <a:spcBef>
                <a:spcPts val="1000"/>
              </a:spcBef>
              <a:spcAft>
                <a:spcPts val="0"/>
              </a:spcAft>
              <a:buSzPts val="2600"/>
              <a:buChar char="•"/>
            </a:pPr>
            <a:r>
              <a:rPr lang="sv-SE"/>
              <a:t>Used for systems with long user sessions, where crashes can cause major issues.</a:t>
            </a:r>
            <a:endParaRPr/>
          </a:p>
          <a:p>
            <a:pPr indent="-368300" lvl="1" marL="914400" rtl="0" algn="l">
              <a:spcBef>
                <a:spcPts val="500"/>
              </a:spcBef>
              <a:spcAft>
                <a:spcPts val="0"/>
              </a:spcAft>
              <a:buSzPts val="2200"/>
              <a:buChar char="•"/>
            </a:pPr>
            <a:r>
              <a:rPr lang="sv-SE"/>
              <a:t>E.g., saving requires resource consumption.</a:t>
            </a:r>
            <a:endParaRPr/>
          </a:p>
        </p:txBody>
      </p:sp>
      <p:sp>
        <p:nvSpPr>
          <p:cNvPr id="318" name="Google Shape;318;p4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Measuring Availability</a:t>
            </a:r>
            <a:endParaRPr/>
          </a:p>
        </p:txBody>
      </p:sp>
      <p:sp>
        <p:nvSpPr>
          <p:cNvPr id="324" name="Google Shape;324;p4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How you </a:t>
            </a:r>
            <a:r>
              <a:rPr b="1" lang="sv-SE">
                <a:solidFill>
                  <a:schemeClr val="accent3"/>
                </a:solidFill>
              </a:rPr>
              <a:t>avoid</a:t>
            </a:r>
            <a:r>
              <a:rPr lang="sv-SE"/>
              <a:t>, </a:t>
            </a:r>
            <a:r>
              <a:rPr b="1" lang="sv-SE">
                <a:solidFill>
                  <a:schemeClr val="accent3"/>
                </a:solidFill>
              </a:rPr>
              <a:t>ignore</a:t>
            </a:r>
            <a:r>
              <a:rPr lang="sv-SE"/>
              <a:t>, or </a:t>
            </a:r>
            <a:r>
              <a:rPr b="1" lang="sv-SE">
                <a:solidFill>
                  <a:schemeClr val="accent3"/>
                </a:solidFill>
              </a:rPr>
              <a:t>recover </a:t>
            </a:r>
            <a:r>
              <a:rPr lang="sv-SE"/>
              <a:t>from failures.</a:t>
            </a:r>
            <a:endParaRPr/>
          </a:p>
          <a:p>
            <a:pPr indent="-368300" lvl="1" marL="914400" rtl="0" algn="l">
              <a:spcBef>
                <a:spcPts val="500"/>
              </a:spcBef>
              <a:spcAft>
                <a:spcPts val="0"/>
              </a:spcAft>
              <a:buSzPts val="2200"/>
              <a:buChar char="•"/>
            </a:pPr>
            <a:r>
              <a:rPr i="1" lang="sv-SE"/>
              <a:t>Avoid</a:t>
            </a:r>
            <a:r>
              <a:rPr lang="sv-SE"/>
              <a:t>: </a:t>
            </a:r>
            <a:endParaRPr/>
          </a:p>
          <a:p>
            <a:pPr indent="-342900" lvl="2" marL="1371600" rtl="0" algn="l">
              <a:spcBef>
                <a:spcPts val="500"/>
              </a:spcBef>
              <a:spcAft>
                <a:spcPts val="0"/>
              </a:spcAft>
              <a:buSzPts val="1800"/>
              <a:buChar char="•"/>
            </a:pPr>
            <a:r>
              <a:rPr lang="sv-SE"/>
              <a:t>Measure </a:t>
            </a:r>
            <a:r>
              <a:rPr b="1" lang="sv-SE"/>
              <a:t>reliability</a:t>
            </a:r>
            <a:r>
              <a:rPr lang="sv-SE"/>
              <a:t> when that failure </a:t>
            </a:r>
            <a:r>
              <a:rPr i="1" lang="sv-SE"/>
              <a:t>could</a:t>
            </a:r>
            <a:r>
              <a:rPr lang="sv-SE"/>
              <a:t> </a:t>
            </a:r>
            <a:r>
              <a:rPr lang="sv-SE"/>
              <a:t>occur.</a:t>
            </a:r>
            <a:endParaRPr/>
          </a:p>
          <a:p>
            <a:pPr indent="-368300" lvl="1" marL="914400" rtl="0" algn="l">
              <a:spcBef>
                <a:spcPts val="500"/>
              </a:spcBef>
              <a:spcAft>
                <a:spcPts val="0"/>
              </a:spcAft>
              <a:buSzPts val="2200"/>
              <a:buChar char="•"/>
            </a:pPr>
            <a:r>
              <a:rPr i="1" lang="sv-SE"/>
              <a:t>I</a:t>
            </a:r>
            <a:r>
              <a:rPr i="1" lang="sv-SE"/>
              <a:t>gnore</a:t>
            </a:r>
            <a:r>
              <a:rPr lang="sv-SE"/>
              <a:t>: </a:t>
            </a:r>
            <a:endParaRPr/>
          </a:p>
          <a:p>
            <a:pPr indent="-342900" lvl="2" marL="1371600" rtl="0" algn="l">
              <a:spcBef>
                <a:spcPts val="500"/>
              </a:spcBef>
              <a:spcAft>
                <a:spcPts val="0"/>
              </a:spcAft>
              <a:buSzPts val="1800"/>
              <a:buChar char="•"/>
            </a:pPr>
            <a:r>
              <a:rPr lang="sv-SE"/>
              <a:t>Induce failure, then measure subsequent </a:t>
            </a:r>
            <a:r>
              <a:rPr b="1" lang="sv-SE"/>
              <a:t>reliability</a:t>
            </a:r>
            <a:r>
              <a:rPr lang="sv-SE"/>
              <a:t>. </a:t>
            </a:r>
            <a:endParaRPr/>
          </a:p>
          <a:p>
            <a:pPr indent="-342900" lvl="2" marL="1371600" rtl="0" algn="l">
              <a:spcBef>
                <a:spcPts val="500"/>
              </a:spcBef>
              <a:spcAft>
                <a:spcPts val="0"/>
              </a:spcAft>
              <a:buSzPts val="1800"/>
              <a:buChar char="•"/>
            </a:pPr>
            <a:r>
              <a:rPr lang="sv-SE"/>
              <a:t>Compare to reliability when the failure did not </a:t>
            </a:r>
            <a:r>
              <a:rPr lang="sv-SE"/>
              <a:t>occur.</a:t>
            </a:r>
            <a:endParaRPr/>
          </a:p>
          <a:p>
            <a:pPr indent="-368300" lvl="1" marL="914400" rtl="0" algn="l">
              <a:spcBef>
                <a:spcPts val="500"/>
              </a:spcBef>
              <a:spcAft>
                <a:spcPts val="0"/>
              </a:spcAft>
              <a:buSzPts val="2200"/>
              <a:buChar char="•"/>
            </a:pPr>
            <a:r>
              <a:rPr i="1" lang="sv-SE"/>
              <a:t>Recover:</a:t>
            </a:r>
            <a:r>
              <a:rPr lang="sv-SE"/>
              <a:t> </a:t>
            </a:r>
            <a:endParaRPr/>
          </a:p>
          <a:p>
            <a:pPr indent="-342900" lvl="2" marL="1371600" rtl="0" algn="l">
              <a:spcBef>
                <a:spcPts val="500"/>
              </a:spcBef>
              <a:spcAft>
                <a:spcPts val="0"/>
              </a:spcAft>
              <a:buSzPts val="1800"/>
              <a:buChar char="•"/>
            </a:pPr>
            <a:r>
              <a:rPr lang="sv-SE"/>
              <a:t>Measure </a:t>
            </a:r>
            <a:r>
              <a:rPr b="1" lang="sv-SE"/>
              <a:t>time</a:t>
            </a:r>
            <a:r>
              <a:rPr lang="sv-SE"/>
              <a:t> that it takes to return to normal operation.</a:t>
            </a:r>
            <a:endParaRPr/>
          </a:p>
          <a:p>
            <a:pPr indent="-342900" lvl="2" marL="1371600" rtl="0" algn="l">
              <a:spcBef>
                <a:spcPts val="500"/>
              </a:spcBef>
              <a:spcAft>
                <a:spcPts val="0"/>
              </a:spcAft>
              <a:buSzPts val="1800"/>
              <a:buChar char="•"/>
            </a:pPr>
            <a:r>
              <a:rPr lang="sv-SE"/>
              <a:t>Measure </a:t>
            </a:r>
            <a:r>
              <a:rPr b="1" lang="sv-SE"/>
              <a:t>effects of failure</a:t>
            </a:r>
            <a:r>
              <a:rPr lang="sv-SE"/>
              <a:t> on operation (e.g., like in “ignore”)</a:t>
            </a:r>
            <a:endParaRPr/>
          </a:p>
        </p:txBody>
      </p:sp>
      <p:sp>
        <p:nvSpPr>
          <p:cNvPr id="325" name="Google Shape;325;p4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32" name="Google Shape;332;p45"/>
          <p:cNvSpPr txBox="1"/>
          <p:nvPr>
            <p:ph type="title"/>
          </p:nvPr>
        </p:nvSpPr>
        <p:spPr>
          <a:xfrm>
            <a:off x="468900" y="613984"/>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Let’s take a break!</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4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39" name="Google Shape;339;p4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Reliability Metrics</a:t>
            </a:r>
            <a:endParaRPr/>
          </a:p>
        </p:txBody>
      </p:sp>
      <p:sp>
        <p:nvSpPr>
          <p:cNvPr id="340" name="Google Shape;340;p4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Time Available</a:t>
            </a:r>
            <a:r>
              <a:rPr lang="sv-SE"/>
              <a:t>: </a:t>
            </a:r>
            <a:r>
              <a:rPr b="1" lang="sv-SE">
                <a:solidFill>
                  <a:schemeClr val="accent3"/>
                </a:solidFill>
              </a:rPr>
              <a:t>(uptime) / (total time observed)</a:t>
            </a:r>
            <a:endParaRPr b="1">
              <a:solidFill>
                <a:schemeClr val="accent3"/>
              </a:solidFill>
            </a:endParaRPr>
          </a:p>
          <a:p>
            <a:pPr indent="-393700" lvl="0" marL="457200" rtl="0" algn="l">
              <a:spcBef>
                <a:spcPts val="1000"/>
              </a:spcBef>
              <a:spcAft>
                <a:spcPts val="0"/>
              </a:spcAft>
              <a:buSzPts val="2600"/>
              <a:buChar char="•"/>
            </a:pPr>
            <a:r>
              <a:rPr lang="sv-SE"/>
              <a:t>POFOD: </a:t>
            </a:r>
            <a:r>
              <a:rPr b="1" lang="sv-SE">
                <a:solidFill>
                  <a:schemeClr val="accent3"/>
                </a:solidFill>
              </a:rPr>
              <a:t>(# failures) / (# requests)</a:t>
            </a:r>
            <a:endParaRPr b="1">
              <a:solidFill>
                <a:schemeClr val="accent3"/>
              </a:solidFill>
            </a:endParaRPr>
          </a:p>
          <a:p>
            <a:pPr indent="-393700" lvl="0" marL="457200" rtl="0" algn="l">
              <a:spcBef>
                <a:spcPts val="1000"/>
              </a:spcBef>
              <a:spcAft>
                <a:spcPts val="0"/>
              </a:spcAft>
              <a:buSzPts val="2600"/>
              <a:buChar char="•"/>
            </a:pPr>
            <a:r>
              <a:rPr lang="sv-SE"/>
              <a:t>ROCOF: </a:t>
            </a:r>
            <a:r>
              <a:rPr b="1" lang="sv-SE">
                <a:solidFill>
                  <a:schemeClr val="accent3"/>
                </a:solidFill>
              </a:rPr>
              <a:t>(# failures) / (period of time)</a:t>
            </a:r>
            <a:endParaRPr b="1">
              <a:solidFill>
                <a:schemeClr val="accent3"/>
              </a:solidFill>
            </a:endParaRPr>
          </a:p>
          <a:p>
            <a:pPr indent="-393700" lvl="0" marL="457200" rtl="0" algn="l">
              <a:spcBef>
                <a:spcPts val="1000"/>
              </a:spcBef>
              <a:spcAft>
                <a:spcPts val="0"/>
              </a:spcAft>
              <a:buSzPts val="2600"/>
              <a:buChar char="•"/>
            </a:pPr>
            <a:r>
              <a:rPr lang="sv-SE"/>
              <a:t>MTBF: </a:t>
            </a:r>
            <a:r>
              <a:rPr b="1" lang="sv-SE">
                <a:solidFill>
                  <a:schemeClr val="accent3"/>
                </a:solidFill>
              </a:rPr>
              <a:t>A</a:t>
            </a:r>
            <a:r>
              <a:rPr b="1" lang="sv-SE">
                <a:solidFill>
                  <a:schemeClr val="accent3"/>
                </a:solidFill>
              </a:rPr>
              <a:t>verage time between failures</a:t>
            </a:r>
            <a:endParaRPr b="1"/>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47" name="Google Shape;347;p4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348" name="Google Shape;348;p4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sv-SE"/>
              <a:t>R</a:t>
            </a:r>
            <a:r>
              <a:rPr lang="sv-SE"/>
              <a:t>ecorded the following data:</a:t>
            </a:r>
            <a:endParaRPr/>
          </a:p>
          <a:p>
            <a:pPr indent="-393700" lvl="0" marL="457200" rtl="0" algn="l">
              <a:spcBef>
                <a:spcPts val="1000"/>
              </a:spcBef>
              <a:spcAft>
                <a:spcPts val="0"/>
              </a:spcAft>
              <a:buSzPts val="2600"/>
              <a:buChar char="•"/>
            </a:pPr>
            <a:r>
              <a:rPr lang="sv-SE"/>
              <a:t>There were 1200 requests.</a:t>
            </a:r>
            <a:endParaRPr/>
          </a:p>
          <a:p>
            <a:pPr indent="-368300" lvl="1" marL="914400" rtl="0" algn="l">
              <a:spcBef>
                <a:spcPts val="0"/>
              </a:spcBef>
              <a:spcAft>
                <a:spcPts val="0"/>
              </a:spcAft>
              <a:buSzPts val="2200"/>
              <a:buChar char="•"/>
            </a:pPr>
            <a:r>
              <a:rPr lang="sv-SE"/>
              <a:t>60 of those requests resulted in failures.</a:t>
            </a:r>
            <a:endParaRPr/>
          </a:p>
          <a:p>
            <a:pPr indent="-368300" lvl="1" marL="914400" rtl="0" algn="l">
              <a:spcBef>
                <a:spcPts val="0"/>
              </a:spcBef>
              <a:spcAft>
                <a:spcPts val="0"/>
              </a:spcAft>
              <a:buSzPts val="2200"/>
              <a:buChar char="•"/>
            </a:pPr>
            <a:r>
              <a:rPr lang="sv-SE"/>
              <a:t>56 failures resulted in incorrect computations.</a:t>
            </a:r>
            <a:endParaRPr/>
          </a:p>
          <a:p>
            <a:pPr indent="-368300" lvl="1" marL="914400" rtl="0" algn="l">
              <a:spcBef>
                <a:spcPts val="0"/>
              </a:spcBef>
              <a:spcAft>
                <a:spcPts val="0"/>
              </a:spcAft>
              <a:buSzPts val="2200"/>
              <a:buChar char="•"/>
            </a:pPr>
            <a:r>
              <a:rPr lang="sv-SE"/>
              <a:t>4 failures resulted in crashes.</a:t>
            </a:r>
            <a:endParaRPr/>
          </a:p>
          <a:p>
            <a:pPr indent="-368300" lvl="1" marL="914400" rtl="0" algn="l">
              <a:spcBef>
                <a:spcPts val="0"/>
              </a:spcBef>
              <a:spcAft>
                <a:spcPts val="0"/>
              </a:spcAft>
              <a:buSzPts val="2200"/>
              <a:buChar char="•"/>
            </a:pPr>
            <a:r>
              <a:rPr lang="sv-SE"/>
              <a:t>Uptime and downtime (caused by crashes):</a:t>
            </a:r>
            <a:endParaRPr/>
          </a:p>
          <a:p>
            <a:pPr indent="0" lvl="0" marL="0" rtl="0" algn="l">
              <a:spcBef>
                <a:spcPts val="1000"/>
              </a:spcBef>
              <a:spcAft>
                <a:spcPts val="0"/>
              </a:spcAft>
              <a:buNone/>
            </a:pPr>
            <a:r>
              <a:t/>
            </a:r>
            <a:endParaRPr/>
          </a:p>
        </p:txBody>
      </p:sp>
      <p:pic>
        <p:nvPicPr>
          <p:cNvPr id="349" name="Google Shape;349;p47" title="Spring26-Lecture2-QualityActivity.png"/>
          <p:cNvPicPr preferRelativeResize="0"/>
          <p:nvPr/>
        </p:nvPicPr>
        <p:blipFill>
          <a:blip r:embed="rId3">
            <a:alphaModFix/>
          </a:blip>
          <a:stretch>
            <a:fillRect/>
          </a:stretch>
        </p:blipFill>
        <p:spPr>
          <a:xfrm>
            <a:off x="1340750" y="3408225"/>
            <a:ext cx="6644475" cy="49833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56" name="Google Shape;356;p4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357" name="Google Shape;357;p4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AutoNum type="arabicPeriod"/>
            </a:pPr>
            <a:r>
              <a:rPr b="1" lang="sv-SE"/>
              <a:t>What is the Time Available?</a:t>
            </a:r>
            <a:endParaRPr b="1"/>
          </a:p>
          <a:p>
            <a:pPr indent="-368300" lvl="1" marL="914400" rtl="0" algn="l">
              <a:spcBef>
                <a:spcPts val="0"/>
              </a:spcBef>
              <a:spcAft>
                <a:spcPts val="0"/>
              </a:spcAft>
              <a:buSzPts val="2200"/>
              <a:buAutoNum type="alphaLcPeriod"/>
            </a:pPr>
            <a:r>
              <a:rPr lang="sv-SE"/>
              <a:t>Total Time Observed = </a:t>
            </a:r>
            <a:br>
              <a:rPr lang="sv-SE"/>
            </a:br>
            <a:r>
              <a:rPr lang="sv-SE"/>
              <a:t>24 * 60 = </a:t>
            </a:r>
            <a:br>
              <a:rPr lang="sv-SE"/>
            </a:br>
            <a:r>
              <a:rPr lang="sv-SE"/>
              <a:t>1440 minutes</a:t>
            </a:r>
            <a:endParaRPr/>
          </a:p>
          <a:p>
            <a:pPr indent="-368300" lvl="1" marL="914400" rtl="0" algn="l">
              <a:spcBef>
                <a:spcPts val="0"/>
              </a:spcBef>
              <a:spcAft>
                <a:spcPts val="0"/>
              </a:spcAft>
              <a:buSzPts val="2200"/>
              <a:buAutoNum type="alphaLcPeriod"/>
            </a:pPr>
            <a:r>
              <a:rPr lang="sv-SE"/>
              <a:t>Uptime = </a:t>
            </a:r>
            <a:br>
              <a:rPr lang="sv-SE"/>
            </a:br>
            <a:r>
              <a:rPr lang="sv-SE"/>
              <a:t>Total Time Obverved - Downtime</a:t>
            </a:r>
            <a:br>
              <a:rPr lang="sv-SE"/>
            </a:br>
            <a:r>
              <a:rPr lang="sv-SE"/>
              <a:t>1440 - (60 + 15 + 30 + 60) =</a:t>
            </a:r>
            <a:br>
              <a:rPr lang="sv-SE"/>
            </a:br>
            <a:r>
              <a:rPr lang="sv-SE"/>
              <a:t>1275 minutes</a:t>
            </a:r>
            <a:endParaRPr/>
          </a:p>
          <a:p>
            <a:pPr indent="-368300" lvl="1" marL="914400" rtl="0" algn="l">
              <a:spcBef>
                <a:spcPts val="0"/>
              </a:spcBef>
              <a:spcAft>
                <a:spcPts val="0"/>
              </a:spcAft>
              <a:buSzPts val="2200"/>
              <a:buAutoNum type="alphaLcPeriod"/>
            </a:pPr>
            <a:r>
              <a:rPr lang="sv-SE"/>
              <a:t>Time Available = Uptime / Total Time Observed =</a:t>
            </a:r>
            <a:br>
              <a:rPr lang="sv-SE"/>
            </a:br>
            <a:r>
              <a:rPr lang="sv-SE"/>
              <a:t>1275 / 1440 =</a:t>
            </a:r>
            <a:br>
              <a:rPr lang="sv-SE"/>
            </a:br>
            <a:r>
              <a:rPr lang="sv-SE"/>
              <a:t>88.54%</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64" name="Google Shape;364;p4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365" name="Google Shape;365;p4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AutoNum type="arabicPeriod" startAt="2"/>
            </a:pPr>
            <a:r>
              <a:rPr b="1" lang="sv-SE"/>
              <a:t>What is the POFOD?</a:t>
            </a:r>
            <a:endParaRPr b="1"/>
          </a:p>
          <a:p>
            <a:pPr indent="-368300" lvl="1" marL="914400" rtl="0" algn="l">
              <a:spcBef>
                <a:spcPts val="0"/>
              </a:spcBef>
              <a:spcAft>
                <a:spcPts val="0"/>
              </a:spcAft>
              <a:buSzPts val="2200"/>
              <a:buAutoNum type="alphaLcPeriod"/>
            </a:pPr>
            <a:r>
              <a:rPr lang="sv-SE"/>
              <a:t>POFOD = (# failures) / (# requests) =</a:t>
            </a:r>
            <a:br>
              <a:rPr lang="sv-SE"/>
            </a:br>
            <a:r>
              <a:rPr lang="sv-SE"/>
              <a:t>60 / 1200 = </a:t>
            </a:r>
            <a:br>
              <a:rPr lang="sv-SE"/>
            </a:br>
            <a:r>
              <a:rPr lang="sv-SE"/>
              <a:t>0.05</a:t>
            </a:r>
            <a:endParaRPr/>
          </a:p>
          <a:p>
            <a:pPr indent="-393700" lvl="0" marL="457200" rtl="0" algn="l">
              <a:spcBef>
                <a:spcPts val="0"/>
              </a:spcBef>
              <a:spcAft>
                <a:spcPts val="0"/>
              </a:spcAft>
              <a:buSzPts val="2600"/>
              <a:buAutoNum type="arabicPeriod" startAt="2"/>
            </a:pPr>
            <a:r>
              <a:rPr b="1" lang="sv-SE"/>
              <a:t>What is the ROCOF in failures per hour?</a:t>
            </a:r>
            <a:endParaRPr b="1"/>
          </a:p>
          <a:p>
            <a:pPr indent="-368300" lvl="1" marL="914400" rtl="0" algn="l">
              <a:spcBef>
                <a:spcPts val="0"/>
              </a:spcBef>
              <a:spcAft>
                <a:spcPts val="0"/>
              </a:spcAft>
              <a:buSzPts val="2200"/>
              <a:buAutoNum type="alphaLcPeriod"/>
            </a:pPr>
            <a:r>
              <a:rPr lang="sv-SE"/>
              <a:t>ROCOF = (# failures) / (number of hours) =</a:t>
            </a:r>
            <a:br>
              <a:rPr lang="sv-SE"/>
            </a:br>
            <a:r>
              <a:rPr lang="sv-SE"/>
              <a:t>60 / 24 =</a:t>
            </a:r>
            <a:br>
              <a:rPr lang="sv-SE"/>
            </a:br>
            <a:r>
              <a:rPr lang="sv-SE"/>
              <a:t>2.5 failures per hour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72" name="Google Shape;372;p5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373" name="Google Shape;373;p5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AutoNum type="arabicPeriod" startAt="4"/>
            </a:pPr>
            <a:r>
              <a:rPr b="1" lang="sv-SE"/>
              <a:t>What is the MTBF (only crashes)?</a:t>
            </a:r>
            <a:endParaRPr/>
          </a:p>
          <a:p>
            <a:pPr indent="-342900" lvl="1" marL="914400" rtl="0" algn="l">
              <a:spcBef>
                <a:spcPts val="0"/>
              </a:spcBef>
              <a:spcAft>
                <a:spcPts val="0"/>
              </a:spcAft>
              <a:buSzPts val="1800"/>
              <a:buAutoNum type="alphaLcPeriod"/>
            </a:pPr>
            <a:r>
              <a:rPr lang="sv-SE" sz="1800"/>
              <a:t>We need the </a:t>
            </a:r>
            <a:r>
              <a:rPr i="1" lang="sv-SE" sz="1800"/>
              <a:t>uptime between each crash</a:t>
            </a:r>
            <a:r>
              <a:rPr lang="sv-SE" sz="1800"/>
              <a:t>.</a:t>
            </a:r>
            <a:br>
              <a:rPr lang="sv-SE" sz="1800"/>
            </a:br>
            <a:r>
              <a:rPr lang="sv-SE" sz="1800"/>
              <a:t>1 (0:00 - 4:00): 240 minutes</a:t>
            </a:r>
            <a:br>
              <a:rPr lang="sv-SE" sz="1800"/>
            </a:br>
            <a:r>
              <a:rPr lang="sv-SE" sz="1800"/>
              <a:t>2 (5:00 - 8:00): 180 minutes</a:t>
            </a:r>
            <a:br>
              <a:rPr lang="sv-SE" sz="1800"/>
            </a:br>
            <a:r>
              <a:rPr lang="sv-SE" sz="1800"/>
              <a:t>3 (8:15 - 10:00): 105 minutes</a:t>
            </a:r>
            <a:br>
              <a:rPr lang="sv-SE" sz="1800"/>
            </a:br>
            <a:r>
              <a:rPr lang="sv-SE" sz="1800"/>
              <a:t>4 (10:30 - 16:00): 330 minutes</a:t>
            </a:r>
            <a:endParaRPr sz="1800"/>
          </a:p>
          <a:p>
            <a:pPr indent="-342900" lvl="1" marL="914400" rtl="0" algn="l">
              <a:spcBef>
                <a:spcPts val="0"/>
              </a:spcBef>
              <a:spcAft>
                <a:spcPts val="0"/>
              </a:spcAft>
              <a:buSzPts val="1800"/>
              <a:buAutoNum type="alphaLcPeriod"/>
            </a:pPr>
            <a:r>
              <a:rPr lang="sv-SE" sz="1800"/>
              <a:t>Take the average: (240 + 180 + 105 + 330) / 4 = 213.75 minutes </a:t>
            </a:r>
            <a:br>
              <a:rPr lang="sv-SE" sz="1800"/>
            </a:br>
            <a:endParaRPr sz="1800"/>
          </a:p>
        </p:txBody>
      </p:sp>
      <p:pic>
        <p:nvPicPr>
          <p:cNvPr id="374" name="Google Shape;374;p50" title="Spring26-Lecture2-QualityActivity.png"/>
          <p:cNvPicPr preferRelativeResize="0"/>
          <p:nvPr/>
        </p:nvPicPr>
        <p:blipFill>
          <a:blip r:embed="rId3">
            <a:alphaModFix/>
          </a:blip>
          <a:stretch>
            <a:fillRect/>
          </a:stretch>
        </p:blipFill>
        <p:spPr>
          <a:xfrm>
            <a:off x="1340750" y="3408225"/>
            <a:ext cx="6644475" cy="4983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381" name="Google Shape;381;p5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382" name="Google Shape;382;p5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AutoNum type="arabicPeriod" startAt="5"/>
            </a:pPr>
            <a:r>
              <a:rPr b="1" lang="sv-SE"/>
              <a:t>If we were interested in assessing availability, what are some ways that we could do so?</a:t>
            </a:r>
            <a:r>
              <a:rPr lang="sv-SE"/>
              <a:t> </a:t>
            </a:r>
            <a:endParaRPr/>
          </a:p>
          <a:p>
            <a:pPr indent="-368300" lvl="1" marL="914400" rtl="0" algn="l">
              <a:spcBef>
                <a:spcPts val="500"/>
              </a:spcBef>
              <a:spcAft>
                <a:spcPts val="0"/>
              </a:spcAft>
              <a:buSzPts val="2200"/>
              <a:buChar char="•"/>
            </a:pPr>
            <a:r>
              <a:rPr lang="sv-SE"/>
              <a:t>Pick failures we are interested in, show that they are </a:t>
            </a:r>
            <a:r>
              <a:rPr i="1" lang="sv-SE"/>
              <a:t>avoided</a:t>
            </a:r>
            <a:r>
              <a:rPr lang="sv-SE"/>
              <a:t>, </a:t>
            </a:r>
            <a:r>
              <a:rPr i="1" lang="sv-SE"/>
              <a:t>ignored</a:t>
            </a:r>
            <a:r>
              <a:rPr lang="sv-SE"/>
              <a:t>, </a:t>
            </a:r>
            <a:r>
              <a:rPr i="1" lang="sv-SE"/>
              <a:t>recovered</a:t>
            </a:r>
            <a:r>
              <a:rPr lang="sv-SE"/>
              <a:t> from.</a:t>
            </a:r>
            <a:endParaRPr/>
          </a:p>
          <a:p>
            <a:pPr indent="-342900" lvl="2" marL="1371600" rtl="0" algn="l">
              <a:spcBef>
                <a:spcPts val="500"/>
              </a:spcBef>
              <a:spcAft>
                <a:spcPts val="0"/>
              </a:spcAft>
              <a:buSzPts val="1800"/>
              <a:buChar char="•"/>
            </a:pPr>
            <a:r>
              <a:rPr i="1" lang="sv-SE"/>
              <a:t>Avoid</a:t>
            </a:r>
            <a:r>
              <a:rPr lang="sv-SE"/>
              <a:t>: See if failure </a:t>
            </a:r>
            <a:r>
              <a:rPr lang="sv-SE"/>
              <a:t>occurred</a:t>
            </a:r>
            <a:r>
              <a:rPr lang="sv-SE"/>
              <a:t>.</a:t>
            </a:r>
            <a:endParaRPr/>
          </a:p>
          <a:p>
            <a:pPr indent="-342900" lvl="2" marL="1371600" rtl="0" algn="l">
              <a:spcBef>
                <a:spcPts val="500"/>
              </a:spcBef>
              <a:spcAft>
                <a:spcPts val="0"/>
              </a:spcAft>
              <a:buSzPts val="1800"/>
              <a:buChar char="•"/>
            </a:pPr>
            <a:r>
              <a:rPr i="1" lang="sv-SE"/>
              <a:t>Ignored</a:t>
            </a:r>
            <a:r>
              <a:rPr lang="sv-SE"/>
              <a:t>: After failure occurs, is it likely to recur? Are other failures more likely to occur?</a:t>
            </a:r>
            <a:endParaRPr/>
          </a:p>
          <a:p>
            <a:pPr indent="-342900" lvl="2" marL="1371600" rtl="0" algn="l">
              <a:spcBef>
                <a:spcPts val="500"/>
              </a:spcBef>
              <a:spcAft>
                <a:spcPts val="0"/>
              </a:spcAft>
              <a:buSzPts val="1800"/>
              <a:buChar char="•"/>
            </a:pPr>
            <a:r>
              <a:rPr i="1" lang="sv-SE"/>
              <a:t>Recovered</a:t>
            </a:r>
            <a:r>
              <a:rPr lang="sv-SE"/>
              <a:t>: How long was system down? Afterwards, is there an effect on reliability?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389" name="Google Shape;389;p5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Activity</a:t>
            </a:r>
            <a:endParaRPr/>
          </a:p>
        </p:txBody>
      </p:sp>
      <p:sp>
        <p:nvSpPr>
          <p:cNvPr id="390" name="Google Shape;390;p5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AutoNum type="arabicPeriod" startAt="5"/>
            </a:pPr>
            <a:r>
              <a:rPr b="1" lang="sv-SE"/>
              <a:t>If we were interested in assessing availability, what are some ways that we could do so?</a:t>
            </a:r>
            <a:endParaRPr b="1"/>
          </a:p>
          <a:p>
            <a:pPr indent="0" lvl="0" marL="457200" rtl="0" algn="l">
              <a:spcBef>
                <a:spcPts val="1000"/>
              </a:spcBef>
              <a:spcAft>
                <a:spcPts val="0"/>
              </a:spcAft>
              <a:buNone/>
            </a:pPr>
            <a:r>
              <a:rPr lang="sv-SE"/>
              <a:t> </a:t>
            </a:r>
            <a:endParaRPr/>
          </a:p>
          <a:p>
            <a:pPr indent="-368300" lvl="1" marL="914400" rtl="0" algn="l">
              <a:spcBef>
                <a:spcPts val="500"/>
              </a:spcBef>
              <a:spcAft>
                <a:spcPts val="0"/>
              </a:spcAft>
              <a:buSzPts val="2200"/>
              <a:buChar char="•"/>
            </a:pPr>
            <a:r>
              <a:rPr lang="sv-SE"/>
              <a:t>Are crash 1 and 4 caused by the same failure?</a:t>
            </a:r>
            <a:endParaRPr/>
          </a:p>
          <a:p>
            <a:pPr indent="-368300" lvl="1" marL="914400" rtl="0" algn="l">
              <a:spcBef>
                <a:spcPts val="0"/>
              </a:spcBef>
              <a:spcAft>
                <a:spcPts val="0"/>
              </a:spcAft>
              <a:buSzPts val="2200"/>
              <a:buChar char="•"/>
            </a:pPr>
            <a:r>
              <a:rPr lang="sv-SE"/>
              <a:t>Did crash 2 lead to crash 3?</a:t>
            </a:r>
            <a:endParaRPr/>
          </a:p>
        </p:txBody>
      </p:sp>
      <p:pic>
        <p:nvPicPr>
          <p:cNvPr id="391" name="Google Shape;391;p52" title="Spring26-Lecture2-QualityActivity.png"/>
          <p:cNvPicPr preferRelativeResize="0"/>
          <p:nvPr/>
        </p:nvPicPr>
        <p:blipFill>
          <a:blip r:embed="rId3">
            <a:alphaModFix/>
          </a:blip>
          <a:stretch>
            <a:fillRect/>
          </a:stretch>
        </p:blipFill>
        <p:spPr>
          <a:xfrm>
            <a:off x="1340750" y="3408225"/>
            <a:ext cx="6644475" cy="49833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5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pic>
        <p:nvPicPr>
          <p:cNvPr id="398" name="Google Shape;398;p53"/>
          <p:cNvPicPr preferRelativeResize="0"/>
          <p:nvPr/>
        </p:nvPicPr>
        <p:blipFill>
          <a:blip r:embed="rId3">
            <a:alphaModFix/>
          </a:blip>
          <a:stretch>
            <a:fillRect/>
          </a:stretch>
        </p:blipFill>
        <p:spPr>
          <a:xfrm>
            <a:off x="6242787" y="2034400"/>
            <a:ext cx="2901224" cy="2901224"/>
          </a:xfrm>
          <a:prstGeom prst="rect">
            <a:avLst/>
          </a:prstGeom>
          <a:noFill/>
          <a:ln>
            <a:noFill/>
          </a:ln>
        </p:spPr>
      </p:pic>
      <p:sp>
        <p:nvSpPr>
          <p:cNvPr id="399" name="Google Shape;399;p53"/>
          <p:cNvSpPr txBox="1"/>
          <p:nvPr>
            <p:ph type="title"/>
          </p:nvPr>
        </p:nvSpPr>
        <p:spPr>
          <a:xfrm>
            <a:off x="468900" y="613975"/>
            <a:ext cx="72372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a:t>Quality Attributes: </a:t>
            </a:r>
            <a:br>
              <a:rPr lang="sv-SE"/>
            </a:br>
            <a:r>
              <a:rPr lang="sv-SE"/>
              <a:t>Performance and </a:t>
            </a:r>
            <a:br>
              <a:rPr lang="sv-SE"/>
            </a:br>
            <a:r>
              <a:rPr lang="sv-SE"/>
              <a:t>Scalability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a:t>
            </a:r>
            <a:endParaRPr/>
          </a:p>
        </p:txBody>
      </p:sp>
      <p:sp>
        <p:nvSpPr>
          <p:cNvPr id="405" name="Google Shape;405;p54"/>
          <p:cNvSpPr txBox="1"/>
          <p:nvPr>
            <p:ph idx="1" type="body"/>
          </p:nvPr>
        </p:nvSpPr>
        <p:spPr>
          <a:xfrm>
            <a:off x="468900" y="1150875"/>
            <a:ext cx="8217900" cy="36117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A</a:t>
            </a:r>
            <a:r>
              <a:rPr b="1" lang="sv-SE">
                <a:solidFill>
                  <a:schemeClr val="accent3"/>
                </a:solidFill>
              </a:rPr>
              <a:t>bility to meet timing requirements.</a:t>
            </a:r>
            <a:endParaRPr b="1">
              <a:solidFill>
                <a:schemeClr val="accent3"/>
              </a:solidFill>
            </a:endParaRPr>
          </a:p>
          <a:p>
            <a:pPr indent="-368300" lvl="1" marL="914400" rtl="0" algn="l">
              <a:spcBef>
                <a:spcPts val="500"/>
              </a:spcBef>
              <a:spcAft>
                <a:spcPts val="0"/>
              </a:spcAft>
              <a:buSzPts val="2200"/>
              <a:buChar char="•"/>
            </a:pPr>
            <a:r>
              <a:rPr lang="sv-SE"/>
              <a:t>When events occur, how fast does the system respond?</a:t>
            </a:r>
            <a:endParaRPr/>
          </a:p>
          <a:p>
            <a:pPr indent="-368300" lvl="1" marL="914400" rtl="0" algn="l">
              <a:spcBef>
                <a:spcPts val="500"/>
              </a:spcBef>
              <a:spcAft>
                <a:spcPts val="0"/>
              </a:spcAft>
              <a:buSzPts val="2200"/>
              <a:buChar char="•"/>
            </a:pPr>
            <a:r>
              <a:rPr lang="sv-SE"/>
              <a:t>Captures performance-per-user and across-users.</a:t>
            </a:r>
            <a:endParaRPr/>
          </a:p>
          <a:p>
            <a:pPr indent="-368300" lvl="1" marL="914400" rtl="0" algn="l">
              <a:spcBef>
                <a:spcPts val="500"/>
              </a:spcBef>
              <a:spcAft>
                <a:spcPts val="0"/>
              </a:spcAft>
              <a:buSzPts val="2200"/>
              <a:buChar char="•"/>
            </a:pPr>
            <a:r>
              <a:rPr lang="sv-SE"/>
              <a:t>Captures variance in performance.</a:t>
            </a:r>
            <a:endParaRPr/>
          </a:p>
          <a:p>
            <a:pPr indent="-393700" lvl="0" marL="457200" rtl="0" algn="l">
              <a:spcBef>
                <a:spcPts val="1000"/>
              </a:spcBef>
              <a:spcAft>
                <a:spcPts val="0"/>
              </a:spcAft>
              <a:buSzPts val="2600"/>
              <a:buChar char="•"/>
            </a:pPr>
            <a:r>
              <a:rPr lang="sv-SE"/>
              <a:t>Driving factor in software design. </a:t>
            </a:r>
            <a:endParaRPr/>
          </a:p>
          <a:p>
            <a:pPr indent="-368300" lvl="1" marL="914400" rtl="0" algn="l">
              <a:spcBef>
                <a:spcPts val="500"/>
              </a:spcBef>
              <a:spcAft>
                <a:spcPts val="0"/>
              </a:spcAft>
              <a:buSzPts val="2200"/>
              <a:buChar char="•"/>
            </a:pPr>
            <a:r>
              <a:rPr lang="sv-SE"/>
              <a:t>Often at expense of other quality attributes.</a:t>
            </a:r>
            <a:endParaRPr/>
          </a:p>
          <a:p>
            <a:pPr indent="-368300" lvl="1" marL="914400" rtl="0" algn="l">
              <a:spcBef>
                <a:spcPts val="500"/>
              </a:spcBef>
              <a:spcAft>
                <a:spcPts val="0"/>
              </a:spcAft>
              <a:buClr>
                <a:schemeClr val="accent3"/>
              </a:buClr>
              <a:buSzPts val="2200"/>
              <a:buChar char="•"/>
            </a:pPr>
            <a:r>
              <a:rPr b="1" lang="sv-SE">
                <a:solidFill>
                  <a:schemeClr val="accent3"/>
                </a:solidFill>
              </a:rPr>
              <a:t>All </a:t>
            </a:r>
            <a:r>
              <a:rPr b="1" lang="sv-SE">
                <a:solidFill>
                  <a:schemeClr val="accent3"/>
                </a:solidFill>
              </a:rPr>
              <a:t>systems have performance requirements.</a:t>
            </a:r>
            <a:endParaRPr b="1">
              <a:solidFill>
                <a:schemeClr val="accent3"/>
              </a:solidFill>
            </a:endParaRPr>
          </a:p>
        </p:txBody>
      </p:sp>
      <p:sp>
        <p:nvSpPr>
          <p:cNvPr id="406" name="Google Shape;406;p5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Scalability</a:t>
            </a:r>
            <a:endParaRPr/>
          </a:p>
        </p:txBody>
      </p:sp>
      <p:sp>
        <p:nvSpPr>
          <p:cNvPr id="412" name="Google Shape;412;p5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Clr>
                <a:schemeClr val="accent3"/>
              </a:buClr>
              <a:buSzPts val="2600"/>
              <a:buChar char="•"/>
            </a:pPr>
            <a:r>
              <a:rPr b="1" lang="sv-SE">
                <a:solidFill>
                  <a:schemeClr val="accent3"/>
                </a:solidFill>
              </a:rPr>
              <a:t>A</a:t>
            </a:r>
            <a:r>
              <a:rPr b="1" lang="sv-SE">
                <a:solidFill>
                  <a:schemeClr val="accent3"/>
                </a:solidFill>
              </a:rPr>
              <a:t>bility to maintain performance or reliability despite increasing number of requests.</a:t>
            </a:r>
            <a:endParaRPr b="1">
              <a:solidFill>
                <a:schemeClr val="accent3"/>
              </a:solidFill>
            </a:endParaRPr>
          </a:p>
          <a:p>
            <a:pPr indent="-368300" lvl="1" marL="914400" rtl="0" algn="l">
              <a:spcBef>
                <a:spcPts val="500"/>
              </a:spcBef>
              <a:spcAft>
                <a:spcPts val="0"/>
              </a:spcAft>
              <a:buSzPts val="2200"/>
              <a:buChar char="•"/>
            </a:pPr>
            <a:r>
              <a:rPr lang="sv-SE"/>
              <a:t>Horizontal scalability (“scaling out”)</a:t>
            </a:r>
            <a:endParaRPr/>
          </a:p>
          <a:p>
            <a:pPr indent="-342900" lvl="2" marL="1371600" rtl="0" algn="l">
              <a:spcBef>
                <a:spcPts val="500"/>
              </a:spcBef>
              <a:spcAft>
                <a:spcPts val="0"/>
              </a:spcAft>
              <a:buSzPts val="1800"/>
              <a:buChar char="•"/>
            </a:pPr>
            <a:r>
              <a:rPr lang="sv-SE"/>
              <a:t>Adding more resources to logical units.</a:t>
            </a:r>
            <a:endParaRPr/>
          </a:p>
          <a:p>
            <a:pPr indent="-330200" lvl="3" marL="1828800" rtl="0" algn="l">
              <a:spcBef>
                <a:spcPts val="500"/>
              </a:spcBef>
              <a:spcAft>
                <a:spcPts val="0"/>
              </a:spcAft>
              <a:buSzPts val="1600"/>
              <a:buChar char="•"/>
            </a:pPr>
            <a:r>
              <a:rPr lang="sv-SE"/>
              <a:t>Adding another server to a cluster.</a:t>
            </a:r>
            <a:endParaRPr/>
          </a:p>
          <a:p>
            <a:pPr indent="-368300" lvl="1" marL="914400" rtl="0" algn="l">
              <a:spcBef>
                <a:spcPts val="500"/>
              </a:spcBef>
              <a:spcAft>
                <a:spcPts val="0"/>
              </a:spcAft>
              <a:buSzPts val="2200"/>
              <a:buChar char="•"/>
            </a:pPr>
            <a:r>
              <a:rPr lang="sv-SE"/>
              <a:t>Vertical scalability (“scaling up”)</a:t>
            </a:r>
            <a:endParaRPr/>
          </a:p>
          <a:p>
            <a:pPr indent="-342900" lvl="2" marL="1371600" rtl="0" algn="l">
              <a:spcBef>
                <a:spcPts val="500"/>
              </a:spcBef>
              <a:spcAft>
                <a:spcPts val="0"/>
              </a:spcAft>
              <a:buSzPts val="1800"/>
              <a:buChar char="•"/>
            </a:pPr>
            <a:r>
              <a:rPr lang="sv-SE"/>
              <a:t>Adding more resources to a physical unit.</a:t>
            </a:r>
            <a:endParaRPr/>
          </a:p>
          <a:p>
            <a:pPr indent="-330200" lvl="3" marL="1828800" rtl="0" algn="l">
              <a:spcBef>
                <a:spcPts val="500"/>
              </a:spcBef>
              <a:spcAft>
                <a:spcPts val="0"/>
              </a:spcAft>
              <a:buSzPts val="1600"/>
              <a:buChar char="•"/>
            </a:pPr>
            <a:r>
              <a:rPr lang="sv-SE"/>
              <a:t>Adding memory to a single computer.</a:t>
            </a:r>
            <a:endParaRPr/>
          </a:p>
        </p:txBody>
      </p:sp>
      <p:sp>
        <p:nvSpPr>
          <p:cNvPr id="413" name="Google Shape;413;p5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Scalability</a:t>
            </a:r>
            <a:endParaRPr/>
          </a:p>
        </p:txBody>
      </p:sp>
      <p:sp>
        <p:nvSpPr>
          <p:cNvPr id="419" name="Google Shape;419;p56"/>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How can we effectively utilize additional resources?</a:t>
            </a:r>
            <a:endParaRPr/>
          </a:p>
          <a:p>
            <a:pPr indent="-393700" lvl="0" marL="457200" rtl="0" algn="l">
              <a:spcBef>
                <a:spcPts val="1000"/>
              </a:spcBef>
              <a:spcAft>
                <a:spcPts val="0"/>
              </a:spcAft>
              <a:buSzPts val="2600"/>
              <a:buChar char="•"/>
            </a:pPr>
            <a:r>
              <a:rPr lang="sv-SE"/>
              <a:t>Requires that additional resources:</a:t>
            </a:r>
            <a:endParaRPr/>
          </a:p>
          <a:p>
            <a:pPr indent="-368300" lvl="1" marL="914400" rtl="0" algn="l">
              <a:spcBef>
                <a:spcPts val="500"/>
              </a:spcBef>
              <a:spcAft>
                <a:spcPts val="0"/>
              </a:spcAft>
              <a:buSzPts val="2200"/>
              <a:buChar char="•"/>
            </a:pPr>
            <a:r>
              <a:rPr lang="sv-SE"/>
              <a:t>Result in performance improvement.</a:t>
            </a:r>
            <a:endParaRPr/>
          </a:p>
          <a:p>
            <a:pPr indent="-368300" lvl="1" marL="914400" rtl="0" algn="l">
              <a:spcBef>
                <a:spcPts val="500"/>
              </a:spcBef>
              <a:spcAft>
                <a:spcPts val="0"/>
              </a:spcAft>
              <a:buSzPts val="2200"/>
              <a:buChar char="•"/>
            </a:pPr>
            <a:r>
              <a:rPr lang="sv-SE"/>
              <a:t>Did not require undue effort to add.</a:t>
            </a:r>
            <a:endParaRPr/>
          </a:p>
          <a:p>
            <a:pPr indent="-368300" lvl="1" marL="914400" rtl="0" algn="l">
              <a:spcBef>
                <a:spcPts val="500"/>
              </a:spcBef>
              <a:spcAft>
                <a:spcPts val="0"/>
              </a:spcAft>
              <a:buSzPts val="2200"/>
              <a:buChar char="•"/>
            </a:pPr>
            <a:r>
              <a:rPr lang="sv-SE"/>
              <a:t>Did not lower reliability.</a:t>
            </a:r>
            <a:endParaRPr/>
          </a:p>
          <a:p>
            <a:pPr indent="-393700" lvl="0" marL="457200" rtl="0" algn="l">
              <a:spcBef>
                <a:spcPts val="1000"/>
              </a:spcBef>
              <a:spcAft>
                <a:spcPts val="0"/>
              </a:spcAft>
              <a:buSzPts val="2600"/>
              <a:buChar char="•"/>
            </a:pPr>
            <a:r>
              <a:rPr lang="sv-SE"/>
              <a:t>The system must be designed to scale </a:t>
            </a:r>
            <a:endParaRPr/>
          </a:p>
          <a:p>
            <a:pPr indent="-368300" lvl="1" marL="914400" rtl="0" algn="l">
              <a:spcBef>
                <a:spcPts val="500"/>
              </a:spcBef>
              <a:spcAft>
                <a:spcPts val="0"/>
              </a:spcAft>
              <a:buSzPts val="2200"/>
              <a:buChar char="•"/>
            </a:pPr>
            <a:r>
              <a:rPr lang="sv-SE"/>
              <a:t>(i.e., designed for concurrency).</a:t>
            </a:r>
            <a:endParaRPr/>
          </a:p>
        </p:txBody>
      </p:sp>
      <p:sp>
        <p:nvSpPr>
          <p:cNvPr id="420" name="Google Shape;420;p5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427" name="Google Shape;427;p57"/>
          <p:cNvSpPr txBox="1"/>
          <p:nvPr>
            <p:ph type="title"/>
          </p:nvPr>
        </p:nvSpPr>
        <p:spPr>
          <a:xfrm>
            <a:off x="468900" y="613975"/>
            <a:ext cx="8217900" cy="4193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sv-SE" sz="3300"/>
              <a:t>Measuring Performance and Scalability</a:t>
            </a:r>
            <a:endParaRPr sz="33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5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Performance Measurements</a:t>
            </a:r>
            <a:endParaRPr/>
          </a:p>
        </p:txBody>
      </p:sp>
      <p:sp>
        <p:nvSpPr>
          <p:cNvPr id="433" name="Google Shape;433;p58"/>
          <p:cNvSpPr txBox="1"/>
          <p:nvPr>
            <p:ph idx="1" type="body"/>
          </p:nvPr>
        </p:nvSpPr>
        <p:spPr>
          <a:xfrm>
            <a:off x="468900" y="1224650"/>
            <a:ext cx="8217900" cy="3537900"/>
          </a:xfrm>
          <a:prstGeom prst="rect">
            <a:avLst/>
          </a:prstGeom>
        </p:spPr>
        <p:txBody>
          <a:bodyPr anchorCtr="0" anchor="t" bIns="45700" lIns="91425" spcFirstLastPara="1" rIns="91425" wrap="square" tIns="45700">
            <a:noAutofit/>
          </a:bodyPr>
          <a:lstStyle/>
          <a:p>
            <a:pPr indent="-374650" lvl="0" marL="457200" rtl="0" algn="l">
              <a:spcBef>
                <a:spcPts val="1000"/>
              </a:spcBef>
              <a:spcAft>
                <a:spcPts val="0"/>
              </a:spcAft>
              <a:buSzPts val="2300"/>
              <a:buChar char="•"/>
            </a:pPr>
            <a:r>
              <a:rPr b="1" lang="sv-SE" sz="2300">
                <a:solidFill>
                  <a:schemeClr val="accent3"/>
                </a:solidFill>
              </a:rPr>
              <a:t>Latency</a:t>
            </a:r>
            <a:r>
              <a:rPr b="1" lang="sv-SE" sz="2300"/>
              <a:t>: </a:t>
            </a:r>
            <a:r>
              <a:rPr lang="sv-SE" sz="2300"/>
              <a:t>The time between the arrival of the stimulus and the system’s response to it.</a:t>
            </a:r>
            <a:endParaRPr sz="2300"/>
          </a:p>
          <a:p>
            <a:pPr indent="-374650" lvl="0" marL="457200" rtl="0" algn="l">
              <a:spcBef>
                <a:spcPts val="1000"/>
              </a:spcBef>
              <a:spcAft>
                <a:spcPts val="0"/>
              </a:spcAft>
              <a:buSzPts val="2300"/>
              <a:buChar char="•"/>
            </a:pPr>
            <a:r>
              <a:rPr b="1" lang="sv-SE" sz="2300">
                <a:solidFill>
                  <a:schemeClr val="accent3"/>
                </a:solidFill>
              </a:rPr>
              <a:t>Response Jitter</a:t>
            </a:r>
            <a:r>
              <a:rPr b="1" lang="sv-SE" sz="2300"/>
              <a:t>: </a:t>
            </a:r>
            <a:r>
              <a:rPr lang="sv-SE" sz="2300"/>
              <a:t>The allowable variation in latency.</a:t>
            </a:r>
            <a:endParaRPr sz="2300"/>
          </a:p>
          <a:p>
            <a:pPr indent="-374650" lvl="0" marL="457200" rtl="0" algn="l">
              <a:spcBef>
                <a:spcPts val="1000"/>
              </a:spcBef>
              <a:spcAft>
                <a:spcPts val="0"/>
              </a:spcAft>
              <a:buSzPts val="2300"/>
              <a:buChar char="•"/>
            </a:pPr>
            <a:r>
              <a:rPr b="1" lang="sv-SE" sz="2300">
                <a:solidFill>
                  <a:schemeClr val="accent3"/>
                </a:solidFill>
              </a:rPr>
              <a:t>Throughput</a:t>
            </a:r>
            <a:r>
              <a:rPr b="1" lang="sv-SE" sz="2300"/>
              <a:t>:</a:t>
            </a:r>
            <a:r>
              <a:rPr lang="sv-SE" sz="2300"/>
              <a:t> Usually number of transactions the system can process in a unit of time.</a:t>
            </a:r>
            <a:endParaRPr sz="2300"/>
          </a:p>
          <a:p>
            <a:pPr indent="-374650" lvl="0" marL="457200" rtl="0" algn="l">
              <a:spcBef>
                <a:spcPts val="1000"/>
              </a:spcBef>
              <a:spcAft>
                <a:spcPts val="0"/>
              </a:spcAft>
              <a:buSzPts val="2300"/>
              <a:buChar char="•"/>
            </a:pPr>
            <a:r>
              <a:rPr b="1" lang="sv-SE" sz="2300">
                <a:solidFill>
                  <a:schemeClr val="accent3"/>
                </a:solidFill>
              </a:rPr>
              <a:t>Processing </a:t>
            </a:r>
            <a:r>
              <a:rPr b="1" lang="sv-SE" sz="2300">
                <a:solidFill>
                  <a:schemeClr val="accent3"/>
                </a:solidFill>
              </a:rPr>
              <a:t>Deadlines</a:t>
            </a:r>
            <a:r>
              <a:rPr b="1" lang="sv-SE" sz="2300"/>
              <a:t>:</a:t>
            </a:r>
            <a:r>
              <a:rPr lang="sv-SE" sz="2300"/>
              <a:t> Points where processing must have reached a particular stage.</a:t>
            </a:r>
            <a:endParaRPr sz="2300"/>
          </a:p>
          <a:p>
            <a:pPr indent="-374650" lvl="0" marL="457200" rtl="0" algn="l">
              <a:spcBef>
                <a:spcPts val="1000"/>
              </a:spcBef>
              <a:spcAft>
                <a:spcPts val="0"/>
              </a:spcAft>
              <a:buSzPts val="2300"/>
              <a:buChar char="•"/>
            </a:pPr>
            <a:r>
              <a:rPr b="1" lang="sv-SE" sz="2300">
                <a:solidFill>
                  <a:schemeClr val="accent3"/>
                </a:solidFill>
              </a:rPr>
              <a:t>Number of events not processed</a:t>
            </a:r>
            <a:r>
              <a:rPr lang="sv-SE" sz="2300"/>
              <a:t> because the system was too busy to respond.</a:t>
            </a:r>
            <a:endParaRPr sz="2300"/>
          </a:p>
        </p:txBody>
      </p:sp>
      <p:sp>
        <p:nvSpPr>
          <p:cNvPr id="434" name="Google Shape;434;p5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5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Measurements - Latency</a:t>
            </a:r>
            <a:endParaRPr/>
          </a:p>
        </p:txBody>
      </p:sp>
      <p:sp>
        <p:nvSpPr>
          <p:cNvPr id="440" name="Google Shape;440;p59"/>
          <p:cNvSpPr txBox="1"/>
          <p:nvPr>
            <p:ph idx="1" type="body"/>
          </p:nvPr>
        </p:nvSpPr>
        <p:spPr>
          <a:xfrm>
            <a:off x="468900" y="1205300"/>
            <a:ext cx="8217900" cy="35574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Time it takes to complete an interaction.</a:t>
            </a:r>
            <a:endParaRPr/>
          </a:p>
          <a:p>
            <a:pPr indent="-368300" lvl="1" marL="914400" rtl="0" algn="l">
              <a:spcBef>
                <a:spcPts val="500"/>
              </a:spcBef>
              <a:spcAft>
                <a:spcPts val="0"/>
              </a:spcAft>
              <a:buSzPts val="2200"/>
              <a:buChar char="•"/>
            </a:pPr>
            <a:r>
              <a:rPr lang="sv-SE"/>
              <a:t>Affected by the </a:t>
            </a:r>
            <a:r>
              <a:rPr b="1" lang="sv-SE">
                <a:solidFill>
                  <a:schemeClr val="accent3"/>
                </a:solidFill>
              </a:rPr>
              <a:t>the system</a:t>
            </a:r>
            <a:r>
              <a:rPr lang="sv-SE"/>
              <a:t> and its </a:t>
            </a:r>
            <a:r>
              <a:rPr b="1" lang="sv-SE">
                <a:solidFill>
                  <a:schemeClr val="accent3"/>
                </a:solidFill>
              </a:rPr>
              <a:t>environment</a:t>
            </a:r>
            <a:r>
              <a:rPr lang="sv-SE"/>
              <a:t>. </a:t>
            </a:r>
            <a:endParaRPr/>
          </a:p>
          <a:p>
            <a:pPr indent="-342900" lvl="2" marL="1371600" rtl="0" algn="l">
              <a:spcBef>
                <a:spcPts val="500"/>
              </a:spcBef>
              <a:spcAft>
                <a:spcPts val="0"/>
              </a:spcAft>
              <a:buSzPts val="1800"/>
              <a:buChar char="•"/>
            </a:pPr>
            <a:r>
              <a:rPr lang="sv-SE"/>
              <a:t>The user’s hardware, the network, system’s hardware. </a:t>
            </a:r>
            <a:endParaRPr/>
          </a:p>
          <a:p>
            <a:pPr indent="-368300" lvl="1" marL="914400" rtl="0" algn="l">
              <a:spcBef>
                <a:spcPts val="500"/>
              </a:spcBef>
              <a:spcAft>
                <a:spcPts val="0"/>
              </a:spcAft>
              <a:buSzPts val="2200"/>
              <a:buChar char="•"/>
            </a:pPr>
            <a:r>
              <a:rPr lang="sv-SE"/>
              <a:t>Measured probabilistically (“... 95% of the time”) </a:t>
            </a:r>
            <a:endParaRPr/>
          </a:p>
          <a:p>
            <a:pPr indent="-342900" lvl="2" marL="1371600" rtl="0" algn="l">
              <a:spcBef>
                <a:spcPts val="500"/>
              </a:spcBef>
              <a:spcAft>
                <a:spcPts val="0"/>
              </a:spcAft>
              <a:buSzPts val="1800"/>
              <a:buChar char="•"/>
            </a:pPr>
            <a:r>
              <a:rPr lang="sv-SE"/>
              <a:t>“Under load of 350 updates per minute, 90% of ‘open account’ requests should complete within 10 seconds. 99% should complete within 12 seconds”</a:t>
            </a:r>
            <a:endParaRPr u="sng"/>
          </a:p>
        </p:txBody>
      </p:sp>
      <p:sp>
        <p:nvSpPr>
          <p:cNvPr id="441" name="Google Shape;441;p5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60"/>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48" name="Google Shape;448;p60"/>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Measurements - Response Jitter</a:t>
            </a:r>
            <a:endParaRPr/>
          </a:p>
        </p:txBody>
      </p:sp>
      <p:sp>
        <p:nvSpPr>
          <p:cNvPr id="449" name="Google Shape;449;p60"/>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Response time is non-deterministic.</a:t>
            </a:r>
            <a:endParaRPr/>
          </a:p>
          <a:p>
            <a:pPr indent="-368300" lvl="1" marL="914400" rtl="0" algn="l">
              <a:spcBef>
                <a:spcPts val="500"/>
              </a:spcBef>
              <a:spcAft>
                <a:spcPts val="0"/>
              </a:spcAft>
              <a:buSzPts val="2200"/>
              <a:buChar char="•"/>
            </a:pPr>
            <a:r>
              <a:rPr lang="sv-SE"/>
              <a:t>If controlled, this is OK.</a:t>
            </a:r>
            <a:endParaRPr/>
          </a:p>
          <a:p>
            <a:pPr indent="-342900" lvl="2" marL="1371600" rtl="0" algn="l">
              <a:spcBef>
                <a:spcPts val="500"/>
              </a:spcBef>
              <a:spcAft>
                <a:spcPts val="0"/>
              </a:spcAft>
              <a:buSzPts val="1800"/>
              <a:buChar char="•"/>
            </a:pPr>
            <a:r>
              <a:rPr lang="sv-SE"/>
              <a:t>10s +- 1s, great! </a:t>
            </a:r>
            <a:endParaRPr/>
          </a:p>
          <a:p>
            <a:pPr indent="-342900" lvl="2" marL="1371600" rtl="0" algn="l">
              <a:spcBef>
                <a:spcPts val="500"/>
              </a:spcBef>
              <a:spcAft>
                <a:spcPts val="0"/>
              </a:spcAft>
              <a:buSzPts val="1800"/>
              <a:buChar char="•"/>
            </a:pPr>
            <a:r>
              <a:rPr lang="sv-SE"/>
              <a:t>10s +- 10 minutes, bad!</a:t>
            </a:r>
            <a:endParaRPr/>
          </a:p>
          <a:p>
            <a:pPr indent="-393700" lvl="0" marL="457200" rtl="0" algn="l">
              <a:spcBef>
                <a:spcPts val="1000"/>
              </a:spcBef>
              <a:spcAft>
                <a:spcPts val="0"/>
              </a:spcAft>
              <a:buSzPts val="2600"/>
              <a:buChar char="•"/>
            </a:pPr>
            <a:r>
              <a:rPr lang="sv-SE"/>
              <a:t>Jitter defines </a:t>
            </a:r>
            <a:r>
              <a:rPr b="1" lang="sv-SE">
                <a:solidFill>
                  <a:schemeClr val="accent3"/>
                </a:solidFill>
              </a:rPr>
              <a:t>how much variation</a:t>
            </a:r>
            <a:r>
              <a:rPr lang="sv-SE"/>
              <a:t> is allowed.</a:t>
            </a:r>
            <a:endParaRPr/>
          </a:p>
          <a:p>
            <a:pPr indent="-368300" lvl="1" marL="914400" rtl="0" algn="l">
              <a:spcBef>
                <a:spcPts val="500"/>
              </a:spcBef>
              <a:spcAft>
                <a:spcPts val="0"/>
              </a:spcAft>
              <a:buSzPts val="2200"/>
              <a:buChar char="•"/>
            </a:pPr>
            <a:r>
              <a:rPr lang="sv-SE"/>
              <a:t>Ex: “All writes to the database must be completed within an interval of 120 to 150 ms.”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1"/>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Measurements - Throughput</a:t>
            </a:r>
            <a:endParaRPr/>
          </a:p>
        </p:txBody>
      </p:sp>
      <p:sp>
        <p:nvSpPr>
          <p:cNvPr id="455" name="Google Shape;455;p61"/>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The workload a system can handle in a time period.</a:t>
            </a:r>
            <a:endParaRPr/>
          </a:p>
          <a:p>
            <a:pPr indent="-368300" lvl="1" marL="914400" rtl="0" algn="l">
              <a:spcBef>
                <a:spcPts val="500"/>
              </a:spcBef>
              <a:spcAft>
                <a:spcPts val="0"/>
              </a:spcAft>
              <a:buSzPts val="2200"/>
              <a:buChar char="•"/>
            </a:pPr>
            <a:r>
              <a:rPr lang="sv-SE"/>
              <a:t>Measures </a:t>
            </a:r>
            <a:r>
              <a:rPr b="1" lang="sv-SE">
                <a:solidFill>
                  <a:schemeClr val="accent3"/>
                </a:solidFill>
              </a:rPr>
              <a:t>performance across all users</a:t>
            </a:r>
            <a:r>
              <a:rPr lang="sv-SE"/>
              <a:t>.</a:t>
            </a:r>
            <a:endParaRPr/>
          </a:p>
          <a:p>
            <a:pPr indent="-368300" lvl="1" marL="914400" rtl="0" algn="l">
              <a:spcBef>
                <a:spcPts val="500"/>
              </a:spcBef>
              <a:spcAft>
                <a:spcPts val="0"/>
              </a:spcAft>
              <a:buSzPts val="2200"/>
              <a:buChar char="•"/>
            </a:pPr>
            <a:r>
              <a:rPr lang="sv-SE"/>
              <a:t>Shorter the processing time, higher the throughput.</a:t>
            </a:r>
            <a:endParaRPr/>
          </a:p>
          <a:p>
            <a:pPr indent="-368300" lvl="1" marL="914400" rtl="0" algn="l">
              <a:spcBef>
                <a:spcPts val="500"/>
              </a:spcBef>
              <a:spcAft>
                <a:spcPts val="0"/>
              </a:spcAft>
              <a:buSzPts val="2200"/>
              <a:buChar char="•"/>
            </a:pPr>
            <a:r>
              <a:rPr lang="sv-SE"/>
              <a:t>As load increases (and throughput rises), response time for individual transactions tends to increase.</a:t>
            </a:r>
            <a:endParaRPr/>
          </a:p>
          <a:p>
            <a:pPr indent="-342900" lvl="2" marL="1371600" rtl="0" algn="l">
              <a:spcBef>
                <a:spcPts val="500"/>
              </a:spcBef>
              <a:spcAft>
                <a:spcPts val="0"/>
              </a:spcAft>
              <a:buSzPts val="1800"/>
              <a:buChar char="•"/>
            </a:pPr>
            <a:r>
              <a:rPr lang="sv-SE"/>
              <a:t>With 10 concurrent users, request takes 2s.</a:t>
            </a:r>
            <a:endParaRPr/>
          </a:p>
          <a:p>
            <a:pPr indent="-342900" lvl="2" marL="1371600" rtl="0" algn="l">
              <a:spcBef>
                <a:spcPts val="500"/>
              </a:spcBef>
              <a:spcAft>
                <a:spcPts val="0"/>
              </a:spcAft>
              <a:buSzPts val="1800"/>
              <a:buChar char="•"/>
            </a:pPr>
            <a:r>
              <a:rPr lang="sv-SE"/>
              <a:t>With 100 users, request takes 4s.</a:t>
            </a:r>
            <a:endParaRPr/>
          </a:p>
        </p:txBody>
      </p:sp>
      <p:sp>
        <p:nvSpPr>
          <p:cNvPr id="456" name="Google Shape;456;p61"/>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2"/>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Measurements - Throughput</a:t>
            </a:r>
            <a:endParaRPr/>
          </a:p>
        </p:txBody>
      </p:sp>
      <p:sp>
        <p:nvSpPr>
          <p:cNvPr id="462" name="Google Shape;462;p62"/>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a:t>
            </a:r>
            <a:r>
              <a:rPr lang="sv-SE"/>
              <a:t>hroughput goals can conflict with latency goals.</a:t>
            </a:r>
            <a:endParaRPr/>
          </a:p>
          <a:p>
            <a:pPr indent="-368300" lvl="1" marL="914400" rtl="0" algn="l">
              <a:spcBef>
                <a:spcPts val="500"/>
              </a:spcBef>
              <a:spcAft>
                <a:spcPts val="0"/>
              </a:spcAft>
              <a:buSzPts val="2200"/>
              <a:buChar char="•"/>
            </a:pPr>
            <a:r>
              <a:rPr lang="sv-SE"/>
              <a:t>For example: </a:t>
            </a:r>
            <a:endParaRPr/>
          </a:p>
          <a:p>
            <a:pPr indent="-342900" lvl="2" marL="1371600" rtl="0" algn="l">
              <a:spcBef>
                <a:spcPts val="500"/>
              </a:spcBef>
              <a:spcAft>
                <a:spcPts val="0"/>
              </a:spcAft>
              <a:buSzPts val="1800"/>
              <a:buChar char="•"/>
            </a:pPr>
            <a:r>
              <a:rPr lang="sv-SE"/>
              <a:t>When there are 10 users, each user can perform 20 requests per minute (throughput: 200/m).</a:t>
            </a:r>
            <a:endParaRPr/>
          </a:p>
          <a:p>
            <a:pPr indent="-342900" lvl="2" marL="1371600" rtl="0" algn="l">
              <a:spcBef>
                <a:spcPts val="500"/>
              </a:spcBef>
              <a:spcAft>
                <a:spcPts val="0"/>
              </a:spcAft>
              <a:buSzPts val="1800"/>
              <a:buChar char="•"/>
            </a:pPr>
            <a:r>
              <a:rPr lang="sv-SE"/>
              <a:t>When there are 100 users, each can perform 12 per minute </a:t>
            </a:r>
            <a:br>
              <a:rPr lang="sv-SE"/>
            </a:br>
            <a:r>
              <a:rPr lang="sv-SE"/>
              <a:t>(throughput is 1200/m but at a cost for individual user). </a:t>
            </a:r>
            <a:endParaRPr/>
          </a:p>
          <a:p>
            <a:pPr indent="-330200" lvl="3" marL="1828800" rtl="0" algn="l">
              <a:spcBef>
                <a:spcPts val="500"/>
              </a:spcBef>
              <a:spcAft>
                <a:spcPts val="0"/>
              </a:spcAft>
              <a:buSzPts val="1600"/>
              <a:buChar char="•"/>
            </a:pPr>
            <a:r>
              <a:rPr lang="sv-SE"/>
              <a:t>i.e., performance is worse with more concurrent users.</a:t>
            </a:r>
            <a:endParaRPr/>
          </a:p>
        </p:txBody>
      </p:sp>
      <p:sp>
        <p:nvSpPr>
          <p:cNvPr id="463" name="Google Shape;463;p62"/>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3"/>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70" name="Google Shape;470;p63"/>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Measurements - Event Deadlines</a:t>
            </a:r>
            <a:endParaRPr/>
          </a:p>
        </p:txBody>
      </p:sp>
      <p:sp>
        <p:nvSpPr>
          <p:cNvPr id="471" name="Google Shape;471;p63"/>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Some tasks must take place as scheduled. </a:t>
            </a:r>
            <a:endParaRPr/>
          </a:p>
          <a:p>
            <a:pPr indent="-393700" lvl="0" marL="457200" rtl="0" algn="l">
              <a:spcBef>
                <a:spcPts val="1000"/>
              </a:spcBef>
              <a:spcAft>
                <a:spcPts val="0"/>
              </a:spcAft>
              <a:buSzPts val="2600"/>
              <a:buChar char="•"/>
            </a:pPr>
            <a:r>
              <a:rPr lang="sv-SE"/>
              <a:t>If times are missed, the system will fail.</a:t>
            </a:r>
            <a:endParaRPr/>
          </a:p>
          <a:p>
            <a:pPr indent="-393700" lvl="0" marL="457200" rtl="0" algn="l">
              <a:spcBef>
                <a:spcPts val="1000"/>
              </a:spcBef>
              <a:spcAft>
                <a:spcPts val="0"/>
              </a:spcAft>
              <a:buClr>
                <a:schemeClr val="accent3"/>
              </a:buClr>
              <a:buSzPts val="2600"/>
              <a:buChar char="•"/>
            </a:pPr>
            <a:r>
              <a:rPr b="1" lang="sv-SE">
                <a:solidFill>
                  <a:schemeClr val="accent3"/>
                </a:solidFill>
              </a:rPr>
              <a:t>Can place deadlines on event completion.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4"/>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sv-SE"/>
              <a:t>‹#›</a:t>
            </a:fld>
            <a:endParaRPr/>
          </a:p>
        </p:txBody>
      </p:sp>
      <p:sp>
        <p:nvSpPr>
          <p:cNvPr id="478" name="Google Shape;478;p64"/>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100"/>
              <a:t>Which response measure should we use?</a:t>
            </a:r>
            <a:endParaRPr sz="3100"/>
          </a:p>
        </p:txBody>
      </p:sp>
      <p:sp>
        <p:nvSpPr>
          <p:cNvPr id="479" name="Google Shape;479;p64"/>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We want every user’s transaction on the shop to complete quickly.</a:t>
            </a:r>
            <a:endParaRPr/>
          </a:p>
          <a:p>
            <a:pPr indent="-368300" lvl="1" marL="914400" rtl="0" algn="l">
              <a:spcBef>
                <a:spcPts val="500"/>
              </a:spcBef>
              <a:spcAft>
                <a:spcPts val="0"/>
              </a:spcAft>
              <a:buClr>
                <a:schemeClr val="accent3"/>
              </a:buClr>
              <a:buSzPts val="2200"/>
              <a:buChar char="•"/>
            </a:pPr>
            <a:r>
              <a:rPr b="1" lang="sv-SE">
                <a:solidFill>
                  <a:schemeClr val="accent3"/>
                </a:solidFill>
              </a:rPr>
              <a:t>Latency</a:t>
            </a:r>
            <a:endParaRPr b="1">
              <a:solidFill>
                <a:schemeClr val="accent3"/>
              </a:solidFill>
            </a:endParaRPr>
          </a:p>
          <a:p>
            <a:pPr indent="-393700" lvl="0" marL="457200" rtl="0" algn="l">
              <a:spcBef>
                <a:spcPts val="1000"/>
              </a:spcBef>
              <a:spcAft>
                <a:spcPts val="0"/>
              </a:spcAft>
              <a:buSzPts val="2600"/>
              <a:buChar char="•"/>
            </a:pPr>
            <a:r>
              <a:rPr lang="sv-SE"/>
              <a:t>Can our shop handle Black Friday traffic?</a:t>
            </a:r>
            <a:endParaRPr/>
          </a:p>
          <a:p>
            <a:pPr indent="-368300" lvl="1" marL="914400" rtl="0" algn="l">
              <a:spcBef>
                <a:spcPts val="500"/>
              </a:spcBef>
              <a:spcAft>
                <a:spcPts val="0"/>
              </a:spcAft>
              <a:buSzPts val="2200"/>
              <a:buChar char="•"/>
            </a:pPr>
            <a:r>
              <a:rPr b="1" lang="sv-SE">
                <a:solidFill>
                  <a:schemeClr val="accent3"/>
                </a:solidFill>
              </a:rPr>
              <a:t>Throughput</a:t>
            </a:r>
            <a:r>
              <a:rPr lang="sv-SE"/>
              <a:t> - make sure all requests are handled in a short period of time.</a:t>
            </a:r>
            <a:endParaRPr/>
          </a:p>
          <a:p>
            <a:pPr indent="-368300" lvl="1" marL="914400" rtl="0" algn="l">
              <a:spcBef>
                <a:spcPts val="500"/>
              </a:spcBef>
              <a:spcAft>
                <a:spcPts val="0"/>
              </a:spcAft>
              <a:buSzPts val="2200"/>
              <a:buChar char="•"/>
            </a:pPr>
            <a:r>
              <a:rPr lang="sv-SE"/>
              <a:t>May prioritize completing the batch over individual users in this situation.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5"/>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486" name="Google Shape;486;p65"/>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sz="3100"/>
              <a:t>Which response measure should we use?</a:t>
            </a:r>
            <a:endParaRPr sz="3100"/>
          </a:p>
        </p:txBody>
      </p:sp>
      <p:sp>
        <p:nvSpPr>
          <p:cNvPr id="487" name="Google Shape;487;p65"/>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The user must sign with BankID and confirmation must be returned within 60 seconds</a:t>
            </a:r>
            <a:r>
              <a:rPr lang="sv-SE"/>
              <a:t>. </a:t>
            </a:r>
            <a:endParaRPr/>
          </a:p>
          <a:p>
            <a:pPr indent="-368300" lvl="1" marL="914400" rtl="0" algn="l">
              <a:spcBef>
                <a:spcPts val="500"/>
              </a:spcBef>
              <a:spcAft>
                <a:spcPts val="0"/>
              </a:spcAft>
              <a:buSzPts val="2200"/>
              <a:buChar char="•"/>
            </a:pPr>
            <a:r>
              <a:rPr b="1" lang="sv-SE">
                <a:solidFill>
                  <a:schemeClr val="accent3"/>
                </a:solidFill>
              </a:rPr>
              <a:t>Deadline</a:t>
            </a:r>
            <a:r>
              <a:rPr lang="sv-SE"/>
              <a:t> - there is an absolute deadline for BankID processing to complete.</a:t>
            </a:r>
            <a:endParaRPr/>
          </a:p>
          <a:p>
            <a:pPr indent="-393700" lvl="0" marL="457200" rtl="0" algn="l">
              <a:spcBef>
                <a:spcPts val="1000"/>
              </a:spcBef>
              <a:spcAft>
                <a:spcPts val="0"/>
              </a:spcAft>
              <a:buSzPts val="2600"/>
              <a:buChar char="•"/>
            </a:pPr>
            <a:r>
              <a:rPr lang="sv-SE"/>
              <a:t>E</a:t>
            </a:r>
            <a:r>
              <a:rPr lang="sv-SE"/>
              <a:t>nsure that inventory database updates are properly synchronized.</a:t>
            </a:r>
            <a:endParaRPr/>
          </a:p>
          <a:p>
            <a:pPr indent="-368300" lvl="1" marL="914400" rtl="0" algn="l">
              <a:spcBef>
                <a:spcPts val="500"/>
              </a:spcBef>
              <a:spcAft>
                <a:spcPts val="0"/>
              </a:spcAft>
              <a:buClr>
                <a:schemeClr val="accent3"/>
              </a:buClr>
              <a:buSzPts val="2200"/>
              <a:buChar char="•"/>
            </a:pPr>
            <a:r>
              <a:rPr b="1" lang="sv-SE">
                <a:solidFill>
                  <a:schemeClr val="accent3"/>
                </a:solidFill>
              </a:rPr>
              <a:t>Jitter </a:t>
            </a:r>
            <a:r>
              <a:rPr lang="sv-SE"/>
              <a:t>- Imposes minimum and maximum timeframe on updates.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66"/>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Assessing Scalability</a:t>
            </a:r>
            <a:endParaRPr/>
          </a:p>
        </p:txBody>
      </p:sp>
      <p:sp>
        <p:nvSpPr>
          <p:cNvPr id="493" name="Google Shape;493;p66"/>
          <p:cNvSpPr txBox="1"/>
          <p:nvPr>
            <p:ph idx="1" type="body"/>
          </p:nvPr>
        </p:nvSpPr>
        <p:spPr>
          <a:xfrm>
            <a:off x="468900" y="1211025"/>
            <a:ext cx="8217900" cy="35517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Scalability measures impact of adding or removing resources on </a:t>
            </a:r>
            <a:r>
              <a:rPr b="1" lang="sv-SE">
                <a:solidFill>
                  <a:schemeClr val="accent3"/>
                </a:solidFill>
              </a:rPr>
              <a:t>performance </a:t>
            </a:r>
            <a:r>
              <a:rPr lang="sv-SE"/>
              <a:t>or </a:t>
            </a:r>
            <a:r>
              <a:rPr b="1" lang="sv-SE">
                <a:solidFill>
                  <a:schemeClr val="accent3"/>
                </a:solidFill>
              </a:rPr>
              <a:t>reliability</a:t>
            </a:r>
            <a:r>
              <a:rPr lang="sv-SE"/>
              <a:t>.</a:t>
            </a:r>
            <a:endParaRPr/>
          </a:p>
          <a:p>
            <a:pPr indent="-393700" lvl="0" marL="457200" rtl="0" algn="l">
              <a:spcBef>
                <a:spcPts val="1000"/>
              </a:spcBef>
              <a:spcAft>
                <a:spcPts val="0"/>
              </a:spcAft>
              <a:buSzPts val="2600"/>
              <a:buChar char="•"/>
            </a:pPr>
            <a:r>
              <a:rPr lang="sv-SE"/>
              <a:t>Response measures reflect:</a:t>
            </a:r>
            <a:endParaRPr/>
          </a:p>
          <a:p>
            <a:pPr indent="-368300" lvl="1" marL="914400" rtl="0" algn="l">
              <a:spcBef>
                <a:spcPts val="500"/>
              </a:spcBef>
              <a:spcAft>
                <a:spcPts val="0"/>
              </a:spcAft>
              <a:buSzPts val="2200"/>
              <a:buChar char="•"/>
            </a:pPr>
            <a:r>
              <a:rPr lang="sv-SE"/>
              <a:t>Changes to performance.</a:t>
            </a:r>
            <a:endParaRPr/>
          </a:p>
          <a:p>
            <a:pPr indent="-368300" lvl="1" marL="914400" rtl="0" algn="l">
              <a:spcBef>
                <a:spcPts val="500"/>
              </a:spcBef>
              <a:spcAft>
                <a:spcPts val="0"/>
              </a:spcAft>
              <a:buSzPts val="2200"/>
              <a:buChar char="•"/>
            </a:pPr>
            <a:r>
              <a:rPr lang="sv-SE"/>
              <a:t>Changes to </a:t>
            </a:r>
            <a:r>
              <a:rPr lang="sv-SE"/>
              <a:t>reliability</a:t>
            </a:r>
            <a:r>
              <a:rPr lang="sv-SE"/>
              <a:t> or availability.</a:t>
            </a:r>
            <a:endParaRPr/>
          </a:p>
          <a:p>
            <a:pPr indent="-368300" lvl="1" marL="914400" rtl="0" algn="l">
              <a:spcBef>
                <a:spcPts val="500"/>
              </a:spcBef>
              <a:spcAft>
                <a:spcPts val="0"/>
              </a:spcAft>
              <a:buSzPts val="2200"/>
              <a:buChar char="•"/>
            </a:pPr>
            <a:r>
              <a:rPr lang="sv-SE"/>
              <a:t>Load assigned to existing and new resources.</a:t>
            </a:r>
            <a:endParaRPr/>
          </a:p>
        </p:txBody>
      </p:sp>
      <p:sp>
        <p:nvSpPr>
          <p:cNvPr id="494" name="Google Shape;494;p66"/>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7"/>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Key Points</a:t>
            </a:r>
            <a:endParaRPr/>
          </a:p>
        </p:txBody>
      </p:sp>
      <p:sp>
        <p:nvSpPr>
          <p:cNvPr id="500" name="Google Shape;500;p67"/>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Dependability</a:t>
            </a:r>
            <a:r>
              <a:rPr lang="sv-SE"/>
              <a:t> is one of the most important software characteristics.</a:t>
            </a:r>
            <a:endParaRPr/>
          </a:p>
          <a:p>
            <a:pPr indent="-368300" lvl="1" marL="914400" rtl="0" algn="l">
              <a:spcBef>
                <a:spcPts val="500"/>
              </a:spcBef>
              <a:spcAft>
                <a:spcPts val="0"/>
              </a:spcAft>
              <a:buSzPts val="2200"/>
              <a:buChar char="•"/>
            </a:pPr>
            <a:r>
              <a:rPr lang="sv-SE"/>
              <a:t>Aim for correctness, reliability, safety, robustness.</a:t>
            </a:r>
            <a:endParaRPr/>
          </a:p>
          <a:p>
            <a:pPr indent="-368300" lvl="1" marL="914400" rtl="0" algn="l">
              <a:spcBef>
                <a:spcPts val="500"/>
              </a:spcBef>
              <a:spcAft>
                <a:spcPts val="0"/>
              </a:spcAft>
              <a:buSzPts val="2200"/>
              <a:buChar char="•"/>
            </a:pPr>
            <a:r>
              <a:rPr lang="sv-SE"/>
              <a:t>Often assessed using reliability.</a:t>
            </a:r>
            <a:endParaRPr/>
          </a:p>
          <a:p>
            <a:pPr indent="-393700" lvl="0" marL="457200" rtl="0" algn="l">
              <a:spcBef>
                <a:spcPts val="1000"/>
              </a:spcBef>
              <a:spcAft>
                <a:spcPts val="0"/>
              </a:spcAft>
              <a:buSzPts val="2600"/>
              <a:buChar char="•"/>
            </a:pPr>
            <a:r>
              <a:rPr lang="sv-SE"/>
              <a:t>Reliability depends on the pattern of usage of the software. Different users will interact differently.</a:t>
            </a:r>
            <a:endParaRPr/>
          </a:p>
          <a:p>
            <a:pPr indent="-393700" lvl="0" marL="457200" rtl="0" algn="l">
              <a:spcBef>
                <a:spcPts val="1000"/>
              </a:spcBef>
              <a:spcAft>
                <a:spcPts val="0"/>
              </a:spcAft>
              <a:buSzPts val="2600"/>
              <a:buChar char="•"/>
            </a:pPr>
            <a:r>
              <a:rPr lang="sv-SE"/>
              <a:t>Reliability measured using ROCOF, POFOD, Time Available, MTBF</a:t>
            </a:r>
            <a:endParaRPr/>
          </a:p>
        </p:txBody>
      </p:sp>
      <p:sp>
        <p:nvSpPr>
          <p:cNvPr id="501" name="Google Shape;501;p67"/>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sz="600">
                <a:solidFill>
                  <a:schemeClr val="lt1"/>
                </a:solidFill>
              </a:rPr>
              <a:t>‹#›</a:t>
            </a:fld>
            <a:endParaRPr sz="600">
              <a:solidFill>
                <a:schemeClr val="lt1"/>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8"/>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Key Points</a:t>
            </a:r>
            <a:endParaRPr/>
          </a:p>
        </p:txBody>
      </p:sp>
      <p:sp>
        <p:nvSpPr>
          <p:cNvPr id="507" name="Google Shape;507;p68"/>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Availability is the ability of the system to avoid, ignore, or recover from a failure.</a:t>
            </a:r>
            <a:endParaRPr/>
          </a:p>
          <a:p>
            <a:pPr indent="-393700" lvl="0" marL="457200" rtl="0" algn="l">
              <a:spcBef>
                <a:spcPts val="1000"/>
              </a:spcBef>
              <a:spcAft>
                <a:spcPts val="0"/>
              </a:spcAft>
              <a:buSzPts val="2600"/>
              <a:buChar char="•"/>
            </a:pPr>
            <a:r>
              <a:rPr lang="sv-SE"/>
              <a:t>Performance is about management of resources in the face of demand to achieve acceptable timing. </a:t>
            </a:r>
            <a:endParaRPr/>
          </a:p>
          <a:p>
            <a:pPr indent="-368300" lvl="1" marL="914400" rtl="0" algn="l">
              <a:spcBef>
                <a:spcPts val="500"/>
              </a:spcBef>
              <a:spcAft>
                <a:spcPts val="0"/>
              </a:spcAft>
              <a:buSzPts val="2200"/>
              <a:buChar char="•"/>
            </a:pPr>
            <a:r>
              <a:rPr lang="sv-SE"/>
              <a:t>Usually measured in terms of throughput and latency.</a:t>
            </a:r>
            <a:endParaRPr/>
          </a:p>
          <a:p>
            <a:pPr indent="-393700" lvl="0" marL="457200" rtl="0" algn="l">
              <a:spcBef>
                <a:spcPts val="1000"/>
              </a:spcBef>
              <a:spcAft>
                <a:spcPts val="0"/>
              </a:spcAft>
              <a:buSzPts val="2600"/>
              <a:buChar char="•"/>
            </a:pPr>
            <a:r>
              <a:rPr lang="sv-SE"/>
              <a:t>Scalability is the ability to “grow” the system to process an increasing number of requests.</a:t>
            </a:r>
            <a:endParaRPr/>
          </a:p>
          <a:p>
            <a:pPr indent="-368300" lvl="1" marL="914400" rtl="0" algn="l">
              <a:spcBef>
                <a:spcPts val="500"/>
              </a:spcBef>
              <a:spcAft>
                <a:spcPts val="0"/>
              </a:spcAft>
              <a:buSzPts val="2200"/>
              <a:buChar char="•"/>
            </a:pPr>
            <a:r>
              <a:rPr lang="sv-SE"/>
              <a:t>While still meeting performance requirements.</a:t>
            </a:r>
            <a:endParaRPr/>
          </a:p>
        </p:txBody>
      </p:sp>
      <p:sp>
        <p:nvSpPr>
          <p:cNvPr id="508" name="Google Shape;508;p68"/>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9"/>
          <p:cNvSpPr txBox="1"/>
          <p:nvPr>
            <p:ph idx="12" type="sldNum"/>
          </p:nvPr>
        </p:nvSpPr>
        <p:spPr>
          <a:xfrm>
            <a:off x="6553200" y="4935625"/>
            <a:ext cx="2133600" cy="207900"/>
          </a:xfrm>
          <a:prstGeom prst="rect">
            <a:avLst/>
          </a:prstGeom>
        </p:spPr>
        <p:txBody>
          <a:bodyPr anchorCtr="0" anchor="t"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sv-SE"/>
              <a:t>‹#›</a:t>
            </a:fld>
            <a:endParaRPr/>
          </a:p>
        </p:txBody>
      </p:sp>
      <p:sp>
        <p:nvSpPr>
          <p:cNvPr id="515" name="Google Shape;515;p69"/>
          <p:cNvSpPr txBox="1"/>
          <p:nvPr>
            <p:ph type="title"/>
          </p:nvPr>
        </p:nvSpPr>
        <p:spPr>
          <a:xfrm>
            <a:off x="468890" y="614003"/>
            <a:ext cx="8217900" cy="6684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sv-SE"/>
              <a:t>Next Time</a:t>
            </a:r>
            <a:endParaRPr/>
          </a:p>
        </p:txBody>
      </p:sp>
      <p:sp>
        <p:nvSpPr>
          <p:cNvPr id="516" name="Google Shape;516;p69"/>
          <p:cNvSpPr txBox="1"/>
          <p:nvPr>
            <p:ph idx="1" type="body"/>
          </p:nvPr>
        </p:nvSpPr>
        <p:spPr>
          <a:xfrm>
            <a:off x="468890" y="1282390"/>
            <a:ext cx="8217900" cy="3480300"/>
          </a:xfrm>
          <a:prstGeom prst="rect">
            <a:avLst/>
          </a:prstGeom>
        </p:spPr>
        <p:txBody>
          <a:bodyPr anchorCtr="0" anchor="t" bIns="45700" lIns="91425" spcFirstLastPara="1" rIns="91425" wrap="square" tIns="45700">
            <a:noAutofit/>
          </a:bodyPr>
          <a:lstStyle/>
          <a:p>
            <a:pPr indent="-393700" lvl="0" marL="457200" rtl="0" algn="l">
              <a:spcBef>
                <a:spcPts val="1000"/>
              </a:spcBef>
              <a:spcAft>
                <a:spcPts val="0"/>
              </a:spcAft>
              <a:buSzPts val="2600"/>
              <a:buChar char="•"/>
            </a:pPr>
            <a:r>
              <a:rPr lang="sv-SE"/>
              <a:t>Quality Scenarios</a:t>
            </a:r>
            <a:endParaRPr/>
          </a:p>
          <a:p>
            <a:pPr indent="-393700" lvl="0" marL="457200" rtl="0" algn="l">
              <a:spcBef>
                <a:spcPts val="0"/>
              </a:spcBef>
              <a:spcAft>
                <a:spcPts val="0"/>
              </a:spcAft>
              <a:buSzPts val="2600"/>
              <a:buChar char="•"/>
            </a:pPr>
            <a:r>
              <a:rPr lang="sv-SE"/>
              <a:t>No exercise session this week.</a:t>
            </a:r>
            <a:br>
              <a:rPr lang="sv-SE"/>
            </a:br>
            <a:endParaRPr/>
          </a:p>
          <a:p>
            <a:pPr indent="-393700" lvl="0" marL="457200" rtl="0" algn="l">
              <a:spcBef>
                <a:spcPts val="0"/>
              </a:spcBef>
              <a:spcAft>
                <a:spcPts val="0"/>
              </a:spcAft>
              <a:buClr>
                <a:schemeClr val="accent3"/>
              </a:buClr>
              <a:buSzPts val="2600"/>
              <a:buChar char="•"/>
            </a:pPr>
            <a:r>
              <a:rPr b="1" lang="sv-SE">
                <a:solidFill>
                  <a:schemeClr val="accent3"/>
                </a:solidFill>
              </a:rPr>
              <a:t>Form your teams!</a:t>
            </a:r>
            <a:endParaRPr b="1">
              <a:solidFill>
                <a:schemeClr val="accent3"/>
              </a:solidFill>
            </a:endParaRPr>
          </a:p>
          <a:p>
            <a:pPr indent="-368300" lvl="1" marL="914400" rtl="0" algn="l">
              <a:spcBef>
                <a:spcPts val="0"/>
              </a:spcBef>
              <a:spcAft>
                <a:spcPts val="0"/>
              </a:spcAft>
              <a:buSzPts val="2200"/>
              <a:buChar char="•"/>
            </a:pPr>
            <a:r>
              <a:rPr lang="sv-SE"/>
              <a:t>Deadline: </a:t>
            </a:r>
            <a:r>
              <a:rPr lang="sv-SE"/>
              <a:t>January</a:t>
            </a:r>
            <a:r>
              <a:rPr lang="sv-SE"/>
              <a:t> 25</a:t>
            </a:r>
            <a:endParaRPr/>
          </a:p>
          <a:p>
            <a:pPr indent="-368300" lvl="1" marL="914400" rtl="0" algn="l">
              <a:spcBef>
                <a:spcPts val="0"/>
              </a:spcBef>
              <a:spcAft>
                <a:spcPts val="0"/>
              </a:spcAft>
              <a:buSzPts val="2200"/>
              <a:buChar char="•"/>
            </a:pPr>
            <a:r>
              <a:rPr lang="sv-SE"/>
              <a:t>Assignment 0 on Canvas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Master blå">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ster layout">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sta bilden Master">
  <a:themeElements>
    <a:clrScheme name="Chalmers Colour Theme">
      <a:dk1>
        <a:srgbClr val="4F4F4F"/>
      </a:dk1>
      <a:lt1>
        <a:srgbClr val="FFFFFF"/>
      </a:lt1>
      <a:dk2>
        <a:srgbClr val="6F828C"/>
      </a:dk2>
      <a:lt2>
        <a:srgbClr val="99B3C2"/>
      </a:lt2>
      <a:accent1>
        <a:srgbClr val="003050"/>
      </a:accent1>
      <a:accent2>
        <a:srgbClr val="00A99D"/>
      </a:accent2>
      <a:accent3>
        <a:srgbClr val="006C5C"/>
      </a:accent3>
      <a:accent4>
        <a:srgbClr val="7FB538"/>
      </a:accent4>
      <a:accent5>
        <a:srgbClr val="58B0E3"/>
      </a:accent5>
      <a:accent6>
        <a:srgbClr val="483728"/>
      </a:accent6>
      <a:hlink>
        <a:srgbClr val="F15922"/>
      </a:hlink>
      <a:folHlink>
        <a:srgbClr val="FFCB0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