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 id="2147483659"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6ea971d088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6ea971d088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The airport connection check is a high-level function exposed by the API of a travel reservation system. It is intended to check the validity of a single connection between two flights in an itinerary.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For example, a traveler may intend to fly from Gothenburg to Los Angeles, but there is a connection through Frankfurt. Therefore, their itinerary is Gothenburg -&gt; Frankfurt (Flight A) and Frankfurt -&gt; Los Angeles (Flight B).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This service will ensure that the connection through Frankfurt is a valid one. For example, if the arrival airport of Flight A differs from the departure airport of Flight B, the connection is invalid. That is, if we pass in two flights, and Flight A arrives in Frankfurt, but Flight B departs from Munich, is it not a valid connection.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Likewise, if the departure time of Flight B is too close to the arrival time of Flight A, the connection is invalid. If Flight A arrives in Frankfurt at 8:00, and Flight B departs at 8:05, there is not sufficient time to complete the customs process and board the flight. </a:t>
            </a:r>
            <a:endParaRPr sz="1100">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6ea971d088_0_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6ea971d088_0_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6ea971d088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6ea971d088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 work through</a:t>
            </a:r>
            <a:endParaRPr/>
          </a:p>
          <a:p>
            <a:pPr indent="0" lvl="0" marL="0" rtl="0" algn="l">
              <a:spcBef>
                <a:spcPts val="0"/>
              </a:spcBef>
              <a:spcAft>
                <a:spcPts val="0"/>
              </a:spcAft>
              <a:buNone/>
            </a:pPr>
            <a:r>
              <a:rPr lang="sv-SE"/>
              <a:t>departure flight, arrival flight, database</a:t>
            </a:r>
            <a:endParaRPr/>
          </a:p>
          <a:p>
            <a:pPr indent="0" lvl="0" marL="0" rtl="0" algn="l">
              <a:spcBef>
                <a:spcPts val="0"/>
              </a:spcBef>
              <a:spcAft>
                <a:spcPts val="0"/>
              </a:spcAft>
              <a:buNone/>
            </a:pPr>
            <a:r>
              <a:rPr lang="sv-SE"/>
              <a:t>for each parameter in data structure, what are some input partitions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857917ecc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857917ecc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rgbClr val="4F4F4F"/>
                </a:solidFill>
              </a:rPr>
              <a:t>Creating functional tests can be boiled down to a five stage process.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Y</a:t>
            </a:r>
            <a:r>
              <a:rPr lang="sv-SE">
                <a:solidFill>
                  <a:schemeClr val="dk1"/>
                </a:solidFill>
              </a:rPr>
              <a:t>ou need to figure out what </a:t>
            </a:r>
            <a:r>
              <a:rPr lang="sv-SE"/>
              <a:t>you want to test - typically we talk about these in terms of i</a:t>
            </a:r>
            <a:r>
              <a:rPr lang="sv-SE">
                <a:solidFill>
                  <a:schemeClr val="dk1"/>
                </a:solidFill>
              </a:rPr>
              <a:t>ndependently testable</a:t>
            </a:r>
            <a:r>
              <a:rPr lang="sv-SE"/>
              <a:t> features </a:t>
            </a:r>
            <a:r>
              <a:rPr lang="sv-SE">
                <a:solidFill>
                  <a:schemeClr val="dk1"/>
                </a:solidFill>
              </a:rPr>
              <a:t>of your system. What features or functions are surfaced by </a:t>
            </a:r>
            <a:r>
              <a:rPr lang="sv-SE"/>
              <a:t>an interface and </a:t>
            </a:r>
            <a:r>
              <a:rPr lang="sv-SE">
                <a:solidFill>
                  <a:schemeClr val="dk1"/>
                </a:solidFill>
              </a:rPr>
              <a:t>can be tested in </a:t>
            </a:r>
            <a:r>
              <a:rPr lang="sv-SE"/>
              <a:t>relative </a:t>
            </a:r>
            <a:r>
              <a:rPr lang="sv-SE">
                <a:solidFill>
                  <a:schemeClr val="dk1"/>
                </a:solidFill>
              </a:rPr>
              <a:t>isolation</a:t>
            </a:r>
            <a:r>
              <a:rPr lang="sv-SE"/>
              <a:t>from other parts of the system? Or, in some cases, you might discuss a set of functions that are tested together</a:t>
            </a:r>
            <a:endParaRPr/>
          </a:p>
          <a:p>
            <a:pPr indent="-317500" lvl="0" marL="457200" rtl="0" algn="l">
              <a:lnSpc>
                <a:spcPct val="115000"/>
              </a:lnSpc>
              <a:spcBef>
                <a:spcPts val="0"/>
              </a:spcBef>
              <a:spcAft>
                <a:spcPts val="0"/>
              </a:spcAft>
              <a:buClr>
                <a:schemeClr val="dk1"/>
              </a:buClr>
              <a:buSzPts val="1400"/>
              <a:buChar char="-"/>
            </a:pPr>
            <a:r>
              <a:rPr lang="sv-SE"/>
              <a:t>For each of those targets, we look at the inputs, configuration options, and execution environment. What can you control when you test this function that would influence the outcome of executing it? This includes both the actual input parameters - what you can pass to the functionality - and any other important aspects you can contorl and that might change the outcome, like database contents or the existence of a file.</a:t>
            </a:r>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For each of those</a:t>
            </a:r>
            <a:r>
              <a:rPr lang="sv-SE"/>
              <a:t> choices, what types</a:t>
            </a:r>
            <a:r>
              <a:rPr lang="sv-SE">
                <a:solidFill>
                  <a:schemeClr val="dk1"/>
                </a:solidFill>
              </a:rPr>
              <a:t> of input will trigger each </a:t>
            </a:r>
            <a:r>
              <a:rPr lang="sv-SE"/>
              <a:t>possible outcome</a:t>
            </a:r>
            <a:r>
              <a:rPr lang="sv-SE">
                <a:solidFill>
                  <a:schemeClr val="dk1"/>
                </a:solidFill>
              </a:rPr>
              <a:t>. </a:t>
            </a:r>
            <a:r>
              <a:rPr lang="sv-SE"/>
              <a:t>What types of input should we try?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We then combine these representative values to form recipes for test cases, abstract test specifications that state the type of input we will provide. These can lead to many different concrete test cases when we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instantiate the specifications by </a:t>
            </a:r>
            <a:r>
              <a:rPr lang="sv-SE"/>
              <a:t>replacing the abstract representative values with</a:t>
            </a:r>
            <a:r>
              <a:rPr lang="sv-SE">
                <a:solidFill>
                  <a:schemeClr val="dk1"/>
                </a:solidFill>
              </a:rPr>
              <a:t> concrete</a:t>
            </a:r>
            <a:r>
              <a:rPr lang="sv-SE"/>
              <a:t> values</a:t>
            </a:r>
            <a:r>
              <a:rPr lang="sv-SE">
                <a:solidFill>
                  <a:schemeClr val="dk1"/>
                </a:solidFill>
              </a:rPr>
              <a:t>.</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6ea971d088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6ea971d088_0_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Design system test cases using the category-partition method for the validConnection function. </a:t>
            </a:r>
            <a:endParaRPr/>
          </a:p>
          <a:p>
            <a:pPr indent="0" lvl="0" marL="0" rtl="0" algn="l">
              <a:spcBef>
                <a:spcPts val="0"/>
              </a:spcBef>
              <a:spcAft>
                <a:spcPts val="0"/>
              </a:spcAft>
              <a:buNone/>
            </a:pPr>
            <a:r>
              <a:rPr lang="sv-SE"/>
              <a:t>Identify choices (aspects that you control and that can vary the outcome) for the two input flights and the database. </a:t>
            </a:r>
            <a:endParaRPr/>
          </a:p>
          <a:p>
            <a:pPr indent="0" lvl="0" marL="0" rtl="0" algn="l">
              <a:spcBef>
                <a:spcPts val="0"/>
              </a:spcBef>
              <a:spcAft>
                <a:spcPts val="0"/>
              </a:spcAft>
              <a:buNone/>
            </a:pPr>
            <a:r>
              <a:rPr lang="sv-SE"/>
              <a:t>For each choice, identify a set of representative values.</a:t>
            </a:r>
            <a:endParaRPr/>
          </a:p>
          <a:p>
            <a:pPr indent="0" lvl="0" marL="0" rtl="0" algn="l">
              <a:spcBef>
                <a:spcPts val="0"/>
              </a:spcBef>
              <a:spcAft>
                <a:spcPts val="0"/>
              </a:spcAft>
              <a:buNone/>
            </a:pPr>
            <a:r>
              <a:rPr lang="sv-SE"/>
              <a:t>Apply ERROR, SINGLE, and IF constraints.</a:t>
            </a:r>
            <a:endParaRPr/>
          </a:p>
          <a:p>
            <a:pPr indent="0" lvl="0" marL="0" rtl="0" algn="l">
              <a:spcBef>
                <a:spcPts val="0"/>
              </a:spcBef>
              <a:spcAft>
                <a:spcPts val="0"/>
              </a:spcAft>
              <a:buNone/>
            </a:pPr>
            <a:r>
              <a:rPr lang="sv-SE"/>
              <a:t>ERROR = This representative value will trigger an error no matter that it is paired with.</a:t>
            </a:r>
            <a:endParaRPr/>
          </a:p>
          <a:p>
            <a:pPr indent="0" lvl="0" marL="0" rtl="0" algn="l">
              <a:spcBef>
                <a:spcPts val="0"/>
              </a:spcBef>
              <a:spcAft>
                <a:spcPts val="0"/>
              </a:spcAft>
              <a:buNone/>
            </a:pPr>
            <a:r>
              <a:rPr lang="sv-SE"/>
              <a:t>SINGLE = This representative value should give an OK response, but we want to make sure we try it once.</a:t>
            </a:r>
            <a:endParaRPr/>
          </a:p>
          <a:p>
            <a:pPr indent="0" lvl="0" marL="0" rtl="0" algn="l">
              <a:spcBef>
                <a:spcPts val="0"/>
              </a:spcBef>
              <a:spcAft>
                <a:spcPts val="0"/>
              </a:spcAft>
              <a:buNone/>
            </a:pPr>
            <a:r>
              <a:rPr lang="sv-SE"/>
              <a:t>IF = This representative value can only be used if a certain value is set for another choice.</a:t>
            </a:r>
            <a:endParaRPr/>
          </a:p>
          <a:p>
            <a:pPr indent="0" lvl="0" marL="0" rtl="0" algn="l">
              <a:spcBef>
                <a:spcPts val="0"/>
              </a:spcBef>
              <a:spcAft>
                <a:spcPts val="0"/>
              </a:spcAft>
              <a:buNone/>
            </a:pPr>
            <a:r>
              <a:t/>
            </a:r>
            <a:endParaRPr/>
          </a:p>
        </p:txBody>
      </p:sp>
      <p:sp>
        <p:nvSpPr>
          <p:cNvPr id="130" name="Google Shape;130;g6ea971d088_0_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6ea971d088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6ea971d088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This function has two explicit inputs - the two flights - and an implicit input - an airport database. A flight is a complex data structure containing several fields, each of those fields represents a controllable input category. Your choices should revolve around those fields.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Remember that the function’s parameters may influence each other (testing this function requires considering both Flight A and B’s field values as well as what is in the database), so the representative values must reflect how different choices or variables can interact.IF-constraints are also a good way to indicate when representative values for two choices should be paired.</a:t>
            </a:r>
            <a:endParaRPr sz="1100">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
        <p:nvSpPr>
          <p:cNvPr id="147" name="Google Shape;147;g6ea971d088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6ea971d088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6ea971d088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6ea971d088_0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7cc7811a9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7cc7811a9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give you a starting point, let’s look at Flight A and flight B and look at their originating airport code. This is one of the fields of the data structure, and can impact the output, so we should consider it as a choice for both inputs. Make sense? What representative values should this have? (ask for chat) (click) talk over. What about for gliht B? Same ones? Anything we’d want to add for it? (click) (go over flight B). Any questions? Then, you can now try this and we can answer questions or talk through elements of it.</a:t>
            </a:r>
            <a:endParaRPr/>
          </a:p>
        </p:txBody>
      </p:sp>
      <p:sp>
        <p:nvSpPr>
          <p:cNvPr id="163" name="Google Shape;163;gb7cc7811a9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1"/>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1" name="Google Shape;71;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2" name="Google Shape;72;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3" name="Google Shape;73;p11"/>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1"/>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5" name="Google Shape;75;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78" name="Shape 7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pic>
        <p:nvPicPr>
          <p:cNvPr id="77" name="Google Shape;77;p12"/>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Exercise Session: </a:t>
            </a:r>
            <a:br>
              <a:rPr lang="sv-SE" sz="3000"/>
            </a:br>
            <a:r>
              <a:rPr lang="sv-SE" sz="3000"/>
              <a:t>Test Case Design</a:t>
            </a:r>
            <a:endParaRPr/>
          </a:p>
          <a:p>
            <a:pPr indent="0" lvl="0" marL="0" rtl="0" algn="l">
              <a:lnSpc>
                <a:spcPct val="80000"/>
              </a:lnSpc>
              <a:spcBef>
                <a:spcPts val="0"/>
              </a:spcBef>
              <a:spcAft>
                <a:spcPts val="0"/>
              </a:spcAft>
              <a:buClr>
                <a:schemeClr val="lt1"/>
              </a:buClr>
              <a:buSzPts val="4000"/>
              <a:buNone/>
            </a:pPr>
            <a:r>
              <a:t/>
            </a:r>
            <a:endParaRPr/>
          </a:p>
        </p:txBody>
      </p:sp>
      <p:sp>
        <p:nvSpPr>
          <p:cNvPr id="84" name="Google Shape;84;p14"/>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4,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Airport Connection Check</a:t>
            </a:r>
            <a:endParaRPr/>
          </a:p>
        </p:txBody>
      </p:sp>
      <p:sp>
        <p:nvSpPr>
          <p:cNvPr id="90" name="Google Shape;90;p1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API function to c</a:t>
            </a:r>
            <a:r>
              <a:rPr lang="sv-SE"/>
              <a:t>heck validity of a connection between two flights. </a:t>
            </a:r>
            <a:endParaRPr>
              <a:latin typeface="Consolas"/>
              <a:ea typeface="Consolas"/>
              <a:cs typeface="Consolas"/>
              <a:sym typeface="Consolas"/>
            </a:endParaRPr>
          </a:p>
          <a:p>
            <a:pPr indent="-349250" lvl="1" marL="914400" rtl="0" algn="l">
              <a:spcBef>
                <a:spcPts val="500"/>
              </a:spcBef>
              <a:spcAft>
                <a:spcPts val="0"/>
              </a:spcAft>
              <a:buSzPts val="1900"/>
              <a:buChar char="•"/>
            </a:pPr>
            <a:r>
              <a:rPr lang="sv-SE" sz="1900"/>
              <a:t>If the arrival airport of Flight A </a:t>
            </a:r>
            <a:br>
              <a:rPr lang="sv-SE" sz="1900"/>
            </a:br>
            <a:r>
              <a:rPr lang="sv-SE" sz="1900"/>
              <a:t>differs from the departure airport </a:t>
            </a:r>
            <a:br>
              <a:rPr lang="sv-SE" sz="1900"/>
            </a:br>
            <a:r>
              <a:rPr lang="sv-SE" sz="1900"/>
              <a:t>of Flight B, connection is invalid. </a:t>
            </a:r>
            <a:endParaRPr sz="1900"/>
          </a:p>
          <a:p>
            <a:pPr indent="-349250" lvl="1" marL="914400" rtl="0" algn="l">
              <a:spcBef>
                <a:spcPts val="500"/>
              </a:spcBef>
              <a:spcAft>
                <a:spcPts val="0"/>
              </a:spcAft>
              <a:buSzPts val="1900"/>
              <a:buChar char="•"/>
            </a:pPr>
            <a:r>
              <a:rPr lang="sv-SE" sz="1900"/>
              <a:t>If departure time of Flight B is too </a:t>
            </a:r>
            <a:br>
              <a:rPr lang="sv-SE" sz="1900"/>
            </a:br>
            <a:r>
              <a:rPr lang="sv-SE" sz="1900"/>
              <a:t>close to the arrival time of Flight A, </a:t>
            </a:r>
            <a:br>
              <a:rPr lang="sv-SE" sz="1900"/>
            </a:br>
            <a:r>
              <a:rPr lang="sv-SE" sz="1900"/>
              <a:t>connection is invalid.</a:t>
            </a:r>
            <a:endParaRPr sz="1900"/>
          </a:p>
          <a:p>
            <a:pPr indent="-349250" lvl="1" marL="914400" rtl="0" algn="l">
              <a:spcBef>
                <a:spcPts val="500"/>
              </a:spcBef>
              <a:spcAft>
                <a:spcPts val="0"/>
              </a:spcAft>
              <a:buSzPts val="1900"/>
              <a:buChar char="•"/>
            </a:pPr>
            <a:r>
              <a:rPr lang="sv-SE" sz="1900"/>
              <a:t>If an airport doesn’t exist, the </a:t>
            </a:r>
            <a:br>
              <a:rPr lang="sv-SE" sz="1900"/>
            </a:br>
            <a:r>
              <a:rPr lang="sv-SE" sz="1900"/>
              <a:t>connection is invalid… </a:t>
            </a:r>
            <a:endParaRPr sz="1900"/>
          </a:p>
          <a:p>
            <a:pPr indent="0" lvl="0" marL="0" rtl="0" algn="l">
              <a:spcBef>
                <a:spcPts val="1000"/>
              </a:spcBef>
              <a:spcAft>
                <a:spcPts val="0"/>
              </a:spcAft>
              <a:buClr>
                <a:schemeClr val="dk1"/>
              </a:buClr>
              <a:buSzPts val="1100"/>
              <a:buFont typeface="Arial"/>
              <a:buNone/>
            </a:pPr>
            <a:r>
              <a:t/>
            </a:r>
            <a:endParaRPr sz="2300"/>
          </a:p>
          <a:p>
            <a:pPr indent="0" lvl="0" marL="0" rtl="0" algn="l">
              <a:spcBef>
                <a:spcPts val="1000"/>
              </a:spcBef>
              <a:spcAft>
                <a:spcPts val="0"/>
              </a:spcAft>
              <a:buNone/>
            </a:pPr>
            <a:r>
              <a:t/>
            </a:r>
            <a:endParaRPr/>
          </a:p>
        </p:txBody>
      </p:sp>
      <p:sp>
        <p:nvSpPr>
          <p:cNvPr id="91" name="Google Shape;91;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92" name="Google Shape;92;p15"/>
          <p:cNvPicPr preferRelativeResize="0"/>
          <p:nvPr/>
        </p:nvPicPr>
        <p:blipFill>
          <a:blip r:embed="rId3">
            <a:alphaModFix/>
          </a:blip>
          <a:stretch>
            <a:fillRect/>
          </a:stretch>
        </p:blipFill>
        <p:spPr>
          <a:xfrm>
            <a:off x="5300974" y="2047875"/>
            <a:ext cx="3652526" cy="2571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Airport Connection Check</a:t>
            </a:r>
            <a:endParaRPr/>
          </a:p>
        </p:txBody>
      </p:sp>
      <p:sp>
        <p:nvSpPr>
          <p:cNvPr id="98" name="Google Shape;98;p16"/>
          <p:cNvSpPr txBox="1"/>
          <p:nvPr>
            <p:ph idx="1" type="body"/>
          </p:nvPr>
        </p:nvSpPr>
        <p:spPr>
          <a:xfrm>
            <a:off x="468900" y="1222175"/>
            <a:ext cx="8217900" cy="354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sv-SE" sz="2000">
                <a:latin typeface="Consolas"/>
                <a:ea typeface="Consolas"/>
                <a:cs typeface="Consolas"/>
                <a:sym typeface="Consolas"/>
              </a:rPr>
              <a:t>validConnection(Flight flightA, Flight flightB) </a:t>
            </a:r>
            <a:br>
              <a:rPr b="1" lang="sv-SE" sz="2000">
                <a:latin typeface="Consolas"/>
                <a:ea typeface="Consolas"/>
                <a:cs typeface="Consolas"/>
                <a:sym typeface="Consolas"/>
              </a:rPr>
            </a:br>
            <a:r>
              <a:rPr b="1" lang="sv-SE" sz="2000">
                <a:latin typeface="Consolas"/>
                <a:ea typeface="Consolas"/>
                <a:cs typeface="Consolas"/>
                <a:sym typeface="Consolas"/>
              </a:rPr>
              <a:t>                 returns ValidityCode</a:t>
            </a:r>
            <a:endParaRPr b="1" sz="20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None/>
            </a:pPr>
            <a:r>
              <a:rPr lang="sv-SE" sz="2100"/>
              <a:t>A </a:t>
            </a:r>
            <a:r>
              <a:rPr b="1" lang="sv-SE" sz="2100">
                <a:latin typeface="Consolas"/>
                <a:ea typeface="Consolas"/>
                <a:cs typeface="Consolas"/>
                <a:sym typeface="Consolas"/>
              </a:rPr>
              <a:t>Flight</a:t>
            </a:r>
            <a:r>
              <a:rPr lang="sv-SE" sz="2100">
                <a:latin typeface="Consolas"/>
                <a:ea typeface="Consolas"/>
                <a:cs typeface="Consolas"/>
                <a:sym typeface="Consolas"/>
              </a:rPr>
              <a:t> </a:t>
            </a:r>
            <a:r>
              <a:rPr lang="sv-SE" sz="2100"/>
              <a:t>is a data structure consisting of:</a:t>
            </a:r>
            <a:endParaRPr sz="2100"/>
          </a:p>
          <a:p>
            <a:pPr indent="-349250" lvl="0" marL="457200" rtl="0" algn="l">
              <a:lnSpc>
                <a:spcPct val="100000"/>
              </a:lnSpc>
              <a:spcBef>
                <a:spcPts val="0"/>
              </a:spcBef>
              <a:spcAft>
                <a:spcPts val="0"/>
              </a:spcAft>
              <a:buSzPts val="1900"/>
              <a:buChar char="●"/>
            </a:pPr>
            <a:r>
              <a:rPr lang="sv-SE" sz="1900"/>
              <a:t>A unique identifying flight code </a:t>
            </a:r>
            <a:br>
              <a:rPr lang="sv-SE" sz="1900"/>
            </a:br>
            <a:r>
              <a:rPr lang="sv-SE" sz="1900"/>
              <a:t>(string, three characters followed by four numbers).</a:t>
            </a:r>
            <a:endParaRPr sz="1900"/>
          </a:p>
          <a:p>
            <a:pPr indent="-349250" lvl="0" marL="457200" rtl="0" algn="l">
              <a:lnSpc>
                <a:spcPct val="100000"/>
              </a:lnSpc>
              <a:spcBef>
                <a:spcPts val="0"/>
              </a:spcBef>
              <a:spcAft>
                <a:spcPts val="0"/>
              </a:spcAft>
              <a:buSzPts val="1900"/>
              <a:buChar char="●"/>
            </a:pPr>
            <a:r>
              <a:rPr lang="sv-SE" sz="1900"/>
              <a:t>The originating airport code (three character string).</a:t>
            </a:r>
            <a:endParaRPr sz="1900"/>
          </a:p>
          <a:p>
            <a:pPr indent="-349250" lvl="0" marL="457200" rtl="0" algn="l">
              <a:lnSpc>
                <a:spcPct val="100000"/>
              </a:lnSpc>
              <a:spcBef>
                <a:spcPts val="0"/>
              </a:spcBef>
              <a:spcAft>
                <a:spcPts val="0"/>
              </a:spcAft>
              <a:buSzPts val="1900"/>
              <a:buChar char="●"/>
            </a:pPr>
            <a:r>
              <a:rPr lang="sv-SE" sz="1900"/>
              <a:t>The scheduled departure time from the originating airport </a:t>
            </a:r>
            <a:br>
              <a:rPr lang="sv-SE" sz="1900"/>
            </a:br>
            <a:r>
              <a:rPr lang="sv-SE" sz="1900"/>
              <a:t>(in universal time).</a:t>
            </a:r>
            <a:endParaRPr sz="1900"/>
          </a:p>
          <a:p>
            <a:pPr indent="-349250" lvl="0" marL="457200" rtl="0" algn="l">
              <a:lnSpc>
                <a:spcPct val="100000"/>
              </a:lnSpc>
              <a:spcBef>
                <a:spcPts val="0"/>
              </a:spcBef>
              <a:spcAft>
                <a:spcPts val="0"/>
              </a:spcAft>
              <a:buSzPts val="1900"/>
              <a:buChar char="●"/>
            </a:pPr>
            <a:r>
              <a:rPr lang="sv-SE" sz="1900"/>
              <a:t>The destination airport code (three character string).</a:t>
            </a:r>
            <a:endParaRPr sz="1900"/>
          </a:p>
          <a:p>
            <a:pPr indent="-349250" lvl="0" marL="457200" rtl="0" algn="l">
              <a:lnSpc>
                <a:spcPct val="100000"/>
              </a:lnSpc>
              <a:spcBef>
                <a:spcPts val="0"/>
              </a:spcBef>
              <a:spcAft>
                <a:spcPts val="0"/>
              </a:spcAft>
              <a:buSzPts val="1900"/>
              <a:buChar char="●"/>
            </a:pPr>
            <a:r>
              <a:rPr lang="sv-SE" sz="1900"/>
              <a:t>The scheduled arrival time at the destination airport (in universal time).</a:t>
            </a:r>
            <a:endParaRPr/>
          </a:p>
          <a:p>
            <a:pPr indent="0" lvl="0" marL="0" rtl="0" algn="l">
              <a:spcBef>
                <a:spcPts val="0"/>
              </a:spcBef>
              <a:spcAft>
                <a:spcPts val="0"/>
              </a:spcAft>
              <a:buNone/>
            </a:pPr>
            <a:r>
              <a:t/>
            </a:r>
            <a:endParaRPr sz="1800"/>
          </a:p>
        </p:txBody>
      </p:sp>
      <p:sp>
        <p:nvSpPr>
          <p:cNvPr id="99" name="Google Shape;99;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Airport Connection Check</a:t>
            </a:r>
            <a:endParaRPr/>
          </a:p>
        </p:txBody>
      </p:sp>
      <p:sp>
        <p:nvSpPr>
          <p:cNvPr id="105" name="Google Shape;105;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600"/>
              <a:t>There is also a flight database, where each record contains:</a:t>
            </a:r>
            <a:endParaRPr sz="1600"/>
          </a:p>
          <a:p>
            <a:pPr indent="-330200" lvl="0" marL="457200" rtl="0" algn="l">
              <a:spcBef>
                <a:spcPts val="0"/>
              </a:spcBef>
              <a:spcAft>
                <a:spcPts val="0"/>
              </a:spcAft>
              <a:buSzPts val="1600"/>
              <a:buChar char="●"/>
            </a:pPr>
            <a:r>
              <a:rPr lang="sv-SE" sz="1600"/>
              <a:t>Three-letter airport code (three character string).</a:t>
            </a:r>
            <a:endParaRPr sz="1600"/>
          </a:p>
          <a:p>
            <a:pPr indent="-330200" lvl="0" marL="457200" rtl="0" algn="l">
              <a:spcBef>
                <a:spcPts val="0"/>
              </a:spcBef>
              <a:spcAft>
                <a:spcPts val="0"/>
              </a:spcAft>
              <a:buSzPts val="1600"/>
              <a:buChar char="●"/>
            </a:pPr>
            <a:r>
              <a:rPr lang="sv-SE" sz="1600"/>
              <a:t>Airport country (string).</a:t>
            </a:r>
            <a:endParaRPr sz="1400"/>
          </a:p>
          <a:p>
            <a:pPr indent="-330200" lvl="0" marL="457200" rtl="0" algn="l">
              <a:spcBef>
                <a:spcPts val="0"/>
              </a:spcBef>
              <a:spcAft>
                <a:spcPts val="0"/>
              </a:spcAft>
              <a:buSzPts val="1600"/>
              <a:buChar char="●"/>
            </a:pPr>
            <a:r>
              <a:rPr lang="sv-SE" sz="1600"/>
              <a:t>Minimum domestic connection time </a:t>
            </a:r>
            <a:endParaRPr sz="1600"/>
          </a:p>
          <a:p>
            <a:pPr indent="-317500" lvl="1" marL="914400" rtl="0" algn="l">
              <a:spcBef>
                <a:spcPts val="0"/>
              </a:spcBef>
              <a:spcAft>
                <a:spcPts val="0"/>
              </a:spcAft>
              <a:buSzPts val="1400"/>
              <a:buChar char="○"/>
            </a:pPr>
            <a:r>
              <a:rPr lang="sv-SE" sz="1400"/>
              <a:t>(integer, minimum num. minutes that must be allowed for flight connections to be valid).</a:t>
            </a:r>
            <a:endParaRPr sz="1400"/>
          </a:p>
          <a:p>
            <a:pPr indent="-330200" lvl="0" marL="457200" rtl="0" algn="l">
              <a:spcBef>
                <a:spcPts val="0"/>
              </a:spcBef>
              <a:spcAft>
                <a:spcPts val="0"/>
              </a:spcAft>
              <a:buSzPts val="1600"/>
              <a:buChar char="●"/>
            </a:pPr>
            <a:r>
              <a:rPr lang="sv-SE" sz="1600"/>
              <a:t>Minimum international connection time </a:t>
            </a:r>
            <a:endParaRPr sz="1600"/>
          </a:p>
          <a:p>
            <a:pPr indent="-317500" lvl="1" marL="914400" rtl="0" algn="l">
              <a:spcBef>
                <a:spcPts val="0"/>
              </a:spcBef>
              <a:spcAft>
                <a:spcPts val="0"/>
              </a:spcAft>
              <a:buSzPts val="1400"/>
              <a:buChar char="○"/>
            </a:pPr>
            <a:r>
              <a:rPr lang="sv-SE" sz="1400"/>
              <a:t>(more time is required due to need to clear customs and meet regulations)</a:t>
            </a:r>
            <a:endParaRPr sz="14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sv-SE" sz="1600">
                <a:latin typeface="Consolas"/>
                <a:ea typeface="Consolas"/>
                <a:cs typeface="Consolas"/>
                <a:sym typeface="Consolas"/>
              </a:rPr>
              <a:t>ValidityCode</a:t>
            </a:r>
            <a:r>
              <a:rPr lang="sv-SE" sz="1600"/>
              <a:t> is an integer with value:</a:t>
            </a:r>
            <a:endParaRPr sz="1600"/>
          </a:p>
          <a:p>
            <a:pPr indent="-330200" lvl="0" marL="457200" rtl="0" algn="l">
              <a:spcBef>
                <a:spcPts val="0"/>
              </a:spcBef>
              <a:spcAft>
                <a:spcPts val="0"/>
              </a:spcAft>
              <a:buSzPts val="1600"/>
              <a:buChar char="•"/>
            </a:pPr>
            <a:r>
              <a:rPr lang="sv-SE" sz="1600"/>
              <a:t>0 for OK</a:t>
            </a:r>
            <a:endParaRPr sz="1600"/>
          </a:p>
          <a:p>
            <a:pPr indent="-330200" lvl="0" marL="457200" rtl="0" algn="l">
              <a:spcBef>
                <a:spcPts val="0"/>
              </a:spcBef>
              <a:spcAft>
                <a:spcPts val="0"/>
              </a:spcAft>
              <a:buSzPts val="1600"/>
              <a:buChar char="•"/>
            </a:pPr>
            <a:r>
              <a:rPr lang="sv-SE" sz="1600"/>
              <a:t>1 for invalid airport code</a:t>
            </a:r>
            <a:endParaRPr sz="1600"/>
          </a:p>
          <a:p>
            <a:pPr indent="-330200" lvl="0" marL="457200" rtl="0" algn="l">
              <a:spcBef>
                <a:spcPts val="0"/>
              </a:spcBef>
              <a:spcAft>
                <a:spcPts val="0"/>
              </a:spcAft>
              <a:buSzPts val="1600"/>
              <a:buChar char="•"/>
            </a:pPr>
            <a:r>
              <a:rPr lang="sv-SE" sz="1600"/>
              <a:t>2 for a connection that is too short</a:t>
            </a:r>
            <a:endParaRPr sz="1600"/>
          </a:p>
          <a:p>
            <a:pPr indent="-330200" lvl="0" marL="457200" rtl="0" algn="l">
              <a:spcBef>
                <a:spcPts val="0"/>
              </a:spcBef>
              <a:spcAft>
                <a:spcPts val="0"/>
              </a:spcAft>
              <a:buSzPts val="1600"/>
              <a:buChar char="•"/>
            </a:pPr>
            <a:r>
              <a:rPr lang="sv-SE" sz="1600"/>
              <a:t>3 for flights that do not connect (flightA does not land in same location as flightB)</a:t>
            </a:r>
            <a:endParaRPr sz="1600"/>
          </a:p>
          <a:p>
            <a:pPr indent="-330200" lvl="0" marL="457200" rtl="0" algn="l">
              <a:spcBef>
                <a:spcPts val="0"/>
              </a:spcBef>
              <a:spcAft>
                <a:spcPts val="0"/>
              </a:spcAft>
              <a:buSzPts val="1600"/>
              <a:buChar char="•"/>
            </a:pPr>
            <a:r>
              <a:rPr lang="sv-SE" sz="1600"/>
              <a:t>4 for any other errors (malformed input or any other unexpected errors).</a:t>
            </a:r>
            <a:endParaRPr sz="1600"/>
          </a:p>
          <a:p>
            <a:pPr indent="0" lvl="0" marL="0" rtl="0" algn="l">
              <a:spcBef>
                <a:spcPts val="0"/>
              </a:spcBef>
              <a:spcAft>
                <a:spcPts val="0"/>
              </a:spcAft>
              <a:buClr>
                <a:schemeClr val="dk1"/>
              </a:buClr>
              <a:buSzPts val="1100"/>
              <a:buFont typeface="Arial"/>
              <a:buNone/>
            </a:pPr>
            <a:r>
              <a:t/>
            </a:r>
            <a:endParaRPr sz="1600"/>
          </a:p>
        </p:txBody>
      </p:sp>
      <p:sp>
        <p:nvSpPr>
          <p:cNvPr id="106" name="Google Shape;106;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Creating Functional Tests</a:t>
            </a:r>
            <a:endParaRPr/>
          </a:p>
        </p:txBody>
      </p:sp>
      <p:sp>
        <p:nvSpPr>
          <p:cNvPr id="112" name="Google Shape;112;p18"/>
          <p:cNvSpPr/>
          <p:nvPr/>
        </p:nvSpPr>
        <p:spPr>
          <a:xfrm>
            <a:off x="329175" y="1378275"/>
            <a:ext cx="2314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
        <p:nvSpPr>
          <p:cNvPr id="113" name="Google Shape;113;p18"/>
          <p:cNvSpPr/>
          <p:nvPr/>
        </p:nvSpPr>
        <p:spPr>
          <a:xfrm>
            <a:off x="1715551" y="200615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114" name="Google Shape;114;p18"/>
          <p:cNvSpPr/>
          <p:nvPr/>
        </p:nvSpPr>
        <p:spPr>
          <a:xfrm>
            <a:off x="2929425" y="263755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115" name="Google Shape;115;p18"/>
          <p:cNvSpPr/>
          <p:nvPr/>
        </p:nvSpPr>
        <p:spPr>
          <a:xfrm>
            <a:off x="4033810" y="3274337"/>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
        <p:nvSpPr>
          <p:cNvPr id="116" name="Google Shape;116;p18"/>
          <p:cNvSpPr/>
          <p:nvPr/>
        </p:nvSpPr>
        <p:spPr>
          <a:xfrm>
            <a:off x="5178004" y="3925366"/>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Cases</a:t>
            </a:r>
            <a:endParaRPr b="1"/>
          </a:p>
        </p:txBody>
      </p:sp>
      <p:cxnSp>
        <p:nvCxnSpPr>
          <p:cNvPr id="117" name="Google Shape;117;p18"/>
          <p:cNvCxnSpPr>
            <a:endCxn id="113" idx="1"/>
          </p:cNvCxnSpPr>
          <p:nvPr/>
        </p:nvCxnSpPr>
        <p:spPr>
          <a:xfrm>
            <a:off x="1038451" y="1848800"/>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118" name="Google Shape;118;p18"/>
          <p:cNvCxnSpPr/>
          <p:nvPr/>
        </p:nvCxnSpPr>
        <p:spPr>
          <a:xfrm>
            <a:off x="2252468" y="2469645"/>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119" name="Google Shape;119;p18"/>
          <p:cNvCxnSpPr/>
          <p:nvPr/>
        </p:nvCxnSpPr>
        <p:spPr>
          <a:xfrm>
            <a:off x="3356862" y="3101074"/>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120" name="Google Shape;120;p18"/>
          <p:cNvCxnSpPr/>
          <p:nvPr/>
        </p:nvCxnSpPr>
        <p:spPr>
          <a:xfrm>
            <a:off x="4501056" y="3737842"/>
            <a:ext cx="677100" cy="389100"/>
          </a:xfrm>
          <a:prstGeom prst="straightConnector1">
            <a:avLst/>
          </a:prstGeom>
          <a:noFill/>
          <a:ln cap="flat" cmpd="sng" w="19050">
            <a:solidFill>
              <a:schemeClr val="dk2"/>
            </a:solidFill>
            <a:prstDash val="solid"/>
            <a:round/>
            <a:headEnd len="med" w="med" type="none"/>
            <a:tailEnd len="med" w="med" type="triangle"/>
          </a:ln>
        </p:spPr>
      </p:cxnSp>
      <p:sp>
        <p:nvSpPr>
          <p:cNvPr id="121" name="Google Shape;121;p18"/>
          <p:cNvSpPr/>
          <p:nvPr/>
        </p:nvSpPr>
        <p:spPr>
          <a:xfrm>
            <a:off x="2828925" y="1374725"/>
            <a:ext cx="55860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600"/>
              <a:t>Identify </a:t>
            </a:r>
            <a:r>
              <a:rPr b="1" lang="sv-SE" sz="1600"/>
              <a:t>function(s)</a:t>
            </a:r>
            <a:r>
              <a:rPr lang="sv-SE" sz="1600"/>
              <a:t> that can be tested in (relative) isolation.</a:t>
            </a:r>
            <a:endParaRPr sz="1800"/>
          </a:p>
        </p:txBody>
      </p:sp>
      <p:sp>
        <p:nvSpPr>
          <p:cNvPr id="122" name="Google Shape;122;p18"/>
          <p:cNvSpPr/>
          <p:nvPr/>
        </p:nvSpPr>
        <p:spPr>
          <a:xfrm>
            <a:off x="4093276" y="2006150"/>
            <a:ext cx="42618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Identify </a:t>
            </a:r>
            <a:r>
              <a:rPr b="1" lang="sv-SE" sz="1200"/>
              <a:t>controllable aspects</a:t>
            </a:r>
            <a:r>
              <a:rPr lang="sv-SE" sz="1200"/>
              <a:t> of the input and environment that determine the outcome of that function.</a:t>
            </a:r>
            <a:endParaRPr sz="1200"/>
          </a:p>
        </p:txBody>
      </p:sp>
      <p:sp>
        <p:nvSpPr>
          <p:cNvPr id="123" name="Google Shape;123;p18"/>
          <p:cNvSpPr/>
          <p:nvPr/>
        </p:nvSpPr>
        <p:spPr>
          <a:xfrm>
            <a:off x="5289475" y="2586625"/>
            <a:ext cx="35379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Identify </a:t>
            </a:r>
            <a:r>
              <a:rPr b="1" lang="sv-SE"/>
              <a:t>options for each choice</a:t>
            </a:r>
            <a:r>
              <a:rPr lang="sv-SE"/>
              <a:t> that lead to different function outcomes.</a:t>
            </a:r>
            <a:endParaRPr/>
          </a:p>
        </p:txBody>
      </p:sp>
      <p:sp>
        <p:nvSpPr>
          <p:cNvPr id="124" name="Google Shape;124;p18"/>
          <p:cNvSpPr/>
          <p:nvPr/>
        </p:nvSpPr>
        <p:spPr>
          <a:xfrm>
            <a:off x="6043700" y="3256000"/>
            <a:ext cx="29265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Select a value for all choices</a:t>
            </a:r>
            <a:r>
              <a:rPr lang="sv-SE"/>
              <a:t> to form abstract test case “recipe”. </a:t>
            </a:r>
            <a:endParaRPr/>
          </a:p>
        </p:txBody>
      </p:sp>
      <p:sp>
        <p:nvSpPr>
          <p:cNvPr id="125" name="Google Shape;125;p18"/>
          <p:cNvSpPr/>
          <p:nvPr/>
        </p:nvSpPr>
        <p:spPr>
          <a:xfrm>
            <a:off x="7306100" y="3925375"/>
            <a:ext cx="1521300" cy="7650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Replace representative values with </a:t>
            </a:r>
            <a:r>
              <a:rPr b="1" lang="sv-SE" sz="1200"/>
              <a:t>concrete values</a:t>
            </a:r>
            <a:r>
              <a:rPr lang="sv-SE" sz="1200"/>
              <a:t>.</a:t>
            </a:r>
            <a:endParaRPr sz="1200"/>
          </a:p>
        </p:txBody>
      </p:sp>
      <p:sp>
        <p:nvSpPr>
          <p:cNvPr id="126" name="Google Shape;126;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Your Task</a:t>
            </a:r>
            <a:endParaRPr/>
          </a:p>
        </p:txBody>
      </p:sp>
      <p:sp>
        <p:nvSpPr>
          <p:cNvPr id="133" name="Google Shape;133;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2200">
                <a:latin typeface="Consolas"/>
                <a:ea typeface="Consolas"/>
                <a:cs typeface="Consolas"/>
                <a:sym typeface="Consolas"/>
              </a:rPr>
              <a:t>validConnection(Flight flightA, Flight flightB) </a:t>
            </a:r>
            <a:endParaRPr b="1" sz="2200">
              <a:latin typeface="Consolas"/>
              <a:ea typeface="Consolas"/>
              <a:cs typeface="Consolas"/>
              <a:sym typeface="Consolas"/>
            </a:endParaRPr>
          </a:p>
          <a:p>
            <a:pPr indent="0" lvl="0" marL="0" rtl="0" algn="l">
              <a:spcBef>
                <a:spcPts val="1000"/>
              </a:spcBef>
              <a:spcAft>
                <a:spcPts val="0"/>
              </a:spcAft>
              <a:buNone/>
            </a:pPr>
            <a:r>
              <a:rPr b="1" lang="sv-SE" sz="2200">
                <a:latin typeface="Consolas"/>
                <a:ea typeface="Consolas"/>
                <a:cs typeface="Consolas"/>
                <a:sym typeface="Consolas"/>
              </a:rPr>
              <a:t>                 returns ValidityCode</a:t>
            </a:r>
            <a:endParaRPr b="1" sz="2200">
              <a:latin typeface="Consolas"/>
              <a:ea typeface="Consolas"/>
              <a:cs typeface="Consolas"/>
              <a:sym typeface="Consolas"/>
            </a:endParaRPr>
          </a:p>
          <a:p>
            <a:pPr indent="0" lvl="0" marL="0" rtl="0" algn="l">
              <a:spcBef>
                <a:spcPts val="1000"/>
              </a:spcBef>
              <a:spcAft>
                <a:spcPts val="0"/>
              </a:spcAft>
              <a:buNone/>
            </a:pPr>
            <a:r>
              <a:t/>
            </a:r>
            <a:endParaRPr/>
          </a:p>
        </p:txBody>
      </p:sp>
      <p:sp>
        <p:nvSpPr>
          <p:cNvPr id="134" name="Google Shape;134;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35" name="Google Shape;135;p19"/>
          <p:cNvSpPr/>
          <p:nvPr/>
        </p:nvSpPr>
        <p:spPr>
          <a:xfrm>
            <a:off x="1432151" y="2491925"/>
            <a:ext cx="21336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136" name="Google Shape;136;p19"/>
          <p:cNvSpPr/>
          <p:nvPr/>
        </p:nvSpPr>
        <p:spPr>
          <a:xfrm>
            <a:off x="2646025" y="3123325"/>
            <a:ext cx="22485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137" name="Google Shape;137;p19"/>
          <p:cNvSpPr/>
          <p:nvPr/>
        </p:nvSpPr>
        <p:spPr>
          <a:xfrm>
            <a:off x="3750410" y="3760112"/>
            <a:ext cx="19194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Apply Constraints</a:t>
            </a:r>
            <a:endParaRPr b="1"/>
          </a:p>
        </p:txBody>
      </p:sp>
      <p:cxnSp>
        <p:nvCxnSpPr>
          <p:cNvPr id="138" name="Google Shape;138;p19"/>
          <p:cNvCxnSpPr>
            <a:endCxn id="135" idx="1"/>
          </p:cNvCxnSpPr>
          <p:nvPr/>
        </p:nvCxnSpPr>
        <p:spPr>
          <a:xfrm>
            <a:off x="619151" y="1866875"/>
            <a:ext cx="813000" cy="856800"/>
          </a:xfrm>
          <a:prstGeom prst="straightConnector1">
            <a:avLst/>
          </a:prstGeom>
          <a:noFill/>
          <a:ln cap="flat" cmpd="sng" w="19050">
            <a:solidFill>
              <a:srgbClr val="6F828C"/>
            </a:solidFill>
            <a:prstDash val="solid"/>
            <a:round/>
            <a:headEnd len="med" w="med" type="none"/>
            <a:tailEnd len="med" w="med" type="triangle"/>
          </a:ln>
        </p:spPr>
      </p:cxnSp>
      <p:cxnSp>
        <p:nvCxnSpPr>
          <p:cNvPr id="139" name="Google Shape;139;p19"/>
          <p:cNvCxnSpPr/>
          <p:nvPr/>
        </p:nvCxnSpPr>
        <p:spPr>
          <a:xfrm>
            <a:off x="1969068" y="2955420"/>
            <a:ext cx="677100" cy="389100"/>
          </a:xfrm>
          <a:prstGeom prst="straightConnector1">
            <a:avLst/>
          </a:prstGeom>
          <a:noFill/>
          <a:ln cap="flat" cmpd="sng" w="19050">
            <a:solidFill>
              <a:srgbClr val="6F828C"/>
            </a:solidFill>
            <a:prstDash val="solid"/>
            <a:round/>
            <a:headEnd len="med" w="med" type="none"/>
            <a:tailEnd len="med" w="med" type="triangle"/>
          </a:ln>
        </p:spPr>
      </p:cxnSp>
      <p:cxnSp>
        <p:nvCxnSpPr>
          <p:cNvPr id="140" name="Google Shape;140;p19"/>
          <p:cNvCxnSpPr/>
          <p:nvPr/>
        </p:nvCxnSpPr>
        <p:spPr>
          <a:xfrm>
            <a:off x="3073462" y="3586849"/>
            <a:ext cx="677100" cy="389100"/>
          </a:xfrm>
          <a:prstGeom prst="straightConnector1">
            <a:avLst/>
          </a:prstGeom>
          <a:noFill/>
          <a:ln cap="flat" cmpd="sng" w="19050">
            <a:solidFill>
              <a:srgbClr val="6F828C"/>
            </a:solidFill>
            <a:prstDash val="solid"/>
            <a:round/>
            <a:headEnd len="med" w="med" type="none"/>
            <a:tailEnd len="med" w="med" type="triangle"/>
          </a:ln>
        </p:spPr>
      </p:cxnSp>
      <p:sp>
        <p:nvSpPr>
          <p:cNvPr id="141" name="Google Shape;141;p19"/>
          <p:cNvSpPr/>
          <p:nvPr/>
        </p:nvSpPr>
        <p:spPr>
          <a:xfrm>
            <a:off x="3809876" y="2491925"/>
            <a:ext cx="4261800" cy="463500"/>
          </a:xfrm>
          <a:prstGeom prst="rect">
            <a:avLst/>
          </a:prstGeom>
          <a:solidFill>
            <a:srgbClr val="FFF2CC"/>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Identify controllable aspects of the input and environment that determine the outcome of the function.</a:t>
            </a:r>
            <a:endParaRPr sz="1200"/>
          </a:p>
        </p:txBody>
      </p:sp>
      <p:sp>
        <p:nvSpPr>
          <p:cNvPr id="142" name="Google Shape;142;p19"/>
          <p:cNvSpPr/>
          <p:nvPr/>
        </p:nvSpPr>
        <p:spPr>
          <a:xfrm>
            <a:off x="5006075" y="3072400"/>
            <a:ext cx="3537900" cy="570600"/>
          </a:xfrm>
          <a:prstGeom prst="rect">
            <a:avLst/>
          </a:prstGeom>
          <a:solidFill>
            <a:srgbClr val="FFF2CC"/>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Identify types of values for each choice that lead to different function outcomes.</a:t>
            </a:r>
            <a:endParaRPr/>
          </a:p>
        </p:txBody>
      </p:sp>
      <p:sp>
        <p:nvSpPr>
          <p:cNvPr id="143" name="Google Shape;143;p19"/>
          <p:cNvSpPr/>
          <p:nvPr/>
        </p:nvSpPr>
        <p:spPr>
          <a:xfrm>
            <a:off x="5760300" y="3741775"/>
            <a:ext cx="2926500" cy="570600"/>
          </a:xfrm>
          <a:prstGeom prst="rect">
            <a:avLst/>
          </a:prstGeom>
          <a:solidFill>
            <a:srgbClr val="FFF2CC"/>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ERROR, SINGLE, IF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Hints</a:t>
            </a:r>
            <a:endParaRPr/>
          </a:p>
        </p:txBody>
      </p:sp>
      <p:sp>
        <p:nvSpPr>
          <p:cNvPr id="150" name="Google Shape;150;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Two explicit parameters (Flight A and B) and one implicit (airport database).</a:t>
            </a:r>
            <a:endParaRPr/>
          </a:p>
          <a:p>
            <a:pPr indent="-368300" lvl="1" marL="914400" rtl="0" algn="l">
              <a:spcBef>
                <a:spcPts val="500"/>
              </a:spcBef>
              <a:spcAft>
                <a:spcPts val="0"/>
              </a:spcAft>
              <a:buSzPts val="2200"/>
              <a:buChar char="•"/>
            </a:pPr>
            <a:r>
              <a:rPr lang="sv-SE"/>
              <a:t>Flight has multiple fields (potential choices)</a:t>
            </a:r>
            <a:endParaRPr/>
          </a:p>
          <a:p>
            <a:pPr indent="-368300" lvl="1" marL="914400" rtl="0" algn="l">
              <a:spcBef>
                <a:spcPts val="500"/>
              </a:spcBef>
              <a:spcAft>
                <a:spcPts val="0"/>
              </a:spcAft>
              <a:buSzPts val="2200"/>
              <a:buChar char="•"/>
            </a:pPr>
            <a:r>
              <a:rPr lang="sv-SE"/>
              <a:t>Database records have multiple fields (potential choices).</a:t>
            </a:r>
            <a:endParaRPr/>
          </a:p>
          <a:p>
            <a:pPr indent="-368300" lvl="1" marL="914400" rtl="0" algn="l">
              <a:spcBef>
                <a:spcPts val="500"/>
              </a:spcBef>
              <a:spcAft>
                <a:spcPts val="0"/>
              </a:spcAft>
              <a:buSzPts val="2200"/>
              <a:buChar char="•"/>
            </a:pPr>
            <a:r>
              <a:rPr lang="sv-SE"/>
              <a:t>Remember that representative values can interact. This must be accounted for.</a:t>
            </a:r>
            <a:endParaRPr/>
          </a:p>
          <a:p>
            <a:pPr indent="-342900" lvl="2" marL="1371600" rtl="0" algn="l">
              <a:spcBef>
                <a:spcPts val="500"/>
              </a:spcBef>
              <a:spcAft>
                <a:spcPts val="0"/>
              </a:spcAft>
              <a:buSzPts val="1800"/>
              <a:buChar char="•"/>
            </a:pPr>
            <a:r>
              <a:rPr b="1" lang="sv-SE"/>
              <a:t>IF constraints indicate when combinations of values should be used for different choices.</a:t>
            </a:r>
            <a:endParaRPr b="1"/>
          </a:p>
        </p:txBody>
      </p:sp>
      <p:sp>
        <p:nvSpPr>
          <p:cNvPr id="151" name="Google Shape;151;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Hints</a:t>
            </a:r>
            <a:endParaRPr/>
          </a:p>
        </p:txBody>
      </p:sp>
      <p:sp>
        <p:nvSpPr>
          <p:cNvPr id="158" name="Google Shape;158;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Consider how </a:t>
            </a:r>
            <a:r>
              <a:rPr lang="sv-SE"/>
              <a:t>arrival time (flight A), departure time (flight B), and minimum connection time interact.</a:t>
            </a:r>
            <a:endParaRPr/>
          </a:p>
          <a:p>
            <a:pPr indent="-393700" lvl="0" marL="457200" rtl="0" algn="l">
              <a:spcBef>
                <a:spcPts val="1000"/>
              </a:spcBef>
              <a:spcAft>
                <a:spcPts val="0"/>
              </a:spcAft>
              <a:buSzPts val="2600"/>
              <a:buChar char="•"/>
            </a:pPr>
            <a:r>
              <a:rPr lang="sv-SE"/>
              <a:t>Consider that domestic and international connection times can differ in length.</a:t>
            </a:r>
            <a:endParaRPr/>
          </a:p>
          <a:p>
            <a:pPr indent="-393700" lvl="0" marL="457200" rtl="0" algn="l">
              <a:spcBef>
                <a:spcPts val="1000"/>
              </a:spcBef>
              <a:spcAft>
                <a:spcPts val="0"/>
              </a:spcAft>
              <a:buSzPts val="2600"/>
              <a:buChar char="•"/>
            </a:pPr>
            <a:r>
              <a:rPr lang="sv-SE"/>
              <a:t>Consider how the database contents can influence behavior.</a:t>
            </a:r>
            <a:endParaRPr/>
          </a:p>
          <a:p>
            <a:pPr indent="-393700" lvl="0" marL="457200" rtl="0" algn="l">
              <a:spcBef>
                <a:spcPts val="1000"/>
              </a:spcBef>
              <a:spcAft>
                <a:spcPts val="0"/>
              </a:spcAft>
              <a:buSzPts val="2600"/>
              <a:buChar char="•"/>
            </a:pPr>
            <a:r>
              <a:rPr lang="sv-SE"/>
              <a:t>Consider how input can be invalid or malformed </a:t>
            </a:r>
            <a:endParaRPr/>
          </a:p>
          <a:p>
            <a:pPr indent="-368300" lvl="1" marL="914400" rtl="0" algn="l">
              <a:spcBef>
                <a:spcPts val="500"/>
              </a:spcBef>
              <a:spcAft>
                <a:spcPts val="0"/>
              </a:spcAft>
              <a:buSzPts val="2200"/>
              <a:buChar char="•"/>
            </a:pPr>
            <a:r>
              <a:rPr lang="sv-SE"/>
              <a:t>(don’t just list “invalid input” but give clear examples).</a:t>
            </a:r>
            <a:endParaRPr/>
          </a:p>
        </p:txBody>
      </p:sp>
      <p:sp>
        <p:nvSpPr>
          <p:cNvPr id="159" name="Google Shape;159;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to Start</a:t>
            </a:r>
            <a:endParaRPr/>
          </a:p>
        </p:txBody>
      </p:sp>
      <p:sp>
        <p:nvSpPr>
          <p:cNvPr id="166" name="Google Shape;166;p22"/>
          <p:cNvSpPr txBox="1"/>
          <p:nvPr>
            <p:ph idx="1" type="body"/>
          </p:nvPr>
        </p:nvSpPr>
        <p:spPr>
          <a:xfrm>
            <a:off x="468900" y="1282393"/>
            <a:ext cx="8217900" cy="1175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FlightA                                  FlightB</a:t>
            </a:r>
            <a:endParaRPr/>
          </a:p>
          <a:p>
            <a:pPr indent="0" lvl="0" marL="0" rtl="0" algn="l">
              <a:spcBef>
                <a:spcPts val="1000"/>
              </a:spcBef>
              <a:spcAft>
                <a:spcPts val="0"/>
              </a:spcAft>
              <a:buNone/>
            </a:pPr>
            <a:r>
              <a:rPr b="1" lang="sv-SE" sz="2000"/>
              <a:t>Choice: </a:t>
            </a:r>
            <a:r>
              <a:rPr lang="sv-SE" sz="2000"/>
              <a:t>Originating Airport Code</a:t>
            </a:r>
            <a:r>
              <a:rPr b="1" lang="sv-SE" sz="2000"/>
              <a:t>      Choice: </a:t>
            </a:r>
            <a:r>
              <a:rPr lang="sv-SE" sz="2000"/>
              <a:t>Originating Airport Code</a:t>
            </a:r>
            <a:endParaRPr sz="2000"/>
          </a:p>
          <a:p>
            <a:pPr indent="0" lvl="0" marL="0" rtl="0" algn="l">
              <a:spcBef>
                <a:spcPts val="1000"/>
              </a:spcBef>
              <a:spcAft>
                <a:spcPts val="0"/>
              </a:spcAft>
              <a:buNone/>
            </a:pPr>
            <a:r>
              <a:t/>
            </a:r>
            <a:endParaRPr sz="2000"/>
          </a:p>
        </p:txBody>
      </p:sp>
      <p:sp>
        <p:nvSpPr>
          <p:cNvPr id="167" name="Google Shape;167;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8" name="Google Shape;168;p22"/>
          <p:cNvSpPr txBox="1"/>
          <p:nvPr/>
        </p:nvSpPr>
        <p:spPr>
          <a:xfrm>
            <a:off x="581025" y="2295525"/>
            <a:ext cx="37815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sv-SE"/>
              <a:t>Valid airport</a:t>
            </a:r>
            <a:endParaRPr/>
          </a:p>
          <a:p>
            <a:pPr indent="-317500" lvl="0" marL="457200" rtl="0" algn="l">
              <a:spcBef>
                <a:spcPts val="0"/>
              </a:spcBef>
              <a:spcAft>
                <a:spcPts val="0"/>
              </a:spcAft>
              <a:buSzPts val="1400"/>
              <a:buChar char="●"/>
            </a:pPr>
            <a:r>
              <a:rPr lang="sv-SE"/>
              <a:t>Not in database </a:t>
            </a:r>
            <a:r>
              <a:rPr b="1" lang="sv-SE"/>
              <a:t>[error]</a:t>
            </a:r>
            <a:endParaRPr b="1"/>
          </a:p>
          <a:p>
            <a:pPr indent="-317500" lvl="0" marL="457200" rtl="0" algn="l">
              <a:spcBef>
                <a:spcPts val="0"/>
              </a:spcBef>
              <a:spcAft>
                <a:spcPts val="0"/>
              </a:spcAft>
              <a:buSzPts val="1400"/>
              <a:buChar char="●"/>
            </a:pPr>
            <a:r>
              <a:rPr lang="sv-SE"/>
              <a:t>Not a correctly formatted airport </a:t>
            </a:r>
            <a:r>
              <a:rPr b="1" lang="sv-SE"/>
              <a:t>[error]</a:t>
            </a:r>
            <a:endParaRPr b="1"/>
          </a:p>
          <a:p>
            <a:pPr indent="-317500" lvl="1" marL="914400" rtl="0" algn="l">
              <a:spcBef>
                <a:spcPts val="0"/>
              </a:spcBef>
              <a:spcAft>
                <a:spcPts val="0"/>
              </a:spcAft>
              <a:buSzPts val="1400"/>
              <a:buChar char="○"/>
            </a:pPr>
            <a:r>
              <a:rPr lang="sv-SE"/>
              <a:t>(not a three-letter string)</a:t>
            </a:r>
            <a:endParaRPr/>
          </a:p>
        </p:txBody>
      </p:sp>
      <p:sp>
        <p:nvSpPr>
          <p:cNvPr id="169" name="Google Shape;169;p22"/>
          <p:cNvSpPr txBox="1"/>
          <p:nvPr/>
        </p:nvSpPr>
        <p:spPr>
          <a:xfrm>
            <a:off x="4714875" y="2295525"/>
            <a:ext cx="4173900" cy="212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sv-SE"/>
              <a:t>malformed (not a three-letter string) </a:t>
            </a:r>
            <a:r>
              <a:rPr b="1" lang="sv-SE"/>
              <a:t>[error]</a:t>
            </a:r>
            <a:endParaRPr b="1"/>
          </a:p>
          <a:p>
            <a:pPr indent="-317500" lvl="0" marL="457200" rtl="0" algn="l">
              <a:spcBef>
                <a:spcPts val="0"/>
              </a:spcBef>
              <a:spcAft>
                <a:spcPts val="0"/>
              </a:spcAft>
              <a:buSzPts val="1400"/>
              <a:buChar char="●"/>
            </a:pPr>
            <a:r>
              <a:rPr lang="sv-SE"/>
              <a:t>not in database </a:t>
            </a:r>
            <a:r>
              <a:rPr b="1" lang="sv-SE"/>
              <a:t>[error]</a:t>
            </a:r>
            <a:endParaRPr b="1"/>
          </a:p>
          <a:p>
            <a:pPr indent="-317500" lvl="0" marL="457200" rtl="0" algn="l">
              <a:spcBef>
                <a:spcPts val="0"/>
              </a:spcBef>
              <a:spcAft>
                <a:spcPts val="0"/>
              </a:spcAft>
              <a:buSzPts val="1400"/>
              <a:buChar char="●"/>
            </a:pPr>
            <a:r>
              <a:rPr lang="sv-SE"/>
              <a:t>valid code, differs from destination airport of flight a </a:t>
            </a:r>
            <a:r>
              <a:rPr b="1" lang="sv-SE"/>
              <a:t>[error]</a:t>
            </a:r>
            <a:r>
              <a:rPr lang="sv-SE"/>
              <a:t> </a:t>
            </a:r>
            <a:br>
              <a:rPr lang="sv-SE"/>
            </a:br>
            <a:r>
              <a:rPr b="1" lang="sv-SE"/>
              <a:t>[if flight a’s destination airport code = valid code]</a:t>
            </a:r>
            <a:endParaRPr b="1"/>
          </a:p>
          <a:p>
            <a:pPr indent="-317500" lvl="0" marL="457200" rtl="0" algn="l">
              <a:spcBef>
                <a:spcPts val="0"/>
              </a:spcBef>
              <a:spcAft>
                <a:spcPts val="0"/>
              </a:spcAft>
              <a:buSzPts val="1400"/>
              <a:buChar char="●"/>
            </a:pPr>
            <a:r>
              <a:rPr lang="sv-SE"/>
              <a:t>valid code, same as destination of flight a </a:t>
            </a:r>
            <a:br>
              <a:rPr lang="sv-SE"/>
            </a:br>
            <a:r>
              <a:rPr b="1" lang="sv-SE"/>
              <a:t>[if flight a’s destination airport code = valid code]</a:t>
            </a:r>
            <a:endParaRPr b="1"/>
          </a:p>
        </p:txBody>
      </p:sp>
      <p:sp>
        <p:nvSpPr>
          <p:cNvPr id="170" name="Google Shape;170;p22"/>
          <p:cNvSpPr/>
          <p:nvPr/>
        </p:nvSpPr>
        <p:spPr>
          <a:xfrm>
            <a:off x="405675" y="3672900"/>
            <a:ext cx="2941200" cy="104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Partial solution on Canvas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